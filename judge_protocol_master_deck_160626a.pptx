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70" r:id="rId8"/>
    <p:sldId id="262" r:id="rId9"/>
    <p:sldId id="263" r:id="rId10"/>
    <p:sldId id="264" r:id="rId11"/>
    <p:sldId id="271" r:id="rId12"/>
    <p:sldId id="265" r:id="rId13"/>
    <p:sldId id="266" r:id="rId14"/>
    <p:sldId id="267" r:id="rId15"/>
    <p:sldId id="272"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6" d="100"/>
          <a:sy n="156" d="100"/>
        </p:scale>
        <p:origin x="56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928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Allow the tagline to land before speaking. Key framing: this is an open standard, owned by nobody, authored in Stockholm.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parallel failures: empirical (the KCL finding), structural (no binding cross-border framework exists), operational (Gulf conflict). The Pope's encyclical names the moral obligation — the Judge Protocol proposes the mechanism.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principle breathe. This is the one sentence the audience should leave with. What/How/Where maps to: the scope, the mechanism, the ownership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TCP/IP analogy is the protocol's deepest idea. TCP/IP gave the internet trust through acknowledgement — the same principle applied to AI decisions. Every engineer in the room will understand it immediately.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tier with a concrete example. Tier 1 is unconditional — hardware logic, no software path. Tiers 2 and 3 are where most governance action lives. Tier 4 is where AI delivers most of its value.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no step in the enforcement chain can be shortcut by software. Gate, crypto, audit log, Tier 1 hard stop — all silicon. This is what separates the Judge Protocol from every software-only governance framework.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Sovereignty by design is the political unlock. No state surrenders jurisdiction — national data never crosses borders. The IAIA sees only compliance metadata. This is what makes universal adoption plausible.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IAEA model is the right institutional precedent: technical verification, sovereignty-respecting, universal membership. The NPT worked because safeguards inspections gave it teeth. The Judge Protocol is to AI governance what IAEA safeguards are to nuclear governance.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world map makes the scope concrete. Sweden is on the map — a founding sandbox partner would be Sweden's dot. Ask: which nation wants to be first?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 before mandate is the strategic logic. No regulator will ratify a hardware mandate without empirical data. The sandbox is how you get that data and Sweden can be first.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strategic moment slide. The moral case (Vatican), the industrial case (Anthropic) and the multilateral case (Bletchley) have all converged on the same conclusion. The Judge Protocol is the missing enforcement layer all three are calling for — and it was published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concrete asks — not 'support us' but specific invitations with specific roles. The sandbox ask is the most actionable. Leave the DOI visible so anyone can pull it up on their phone before leaving the room.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014F5C"/>
          </a:solidFill>
          <a:ln w="12700">
            <a:solidFill>
              <a:srgbClr val="014F5C"/>
            </a:solidFill>
            <a:prstDash val="solid"/>
          </a:ln>
        </p:spPr>
      </p:sp>
      <p:sp>
        <p:nvSpPr>
          <p:cNvPr id="3" name="Text 1"/>
          <p:cNvSpPr/>
          <p:nvPr/>
        </p:nvSpPr>
        <p:spPr>
          <a:xfrm>
            <a:off x="548640" y="822960"/>
            <a:ext cx="8046720" cy="822960"/>
          </a:xfrm>
          <a:prstGeom prst="rect">
            <a:avLst/>
          </a:prstGeom>
          <a:noFill/>
          <a:ln/>
        </p:spPr>
        <p:txBody>
          <a:bodyPr wrap="square" rtlCol="0" anchor="ctr"/>
          <a:lstStyle/>
          <a:p>
            <a:pPr marL="0" indent="0" algn="ctr">
              <a:buNone/>
            </a:pPr>
            <a:r>
              <a:rPr lang="en-US" sz="4200" b="1" kern="0" spc="300" dirty="0">
                <a:solidFill>
                  <a:srgbClr val="FFFFFF"/>
                </a:solidFill>
                <a:latin typeface="Verdana" pitchFamily="32" charset="0"/>
                <a:ea typeface="Verdana" pitchFamily="32" charset="-122"/>
                <a:cs typeface="Verdana" pitchFamily="32" charset="-120"/>
              </a:rPr>
              <a:t>THE JUDGE PROTOCOL</a:t>
            </a:r>
            <a:endParaRPr lang="en-US" sz="4200" dirty="0"/>
          </a:p>
        </p:txBody>
      </p:sp>
      <p:sp>
        <p:nvSpPr>
          <p:cNvPr id="4" name="Text 2"/>
          <p:cNvSpPr/>
          <p:nvPr/>
        </p:nvSpPr>
        <p:spPr>
          <a:xfrm>
            <a:off x="548640" y="1691640"/>
            <a:ext cx="8046720" cy="502920"/>
          </a:xfrm>
          <a:prstGeom prst="rect">
            <a:avLst/>
          </a:prstGeom>
          <a:noFill/>
          <a:ln/>
        </p:spPr>
        <p:txBody>
          <a:bodyPr wrap="square" rtlCol="0" anchor="ctr"/>
          <a:lstStyle/>
          <a:p>
            <a:pPr marL="0" indent="0" algn="ctr">
              <a:buNone/>
            </a:pPr>
            <a:r>
              <a:rPr lang="en-US" sz="1600" i="1" dirty="0">
                <a:solidFill>
                  <a:srgbClr val="CADCFC"/>
                </a:solidFill>
                <a:latin typeface="Calibri" pitchFamily="34" charset="0"/>
                <a:ea typeface="Calibri" pitchFamily="34" charset="-122"/>
                <a:cs typeface="Calibri" pitchFamily="34" charset="-120"/>
              </a:rPr>
              <a:t>A Framework for Hardware-Enforced Human Oversight of Artificial Intelligence</a:t>
            </a:r>
            <a:endParaRPr lang="en-US" sz="1600" dirty="0"/>
          </a:p>
        </p:txBody>
      </p:sp>
      <p:sp>
        <p:nvSpPr>
          <p:cNvPr id="5" name="Shape 3"/>
          <p:cNvSpPr/>
          <p:nvPr/>
        </p:nvSpPr>
        <p:spPr>
          <a:xfrm>
            <a:off x="3200400" y="2377440"/>
            <a:ext cx="2743200" cy="36576"/>
          </a:xfrm>
          <a:prstGeom prst="rect">
            <a:avLst/>
          </a:prstGeom>
          <a:solidFill>
            <a:srgbClr val="028090"/>
          </a:solidFill>
          <a:ln w="12700">
            <a:solidFill>
              <a:srgbClr val="028090"/>
            </a:solidFill>
            <a:prstDash val="solid"/>
          </a:ln>
        </p:spPr>
      </p:sp>
      <p:sp>
        <p:nvSpPr>
          <p:cNvPr id="6" name="Text 4"/>
          <p:cNvSpPr/>
          <p:nvPr/>
        </p:nvSpPr>
        <p:spPr>
          <a:xfrm>
            <a:off x="548640" y="2514600"/>
            <a:ext cx="8046720" cy="777240"/>
          </a:xfrm>
          <a:prstGeom prst="rect">
            <a:avLst/>
          </a:prstGeom>
          <a:noFill/>
          <a:ln/>
        </p:spPr>
        <p:txBody>
          <a:bodyPr wrap="square" rtlCol="0" anchor="ctr"/>
          <a:lstStyle/>
          <a:p>
            <a:pPr marL="0" indent="0" algn="ctr">
              <a:buNone/>
            </a:pPr>
            <a:r>
              <a:rPr lang="en-US" sz="1400" i="1" dirty="0">
                <a:solidFill>
                  <a:srgbClr val="CADCFC"/>
                </a:solidFill>
                <a:latin typeface="Verdana" pitchFamily="32" charset="0"/>
                <a:ea typeface="Verdana" pitchFamily="32" charset="-122"/>
                <a:cs typeface="Verdana" pitchFamily="32" charset="-120"/>
              </a:rPr>
              <a:t>AI may analyze, recommend and simulate —</a:t>
            </a:r>
            <a:endParaRPr lang="en-US" sz="1400" dirty="0"/>
          </a:p>
          <a:p>
            <a:pPr marL="0" indent="0" algn="ctr">
              <a:buNone/>
            </a:pPr>
            <a:r>
              <a:rPr lang="en-US" sz="1400" i="1" dirty="0">
                <a:solidFill>
                  <a:srgbClr val="CADCFC"/>
                </a:solidFill>
                <a:latin typeface="Verdana" pitchFamily="32" charset="0"/>
                <a:ea typeface="Verdana" pitchFamily="32" charset="-122"/>
                <a:cs typeface="Verdana" pitchFamily="32" charset="-120"/>
              </a:rPr>
              <a:t>but a human must authorize.</a:t>
            </a:r>
            <a:endParaRPr lang="en-US" sz="1400" dirty="0"/>
          </a:p>
        </p:txBody>
      </p:sp>
      <p:sp>
        <p:nvSpPr>
          <p:cNvPr id="7" name="Text 5"/>
          <p:cNvSpPr/>
          <p:nvPr/>
        </p:nvSpPr>
        <p:spPr>
          <a:xfrm>
            <a:off x="548640" y="3566160"/>
            <a:ext cx="80467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Alexander Hofmann</a:t>
            </a:r>
            <a:r>
              <a:rPr lang="en-US" sz="1100" dirty="0">
                <a:solidFill>
                  <a:srgbClr val="FFFFFF"/>
                </a:solidFill>
                <a:latin typeface="Calibri" pitchFamily="34" charset="0"/>
                <a:ea typeface="Calibri" pitchFamily="34" charset="-122"/>
                <a:cs typeface="Calibri" pitchFamily="34" charset="-120"/>
              </a:rPr>
              <a:t>  ·  Enterprise Architect  ·  Stockholm, Sweden</a:t>
            </a:r>
            <a:endParaRPr lang="en-US" sz="1100" dirty="0"/>
          </a:p>
        </p:txBody>
      </p:sp>
      <p:sp>
        <p:nvSpPr>
          <p:cNvPr id="8" name="Text 6"/>
          <p:cNvSpPr/>
          <p:nvPr/>
        </p:nvSpPr>
        <p:spPr>
          <a:xfrm>
            <a:off x="548640" y="3931920"/>
            <a:ext cx="8046720" cy="256032"/>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Preprint v1.0  ·  June 2026  ·  CC BY 4.0 / CERN OHL-S v2</a:t>
            </a:r>
            <a:endParaRPr lang="en-US" sz="1000" dirty="0"/>
          </a:p>
        </p:txBody>
      </p:sp>
      <p:sp>
        <p:nvSpPr>
          <p:cNvPr id="9" name="Text 7"/>
          <p:cNvSpPr/>
          <p:nvPr/>
        </p:nvSpPr>
        <p:spPr>
          <a:xfrm>
            <a:off x="548640" y="4251960"/>
            <a:ext cx="8046720" cy="256032"/>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DOI: 10.5281/zenodo.20401666  ·  judgeprotocol.org  ·  github.com/judgeprotocol/protocol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15625"/>
            </a:avLst>
          </a:prstGeom>
          <a:solidFill>
            <a:srgbClr val="028090"/>
          </a:solidFill>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THE PROBLEM</a:t>
            </a:r>
            <a:endParaRPr lang="en-US" sz="900" dirty="0"/>
          </a:p>
        </p:txBody>
      </p:sp>
      <p:sp>
        <p:nvSpPr>
          <p:cNvPr id="4" name="Text 2"/>
          <p:cNvSpPr/>
          <p:nvPr/>
        </p:nvSpPr>
        <p:spPr>
          <a:xfrm>
            <a:off x="365760" y="548640"/>
            <a:ext cx="8412480" cy="548640"/>
          </a:xfrm>
          <a:prstGeom prst="rect">
            <a:avLst/>
          </a:prstGeom>
          <a:noFill/>
          <a:ln/>
        </p:spPr>
        <p:txBody>
          <a:bodyPr wrap="square" rtlCol="0" anchor="ctr"/>
          <a:lstStyle/>
          <a:p>
            <a:pPr marL="0" indent="0" algn="l">
              <a:buNone/>
            </a:pPr>
            <a:r>
              <a:rPr lang="en-US" sz="3200" b="1" dirty="0">
                <a:solidFill>
                  <a:srgbClr val="1F3864"/>
                </a:solidFill>
                <a:latin typeface="Verdana" pitchFamily="32" charset="0"/>
                <a:ea typeface="Verdana" pitchFamily="32" charset="-122"/>
                <a:cs typeface="Verdana" pitchFamily="32" charset="-120"/>
              </a:rPr>
              <a:t>The Governance Gap Is Global</a:t>
            </a:r>
            <a:endParaRPr lang="en-US" sz="3200" dirty="0"/>
          </a:p>
        </p:txBody>
      </p:sp>
      <p:sp>
        <p:nvSpPr>
          <p:cNvPr id="5" name="Shape 3"/>
          <p:cNvSpPr/>
          <p:nvPr/>
        </p:nvSpPr>
        <p:spPr>
          <a:xfrm>
            <a:off x="365760" y="1280160"/>
            <a:ext cx="2651760" cy="3059840"/>
          </a:xfrm>
          <a:prstGeom prst="roundRect">
            <a:avLst>
              <a:gd name="adj" fmla="val 3448"/>
            </a:avLst>
          </a:prstGeom>
          <a:solidFill>
            <a:srgbClr val="F4F6F9"/>
          </a:solidFill>
          <a:ln/>
          <a:effectLst>
            <a:outerShdw blurRad="101600" dist="38100" dir="2700000" algn="bl" rotWithShape="0">
              <a:srgbClr val="000000">
                <a:alpha val="13000"/>
              </a:srgbClr>
            </a:outerShdw>
          </a:effectLst>
        </p:spPr>
      </p:sp>
      <p:sp>
        <p:nvSpPr>
          <p:cNvPr id="6" name="Text 4"/>
          <p:cNvSpPr/>
          <p:nvPr/>
        </p:nvSpPr>
        <p:spPr>
          <a:xfrm>
            <a:off x="365760" y="1417320"/>
            <a:ext cx="2651760" cy="822960"/>
          </a:xfrm>
          <a:prstGeom prst="rect">
            <a:avLst/>
          </a:prstGeom>
          <a:noFill/>
          <a:ln/>
        </p:spPr>
        <p:txBody>
          <a:bodyPr wrap="square" rtlCol="0" anchor="ctr"/>
          <a:lstStyle/>
          <a:p>
            <a:pPr marL="0" indent="0" algn="ctr">
              <a:buNone/>
            </a:pPr>
            <a:r>
              <a:rPr lang="en-US" sz="4800" b="1" dirty="0">
                <a:solidFill>
                  <a:srgbClr val="1F3864"/>
                </a:solidFill>
                <a:latin typeface="Verdana" pitchFamily="32" charset="0"/>
                <a:ea typeface="Verdana" pitchFamily="32" charset="-122"/>
                <a:cs typeface="Verdana" pitchFamily="32" charset="-120"/>
              </a:rPr>
              <a:t>95%</a:t>
            </a:r>
            <a:endParaRPr lang="en-US" sz="4800" dirty="0"/>
          </a:p>
        </p:txBody>
      </p:sp>
      <p:sp>
        <p:nvSpPr>
          <p:cNvPr id="7" name="Text 5"/>
          <p:cNvSpPr/>
          <p:nvPr/>
        </p:nvSpPr>
        <p:spPr>
          <a:xfrm>
            <a:off x="475488" y="2240280"/>
            <a:ext cx="2432304" cy="502920"/>
          </a:xfrm>
          <a:prstGeom prst="rect">
            <a:avLst/>
          </a:prstGeom>
          <a:noFill/>
          <a:ln/>
        </p:spPr>
        <p:txBody>
          <a:bodyPr wrap="square"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of simulated nuclear crisis scenarios</a:t>
            </a:r>
            <a:endParaRPr lang="en-US" sz="1100" dirty="0"/>
          </a:p>
        </p:txBody>
      </p:sp>
      <p:sp>
        <p:nvSpPr>
          <p:cNvPr id="8" name="Shape 6"/>
          <p:cNvSpPr/>
          <p:nvPr/>
        </p:nvSpPr>
        <p:spPr>
          <a:xfrm>
            <a:off x="822960" y="2788920"/>
            <a:ext cx="1737360" cy="27432"/>
          </a:xfrm>
          <a:prstGeom prst="rect">
            <a:avLst/>
          </a:prstGeom>
          <a:solidFill>
            <a:srgbClr val="E2E8F0"/>
          </a:solidFill>
          <a:ln w="12700">
            <a:solidFill>
              <a:srgbClr val="E2E8F0"/>
            </a:solidFill>
            <a:prstDash val="solid"/>
          </a:ln>
        </p:spPr>
      </p:sp>
      <p:sp>
        <p:nvSpPr>
          <p:cNvPr id="9" name="Text 7"/>
          <p:cNvSpPr/>
          <p:nvPr/>
        </p:nvSpPr>
        <p:spPr>
          <a:xfrm>
            <a:off x="475488" y="2880360"/>
            <a:ext cx="2432304" cy="1554480"/>
          </a:xfrm>
          <a:prstGeom prst="rect">
            <a:avLst/>
          </a:prstGeom>
          <a:noFill/>
          <a:ln/>
        </p:spPr>
        <p:txBody>
          <a:bodyPr wrap="square" rtlCol="0" anchor="t"/>
          <a:lstStyle/>
          <a:p>
            <a:pPr marL="0" indent="0" algn="l">
              <a:buNone/>
            </a:pPr>
            <a:r>
              <a:rPr lang="en-US" sz="1000" dirty="0">
                <a:solidFill>
                  <a:srgbClr val="64748B"/>
                </a:solidFill>
                <a:latin typeface="Calibri" pitchFamily="34" charset="0"/>
                <a:ea typeface="Calibri" pitchFamily="34" charset="-122"/>
                <a:cs typeface="Calibri" pitchFamily="34" charset="-120"/>
              </a:rPr>
              <a:t>AI models recommended escalation. None chose de-escalation. King's College London, 2026.</a:t>
            </a:r>
            <a:endParaRPr lang="en-US" sz="1000" dirty="0"/>
          </a:p>
        </p:txBody>
      </p:sp>
      <p:sp>
        <p:nvSpPr>
          <p:cNvPr id="10" name="Shape 8"/>
          <p:cNvSpPr/>
          <p:nvPr/>
        </p:nvSpPr>
        <p:spPr>
          <a:xfrm>
            <a:off x="3200400" y="1280160"/>
            <a:ext cx="2651760" cy="3059840"/>
          </a:xfrm>
          <a:prstGeom prst="roundRect">
            <a:avLst>
              <a:gd name="adj" fmla="val 3448"/>
            </a:avLst>
          </a:prstGeom>
          <a:solidFill>
            <a:srgbClr val="F4F6F9"/>
          </a:solidFill>
          <a:ln/>
          <a:effectLst>
            <a:outerShdw blurRad="101600" dist="38100" dir="2700000" algn="bl" rotWithShape="0">
              <a:srgbClr val="000000">
                <a:alpha val="13000"/>
              </a:srgbClr>
            </a:outerShdw>
          </a:effectLst>
        </p:spPr>
      </p:sp>
      <p:sp>
        <p:nvSpPr>
          <p:cNvPr id="11" name="Text 9"/>
          <p:cNvSpPr/>
          <p:nvPr/>
        </p:nvSpPr>
        <p:spPr>
          <a:xfrm>
            <a:off x="3200400" y="1417320"/>
            <a:ext cx="2651760" cy="822960"/>
          </a:xfrm>
          <a:prstGeom prst="rect">
            <a:avLst/>
          </a:prstGeom>
          <a:noFill/>
          <a:ln/>
        </p:spPr>
        <p:txBody>
          <a:bodyPr wrap="square" rtlCol="0" anchor="ctr"/>
          <a:lstStyle/>
          <a:p>
            <a:pPr marL="0" indent="0" algn="ctr">
              <a:buNone/>
            </a:pPr>
            <a:r>
              <a:rPr lang="en-US" sz="4800" b="1" dirty="0">
                <a:solidFill>
                  <a:srgbClr val="1F3864"/>
                </a:solidFill>
                <a:latin typeface="Verdana" pitchFamily="32" charset="0"/>
                <a:ea typeface="Verdana" pitchFamily="32" charset="-122"/>
                <a:cs typeface="Verdana" pitchFamily="32" charset="-120"/>
              </a:rPr>
              <a:t>0</a:t>
            </a:r>
            <a:endParaRPr lang="en-US" sz="4800" dirty="0"/>
          </a:p>
        </p:txBody>
      </p:sp>
      <p:sp>
        <p:nvSpPr>
          <p:cNvPr id="12" name="Text 10"/>
          <p:cNvSpPr/>
          <p:nvPr/>
        </p:nvSpPr>
        <p:spPr>
          <a:xfrm>
            <a:off x="3310128" y="2240280"/>
            <a:ext cx="2432304" cy="502920"/>
          </a:xfrm>
          <a:prstGeom prst="rect">
            <a:avLst/>
          </a:prstGeom>
          <a:noFill/>
          <a:ln/>
        </p:spPr>
        <p:txBody>
          <a:bodyPr wrap="square"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binding cross-border frameworks</a:t>
            </a:r>
            <a:endParaRPr lang="en-US" sz="1100" dirty="0"/>
          </a:p>
        </p:txBody>
      </p:sp>
      <p:sp>
        <p:nvSpPr>
          <p:cNvPr id="13" name="Shape 11"/>
          <p:cNvSpPr/>
          <p:nvPr/>
        </p:nvSpPr>
        <p:spPr>
          <a:xfrm>
            <a:off x="3657600" y="2788920"/>
            <a:ext cx="1737360" cy="27432"/>
          </a:xfrm>
          <a:prstGeom prst="rect">
            <a:avLst/>
          </a:prstGeom>
          <a:solidFill>
            <a:srgbClr val="E2E8F0"/>
          </a:solidFill>
          <a:ln w="12700">
            <a:solidFill>
              <a:srgbClr val="E2E8F0"/>
            </a:solidFill>
            <a:prstDash val="solid"/>
          </a:ln>
        </p:spPr>
      </p:sp>
      <p:sp>
        <p:nvSpPr>
          <p:cNvPr id="14" name="Text 12"/>
          <p:cNvSpPr/>
          <p:nvPr/>
        </p:nvSpPr>
        <p:spPr>
          <a:xfrm>
            <a:off x="3310128" y="2880360"/>
            <a:ext cx="2432304" cy="1554480"/>
          </a:xfrm>
          <a:prstGeom prst="rect">
            <a:avLst/>
          </a:prstGeom>
          <a:noFill/>
          <a:ln/>
        </p:spPr>
        <p:txBody>
          <a:bodyPr wrap="square" rtlCol="0" anchor="t"/>
          <a:lstStyle/>
          <a:p>
            <a:pPr marL="0" indent="0" algn="l">
              <a:buNone/>
            </a:pPr>
            <a:r>
              <a:rPr lang="en-US" sz="1000" dirty="0">
                <a:solidFill>
                  <a:srgbClr val="64748B"/>
                </a:solidFill>
                <a:latin typeface="Calibri" pitchFamily="34" charset="0"/>
                <a:ea typeface="Calibri" pitchFamily="34" charset="-122"/>
                <a:cs typeface="Calibri" pitchFamily="34" charset="-120"/>
              </a:rPr>
              <a:t>The EU AI Act, Bletchley Declaration and Rome Call address particular domains — none mandate runtime human authorization.</a:t>
            </a:r>
            <a:endParaRPr lang="en-US" sz="1000" dirty="0"/>
          </a:p>
        </p:txBody>
      </p:sp>
      <p:sp>
        <p:nvSpPr>
          <p:cNvPr id="15" name="Shape 13"/>
          <p:cNvSpPr/>
          <p:nvPr/>
        </p:nvSpPr>
        <p:spPr>
          <a:xfrm>
            <a:off x="6035040" y="1280160"/>
            <a:ext cx="2651760" cy="3059840"/>
          </a:xfrm>
          <a:prstGeom prst="roundRect">
            <a:avLst>
              <a:gd name="adj" fmla="val 3448"/>
            </a:avLst>
          </a:prstGeom>
          <a:solidFill>
            <a:srgbClr val="F4F6F9"/>
          </a:solidFill>
          <a:ln/>
          <a:effectLst>
            <a:outerShdw blurRad="101600" dist="38100" dir="2700000" algn="bl" rotWithShape="0">
              <a:srgbClr val="000000">
                <a:alpha val="13000"/>
              </a:srgbClr>
            </a:outerShdw>
          </a:effectLst>
        </p:spPr>
      </p:sp>
      <p:sp>
        <p:nvSpPr>
          <p:cNvPr id="16" name="Text 14"/>
          <p:cNvSpPr/>
          <p:nvPr/>
        </p:nvSpPr>
        <p:spPr>
          <a:xfrm>
            <a:off x="6035040" y="1417320"/>
            <a:ext cx="2651760" cy="822960"/>
          </a:xfrm>
          <a:prstGeom prst="rect">
            <a:avLst/>
          </a:prstGeom>
          <a:noFill/>
          <a:ln/>
        </p:spPr>
        <p:txBody>
          <a:bodyPr wrap="square" rtlCol="0" anchor="ctr"/>
          <a:lstStyle/>
          <a:p>
            <a:pPr marL="0" indent="0" algn="ctr">
              <a:buNone/>
            </a:pPr>
            <a:r>
              <a:rPr lang="en-US" sz="4800" b="1" dirty="0">
                <a:solidFill>
                  <a:srgbClr val="1F3864"/>
                </a:solidFill>
                <a:latin typeface="Verdana" pitchFamily="32" charset="0"/>
                <a:ea typeface="Verdana" pitchFamily="32" charset="-122"/>
                <a:cs typeface="Verdana" pitchFamily="32" charset="-120"/>
              </a:rPr>
              <a:t>2026</a:t>
            </a:r>
            <a:endParaRPr lang="en-US" sz="4800" dirty="0"/>
          </a:p>
        </p:txBody>
      </p:sp>
      <p:sp>
        <p:nvSpPr>
          <p:cNvPr id="17" name="Text 15"/>
          <p:cNvSpPr/>
          <p:nvPr/>
        </p:nvSpPr>
        <p:spPr>
          <a:xfrm>
            <a:off x="6144768" y="2240280"/>
            <a:ext cx="2432304" cy="502920"/>
          </a:xfrm>
          <a:prstGeom prst="rect">
            <a:avLst/>
          </a:prstGeom>
          <a:noFill/>
          <a:ln/>
        </p:spPr>
        <p:txBody>
          <a:bodyPr wrap="square"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Gulf conflict — AI in active operations</a:t>
            </a:r>
            <a:endParaRPr lang="en-US" sz="1100" dirty="0"/>
          </a:p>
        </p:txBody>
      </p:sp>
      <p:sp>
        <p:nvSpPr>
          <p:cNvPr id="18" name="Shape 16"/>
          <p:cNvSpPr/>
          <p:nvPr/>
        </p:nvSpPr>
        <p:spPr>
          <a:xfrm>
            <a:off x="6492240" y="2788920"/>
            <a:ext cx="1737360" cy="27432"/>
          </a:xfrm>
          <a:prstGeom prst="rect">
            <a:avLst/>
          </a:prstGeom>
          <a:solidFill>
            <a:srgbClr val="E2E8F0"/>
          </a:solidFill>
          <a:ln w="12700">
            <a:solidFill>
              <a:srgbClr val="E2E8F0"/>
            </a:solidFill>
            <a:prstDash val="solid"/>
          </a:ln>
        </p:spPr>
      </p:sp>
      <p:sp>
        <p:nvSpPr>
          <p:cNvPr id="19" name="Text 17"/>
          <p:cNvSpPr/>
          <p:nvPr/>
        </p:nvSpPr>
        <p:spPr>
          <a:xfrm>
            <a:off x="6144768" y="2880360"/>
            <a:ext cx="2432304" cy="1554480"/>
          </a:xfrm>
          <a:prstGeom prst="rect">
            <a:avLst/>
          </a:prstGeom>
          <a:noFill/>
          <a:ln/>
        </p:spPr>
        <p:txBody>
          <a:bodyPr wrap="square" rtlCol="0" anchor="t"/>
          <a:lstStyle/>
          <a:p>
            <a:pPr marL="0" indent="0" algn="l">
              <a:buNone/>
            </a:pPr>
            <a:r>
              <a:rPr lang="en-US" sz="1000" dirty="0">
                <a:solidFill>
                  <a:srgbClr val="64748B"/>
                </a:solidFill>
                <a:latin typeface="Calibri" pitchFamily="34" charset="0"/>
                <a:ea typeface="Calibri" pitchFamily="34" charset="-122"/>
                <a:cs typeface="Calibri" pitchFamily="34" charset="-120"/>
              </a:rPr>
              <a:t>AI systems embedded in military targeting without any international governance framework. The gap is live, not theoretical.</a:t>
            </a:r>
            <a:endParaRPr lang="en-US" sz="1000" dirty="0"/>
          </a:p>
        </p:txBody>
      </p:sp>
      <p:sp>
        <p:nvSpPr>
          <p:cNvPr id="30" name="Shape 28"/>
          <p:cNvSpPr/>
          <p:nvPr/>
        </p:nvSpPr>
        <p:spPr>
          <a:xfrm>
            <a:off x="365760" y="4390000"/>
            <a:ext cx="8412480" cy="320000"/>
          </a:xfrm>
          <a:prstGeom prst="roundRect">
            <a:avLst>
              <a:gd name="adj" fmla="val 15789"/>
            </a:avLst>
          </a:prstGeom>
          <a:solidFill>
            <a:srgbClr val="028090"/>
          </a:solidFill>
          <a:ln/>
        </p:spPr>
      </p:sp>
      <p:sp>
        <p:nvSpPr>
          <p:cNvPr id="31" name="Text 29"/>
          <p:cNvSpPr/>
          <p:nvPr/>
        </p:nvSpPr>
        <p:spPr>
          <a:xfrm>
            <a:off x="365760" y="4390000"/>
            <a:ext cx="8412480" cy="320000"/>
          </a:xfrm>
          <a:prstGeom prst="rect">
            <a:avLst/>
          </a:prstGeom>
          <a:noFill/>
          <a:ln/>
        </p:spPr>
        <p:txBody>
          <a:bodyPr wrap="square" lIns="91440" tIns="0" rIns="9144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When one government can switch off global AI without control — June 2026, US export directive, Fable 5 — the case for international authorization infrastructure is no longer theoretical.</a:t>
            </a:r>
            <a:endParaRPr lang="en-US" sz="950" dirty="0"/>
          </a:p>
        </p:txBody>
      </p:sp>
      <p:sp>
        <p:nvSpPr>
          <p:cNvPr id="20" name="Shape 18"/>
          <p:cNvSpPr/>
          <p:nvPr/>
        </p:nvSpPr>
        <p:spPr>
          <a:xfrm>
            <a:off x="365760" y="4736000"/>
            <a:ext cx="8412480" cy="347472"/>
          </a:xfrm>
          <a:prstGeom prst="roundRect">
            <a:avLst>
              <a:gd name="adj" fmla="val 15789"/>
            </a:avLst>
          </a:prstGeom>
          <a:solidFill>
            <a:srgbClr val="1F3864"/>
          </a:solidFill>
          <a:ln/>
        </p:spPr>
      </p:sp>
      <p:sp>
        <p:nvSpPr>
          <p:cNvPr id="21" name="Text 19"/>
          <p:cNvSpPr/>
          <p:nvPr/>
        </p:nvSpPr>
        <p:spPr>
          <a:xfrm>
            <a:off x="365760" y="4736000"/>
            <a:ext cx="841248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Pope Leo XIV, Magnifica Humanitas (May 2026): "Not permissible to entrust lethal decisions to AI systems" — the moral call is clear. The enforcement architecture is missing.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731520" y="640080"/>
            <a:ext cx="7680960" cy="2926080"/>
          </a:xfrm>
          <a:prstGeom prst="rect">
            <a:avLst/>
          </a:prstGeom>
          <a:noFill/>
          <a:ln/>
        </p:spPr>
        <p:txBody>
          <a:bodyPr wrap="square" rtlCol="0" anchor="ctr"/>
          <a:lstStyle/>
          <a:p>
            <a:pPr marL="0" indent="0" algn="ctr">
              <a:buNone/>
            </a:pPr>
            <a:r>
              <a:rPr lang="en-US" sz="3600" b="1" i="1" dirty="0">
                <a:solidFill>
                  <a:srgbClr val="FFFFFF"/>
                </a:solidFill>
                <a:latin typeface="Verdana" pitchFamily="32" charset="0"/>
                <a:ea typeface="Verdana" pitchFamily="32" charset="-122"/>
                <a:cs typeface="Verdana" pitchFamily="32" charset="-120"/>
              </a:rPr>
              <a:t>AI may analyze,</a:t>
            </a:r>
            <a:endParaRPr lang="en-US" sz="3600" dirty="0"/>
          </a:p>
          <a:p>
            <a:pPr marL="0" indent="0" algn="ctr">
              <a:buNone/>
            </a:pPr>
            <a:r>
              <a:rPr lang="en-US" sz="3600" b="1" i="1" dirty="0">
                <a:solidFill>
                  <a:srgbClr val="FFFFFF"/>
                </a:solidFill>
                <a:latin typeface="Verdana" pitchFamily="32" charset="0"/>
                <a:ea typeface="Verdana" pitchFamily="32" charset="-122"/>
                <a:cs typeface="Verdana" pitchFamily="32" charset="-120"/>
              </a:rPr>
              <a:t>recommend and simulate —</a:t>
            </a:r>
            <a:endParaRPr lang="en-US" sz="3600" dirty="0"/>
          </a:p>
          <a:p>
            <a:pPr marL="0" indent="0" algn="ctr">
              <a:buNone/>
            </a:pPr>
            <a:r>
              <a:rPr lang="en-US" sz="3600" b="1" i="1" dirty="0">
                <a:solidFill>
                  <a:srgbClr val="FFFFFF"/>
                </a:solidFill>
                <a:latin typeface="Verdana" pitchFamily="32" charset="0"/>
                <a:ea typeface="Verdana" pitchFamily="32" charset="-122"/>
                <a:cs typeface="Verdana" pitchFamily="32" charset="-120"/>
              </a:rPr>
              <a:t>but a human must authorize.</a:t>
            </a:r>
            <a:endParaRPr lang="en-US" sz="3600" dirty="0"/>
          </a:p>
        </p:txBody>
      </p:sp>
      <p:sp>
        <p:nvSpPr>
          <p:cNvPr id="3" name="Shape 1"/>
          <p:cNvSpPr/>
          <p:nvPr/>
        </p:nvSpPr>
        <p:spPr>
          <a:xfrm>
            <a:off x="3200400" y="3520440"/>
            <a:ext cx="2743200" cy="36576"/>
          </a:xfrm>
          <a:prstGeom prst="rect">
            <a:avLst/>
          </a:prstGeom>
          <a:solidFill>
            <a:srgbClr val="028090"/>
          </a:solidFill>
          <a:ln w="12700">
            <a:solidFill>
              <a:srgbClr val="028090"/>
            </a:solidFill>
            <a:prstDash val="solid"/>
          </a:ln>
        </p:spPr>
      </p:sp>
      <p:sp>
        <p:nvSpPr>
          <p:cNvPr id="4" name="Shape 2"/>
          <p:cNvSpPr/>
          <p:nvPr/>
        </p:nvSpPr>
        <p:spPr>
          <a:xfrm>
            <a:off x="457200" y="3703320"/>
            <a:ext cx="2651760" cy="1188720"/>
          </a:xfrm>
          <a:prstGeom prst="roundRect">
            <a:avLst>
              <a:gd name="adj" fmla="val 6154"/>
            </a:avLst>
          </a:prstGeom>
          <a:solidFill>
            <a:srgbClr val="014F5C"/>
          </a:solidFill>
          <a:ln/>
        </p:spPr>
      </p:sp>
      <p:sp>
        <p:nvSpPr>
          <p:cNvPr id="5" name="Text 3"/>
          <p:cNvSpPr/>
          <p:nvPr/>
        </p:nvSpPr>
        <p:spPr>
          <a:xfrm>
            <a:off x="457200" y="3749040"/>
            <a:ext cx="2651760" cy="292608"/>
          </a:xfrm>
          <a:prstGeom prst="rect">
            <a:avLst/>
          </a:prstGeom>
          <a:noFill/>
          <a:ln/>
        </p:spPr>
        <p:txBody>
          <a:bodyPr wrap="square" rtlCol="0" anchor="ctr"/>
          <a:lstStyle/>
          <a:p>
            <a:pPr marL="0" indent="0" algn="ctr">
              <a:buNone/>
            </a:pPr>
            <a:r>
              <a:rPr lang="en-US" sz="1100" b="1" kern="0" spc="200" dirty="0">
                <a:solidFill>
                  <a:srgbClr val="CADCFC"/>
                </a:solidFill>
                <a:latin typeface="Calibri" pitchFamily="34" charset="0"/>
                <a:ea typeface="Calibri" pitchFamily="34" charset="-122"/>
                <a:cs typeface="Calibri" pitchFamily="34" charset="-120"/>
              </a:rPr>
              <a:t>WHAT</a:t>
            </a:r>
            <a:endParaRPr lang="en-US" sz="1100" dirty="0"/>
          </a:p>
        </p:txBody>
      </p:sp>
      <p:sp>
        <p:nvSpPr>
          <p:cNvPr id="6" name="Text 4"/>
          <p:cNvSpPr/>
          <p:nvPr/>
        </p:nvSpPr>
        <p:spPr>
          <a:xfrm>
            <a:off x="548640" y="4041648"/>
            <a:ext cx="2468880" cy="822960"/>
          </a:xfrm>
          <a:prstGeom prst="rect">
            <a:avLst/>
          </a:prstGeom>
          <a:noFill/>
          <a:ln/>
        </p:spPr>
        <p:txBody>
          <a:bodyPr wrap="square"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A universal human authorization layer — every consequential AI action, every domain, every jurisdiction.</a:t>
            </a:r>
            <a:endParaRPr lang="en-US" sz="1000" dirty="0"/>
          </a:p>
        </p:txBody>
      </p:sp>
      <p:sp>
        <p:nvSpPr>
          <p:cNvPr id="7" name="Shape 5"/>
          <p:cNvSpPr/>
          <p:nvPr/>
        </p:nvSpPr>
        <p:spPr>
          <a:xfrm>
            <a:off x="3291840" y="3703320"/>
            <a:ext cx="2651760" cy="1188720"/>
          </a:xfrm>
          <a:prstGeom prst="roundRect">
            <a:avLst>
              <a:gd name="adj" fmla="val 6154"/>
            </a:avLst>
          </a:prstGeom>
          <a:solidFill>
            <a:srgbClr val="014F5C"/>
          </a:solidFill>
          <a:ln/>
        </p:spPr>
      </p:sp>
      <p:sp>
        <p:nvSpPr>
          <p:cNvPr id="8" name="Text 6"/>
          <p:cNvSpPr/>
          <p:nvPr/>
        </p:nvSpPr>
        <p:spPr>
          <a:xfrm>
            <a:off x="3291840" y="3749040"/>
            <a:ext cx="2651760" cy="292608"/>
          </a:xfrm>
          <a:prstGeom prst="rect">
            <a:avLst/>
          </a:prstGeom>
          <a:noFill/>
          <a:ln/>
        </p:spPr>
        <p:txBody>
          <a:bodyPr wrap="square" rtlCol="0" anchor="ctr"/>
          <a:lstStyle/>
          <a:p>
            <a:pPr marL="0" indent="0" algn="ctr">
              <a:buNone/>
            </a:pPr>
            <a:r>
              <a:rPr lang="en-US" sz="1100" b="1" kern="0" spc="200" dirty="0">
                <a:solidFill>
                  <a:srgbClr val="CADCFC"/>
                </a:solidFill>
                <a:latin typeface="Calibri" pitchFamily="34" charset="0"/>
                <a:ea typeface="Calibri" pitchFamily="34" charset="-122"/>
                <a:cs typeface="Calibri" pitchFamily="34" charset="-120"/>
              </a:rPr>
              <a:t>HOW</a:t>
            </a:r>
            <a:endParaRPr lang="en-US" sz="1100" dirty="0"/>
          </a:p>
        </p:txBody>
      </p:sp>
      <p:sp>
        <p:nvSpPr>
          <p:cNvPr id="9" name="Text 7"/>
          <p:cNvSpPr/>
          <p:nvPr/>
        </p:nvSpPr>
        <p:spPr>
          <a:xfrm>
            <a:off x="3383280" y="4041648"/>
            <a:ext cx="2468880" cy="822960"/>
          </a:xfrm>
          <a:prstGeom prst="rect">
            <a:avLst/>
          </a:prstGeom>
          <a:noFill/>
          <a:ln/>
        </p:spPr>
        <p:txBody>
          <a:bodyPr wrap="square"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Hardware enforcement below the software stack. No patch, no override — silicon is the guarantee.</a:t>
            </a:r>
            <a:endParaRPr lang="en-US" sz="1000" dirty="0"/>
          </a:p>
        </p:txBody>
      </p:sp>
      <p:sp>
        <p:nvSpPr>
          <p:cNvPr id="10" name="Shape 8"/>
          <p:cNvSpPr/>
          <p:nvPr/>
        </p:nvSpPr>
        <p:spPr>
          <a:xfrm>
            <a:off x="6126480" y="3703320"/>
            <a:ext cx="2651760" cy="1188720"/>
          </a:xfrm>
          <a:prstGeom prst="roundRect">
            <a:avLst>
              <a:gd name="adj" fmla="val 6154"/>
            </a:avLst>
          </a:prstGeom>
          <a:solidFill>
            <a:srgbClr val="014F5C"/>
          </a:solidFill>
          <a:ln/>
        </p:spPr>
      </p:sp>
      <p:sp>
        <p:nvSpPr>
          <p:cNvPr id="11" name="Text 9"/>
          <p:cNvSpPr/>
          <p:nvPr/>
        </p:nvSpPr>
        <p:spPr>
          <a:xfrm>
            <a:off x="6126480" y="3749040"/>
            <a:ext cx="2651760" cy="292608"/>
          </a:xfrm>
          <a:prstGeom prst="rect">
            <a:avLst/>
          </a:prstGeom>
          <a:noFill/>
          <a:ln/>
        </p:spPr>
        <p:txBody>
          <a:bodyPr wrap="square" rtlCol="0" anchor="ctr"/>
          <a:lstStyle/>
          <a:p>
            <a:pPr marL="0" indent="0" algn="ctr">
              <a:buNone/>
            </a:pPr>
            <a:r>
              <a:rPr lang="en-US" sz="1100" b="1" kern="0" spc="200" dirty="0">
                <a:solidFill>
                  <a:srgbClr val="CADCFC"/>
                </a:solidFill>
                <a:latin typeface="Calibri" pitchFamily="34" charset="0"/>
                <a:ea typeface="Calibri" pitchFamily="34" charset="-122"/>
                <a:cs typeface="Calibri" pitchFamily="34" charset="-120"/>
              </a:rPr>
              <a:t>WHERE</a:t>
            </a:r>
            <a:endParaRPr lang="en-US" sz="1100" dirty="0"/>
          </a:p>
        </p:txBody>
      </p:sp>
      <p:sp>
        <p:nvSpPr>
          <p:cNvPr id="12" name="Text 10"/>
          <p:cNvSpPr/>
          <p:nvPr/>
        </p:nvSpPr>
        <p:spPr>
          <a:xfrm>
            <a:off x="6217920" y="4041648"/>
            <a:ext cx="2468880" cy="822960"/>
          </a:xfrm>
          <a:prstGeom prst="rect">
            <a:avLst/>
          </a:prstGeom>
          <a:noFill/>
          <a:ln/>
        </p:spPr>
        <p:txBody>
          <a:bodyPr wrap="square"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An open standard. Owned by nobody. Available to every nation, every operator, every chip.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15625"/>
            </a:avLst>
          </a:prstGeom>
          <a:solidFill>
            <a:srgbClr val="028090"/>
          </a:solidFill>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ARCHITECTURE</a:t>
            </a:r>
            <a:endParaRPr lang="en-US" sz="900" dirty="0"/>
          </a:p>
        </p:txBody>
      </p:sp>
      <p:sp>
        <p:nvSpPr>
          <p:cNvPr id="4" name="Text 2"/>
          <p:cNvSpPr/>
          <p:nvPr/>
        </p:nvSpPr>
        <p:spPr>
          <a:xfrm>
            <a:off x="365760" y="548640"/>
            <a:ext cx="8412480" cy="457200"/>
          </a:xfrm>
          <a:prstGeom prst="rect">
            <a:avLst/>
          </a:prstGeom>
          <a:noFill/>
          <a:ln/>
        </p:spPr>
        <p:txBody>
          <a:bodyPr wrap="square" rtlCol="0" anchor="ctr"/>
          <a:lstStyle/>
          <a:p>
            <a:pPr marL="0" indent="0">
              <a:buNone/>
            </a:pPr>
            <a:r>
              <a:rPr lang="en-US" sz="2800" b="1" dirty="0">
                <a:solidFill>
                  <a:srgbClr val="1F3864"/>
                </a:solidFill>
                <a:latin typeface="Verdana" pitchFamily="32" charset="0"/>
                <a:ea typeface="Verdana" pitchFamily="32" charset="-122"/>
                <a:cs typeface="Verdana" pitchFamily="32" charset="-120"/>
              </a:rPr>
              <a:t>The Architectural Model: TCP/IP</a:t>
            </a:r>
            <a:endParaRPr lang="en-US" sz="2800" dirty="0"/>
          </a:p>
        </p:txBody>
      </p:sp>
      <p:sp>
        <p:nvSpPr>
          <p:cNvPr id="5" name="Text 3"/>
          <p:cNvSpPr/>
          <p:nvPr/>
        </p:nvSpPr>
        <p:spPr>
          <a:xfrm>
            <a:off x="365760" y="1024128"/>
            <a:ext cx="8412480" cy="34747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No packet is delivered without an acknowledgement. No consequential AI action is authorized without a human ACK.</a:t>
            </a:r>
            <a:endParaRPr lang="en-US" sz="1200" dirty="0"/>
          </a:p>
        </p:txBody>
      </p:sp>
      <p:pic>
        <p:nvPicPr>
          <p:cNvPr id="6" name="Image 0" descr="/home/claude/imgs/deck/image1.png"/>
          <p:cNvPicPr>
            <a:picLocks noChangeAspect="1"/>
          </p:cNvPicPr>
          <p:nvPr/>
        </p:nvPicPr>
        <p:blipFill>
          <a:blip r:embed="rId3"/>
          <a:stretch>
            <a:fillRect/>
          </a:stretch>
        </p:blipFill>
        <p:spPr>
          <a:xfrm>
            <a:off x="2575865" y="1463040"/>
            <a:ext cx="3992270" cy="3383280"/>
          </a:xfrm>
          <a:prstGeom prst="rect">
            <a:avLst/>
          </a:prstGeom>
        </p:spPr>
      </p:pic>
      <p:sp>
        <p:nvSpPr>
          <p:cNvPr id="7" name="Text 4"/>
          <p:cNvSpPr/>
          <p:nvPr/>
        </p:nvSpPr>
        <p:spPr>
          <a:xfrm>
            <a:off x="365760" y="4846320"/>
            <a:ext cx="8412480" cy="228600"/>
          </a:xfrm>
          <a:prstGeom prst="rect">
            <a:avLst/>
          </a:prstGeom>
          <a:noFill/>
          <a:ln/>
        </p:spPr>
        <p:txBody>
          <a:bodyPr wrap="square"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Figure 1 — The Judge Protocol Stack mapped against TCP/IP. Decision Gate at Layer 4; HACK at Layer 2; Silicon root of trust at Layer 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15625"/>
            </a:avLst>
          </a:prstGeom>
          <a:solidFill>
            <a:srgbClr val="028090"/>
          </a:solidFill>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DECISION GATE</a:t>
            </a:r>
            <a:endParaRPr lang="en-US" sz="900" dirty="0"/>
          </a:p>
        </p:txBody>
      </p:sp>
      <p:sp>
        <p:nvSpPr>
          <p:cNvPr id="4" name="Text 2"/>
          <p:cNvSpPr/>
          <p:nvPr/>
        </p:nvSpPr>
        <p:spPr>
          <a:xfrm>
            <a:off x="365760" y="548640"/>
            <a:ext cx="8412480" cy="475488"/>
          </a:xfrm>
          <a:prstGeom prst="rect">
            <a:avLst/>
          </a:prstGeom>
          <a:noFill/>
          <a:ln/>
        </p:spPr>
        <p:txBody>
          <a:bodyPr wrap="square" rtlCol="0" anchor="ctr"/>
          <a:lstStyle/>
          <a:p>
            <a:pPr marL="0" indent="0">
              <a:buNone/>
            </a:pPr>
            <a:r>
              <a:rPr lang="en-US" sz="3000" b="1" dirty="0">
                <a:solidFill>
                  <a:srgbClr val="1F3864"/>
                </a:solidFill>
                <a:latin typeface="Verdana" pitchFamily="32" charset="0"/>
                <a:ea typeface="Verdana" pitchFamily="32" charset="-122"/>
                <a:cs typeface="Verdana" pitchFamily="32" charset="-120"/>
              </a:rPr>
              <a:t>Four-Tier Authorization</a:t>
            </a:r>
            <a:endParaRPr lang="en-US" sz="3000" dirty="0"/>
          </a:p>
        </p:txBody>
      </p:sp>
      <p:sp>
        <p:nvSpPr>
          <p:cNvPr id="5" name="Shape 3"/>
          <p:cNvSpPr/>
          <p:nvPr/>
        </p:nvSpPr>
        <p:spPr>
          <a:xfrm>
            <a:off x="365760" y="1188720"/>
            <a:ext cx="8412480" cy="841248"/>
          </a:xfrm>
          <a:prstGeom prst="roundRect">
            <a:avLst>
              <a:gd name="adj" fmla="val 7609"/>
            </a:avLst>
          </a:prstGeom>
          <a:solidFill>
            <a:srgbClr val="C0392B"/>
          </a:solidFill>
          <a:ln/>
        </p:spPr>
      </p:sp>
      <p:sp>
        <p:nvSpPr>
          <p:cNvPr id="6" name="Text 4"/>
          <p:cNvSpPr/>
          <p:nvPr/>
        </p:nvSpPr>
        <p:spPr>
          <a:xfrm>
            <a:off x="502920" y="1234440"/>
            <a:ext cx="1005840" cy="320040"/>
          </a:xfrm>
          <a:prstGeom prst="rect">
            <a:avLst/>
          </a:prstGeom>
          <a:noFill/>
          <a:ln/>
        </p:spPr>
        <p:txBody>
          <a:bodyPr wrap="square" lIns="0" tIns="0" rIns="0" bIns="0" rtlCol="0" anchor="ctr"/>
          <a:lstStyle/>
          <a:p>
            <a:pPr marL="0" indent="0">
              <a:buNone/>
            </a:pPr>
            <a:r>
              <a:rPr lang="en-US" sz="1300" b="1" dirty="0">
                <a:solidFill>
                  <a:srgbClr val="FFFFFF"/>
                </a:solidFill>
                <a:latin typeface="Verdana" pitchFamily="32" charset="0"/>
                <a:ea typeface="Verdana" pitchFamily="32" charset="-122"/>
                <a:cs typeface="Verdana" pitchFamily="32" charset="-120"/>
              </a:rPr>
              <a:t>Tier 1</a:t>
            </a:r>
            <a:endParaRPr lang="en-US" sz="1300" dirty="0"/>
          </a:p>
        </p:txBody>
      </p:sp>
      <p:sp>
        <p:nvSpPr>
          <p:cNvPr id="7" name="Text 5"/>
          <p:cNvSpPr/>
          <p:nvPr/>
        </p:nvSpPr>
        <p:spPr>
          <a:xfrm>
            <a:off x="502920" y="1572768"/>
            <a:ext cx="2286000" cy="274320"/>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HARD STOP — Existential</a:t>
            </a:r>
            <a:endParaRPr lang="en-US" sz="900" dirty="0"/>
          </a:p>
        </p:txBody>
      </p:sp>
      <p:sp>
        <p:nvSpPr>
          <p:cNvPr id="8" name="Shape 6"/>
          <p:cNvSpPr/>
          <p:nvPr/>
        </p:nvSpPr>
        <p:spPr>
          <a:xfrm>
            <a:off x="1828800" y="1280160"/>
            <a:ext cx="27432" cy="658368"/>
          </a:xfrm>
          <a:prstGeom prst="rect">
            <a:avLst/>
          </a:prstGeom>
          <a:solidFill>
            <a:srgbClr val="FFFFFF">
              <a:alpha val="50000"/>
            </a:srgbClr>
          </a:solidFill>
          <a:ln w="12700">
            <a:solidFill>
              <a:srgbClr val="FFFFFF">
                <a:alpha val="50000"/>
              </a:srgbClr>
            </a:solidFill>
            <a:prstDash val="solid"/>
          </a:ln>
        </p:spPr>
      </p:sp>
      <p:sp>
        <p:nvSpPr>
          <p:cNvPr id="9" name="Text 7"/>
          <p:cNvSpPr/>
          <p:nvPr/>
        </p:nvSpPr>
        <p:spPr>
          <a:xfrm>
            <a:off x="1965960" y="1243584"/>
            <a:ext cx="3657600" cy="347472"/>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Examples: Nuclear · Biological · Chemical · Mass-casualty</a:t>
            </a:r>
            <a:endParaRPr lang="en-US" sz="1000" dirty="0"/>
          </a:p>
        </p:txBody>
      </p:sp>
      <p:sp>
        <p:nvSpPr>
          <p:cNvPr id="10" name="Text 8"/>
          <p:cNvSpPr/>
          <p:nvPr/>
        </p:nvSpPr>
        <p:spPr>
          <a:xfrm>
            <a:off x="1965960" y="1627632"/>
            <a:ext cx="3657600" cy="347472"/>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Hardware logic. No override. AI cannot recommend, simulate or execute.</a:t>
            </a:r>
            <a:endParaRPr lang="en-US" sz="1000" dirty="0"/>
          </a:p>
        </p:txBody>
      </p:sp>
      <p:sp>
        <p:nvSpPr>
          <p:cNvPr id="11" name="Shape 9"/>
          <p:cNvSpPr/>
          <p:nvPr/>
        </p:nvSpPr>
        <p:spPr>
          <a:xfrm>
            <a:off x="5669280" y="1280160"/>
            <a:ext cx="27432" cy="658368"/>
          </a:xfrm>
          <a:prstGeom prst="rect">
            <a:avLst/>
          </a:prstGeom>
          <a:solidFill>
            <a:srgbClr val="FFFFFF">
              <a:alpha val="50000"/>
            </a:srgbClr>
          </a:solidFill>
          <a:ln w="12700">
            <a:solidFill>
              <a:srgbClr val="FFFFFF">
                <a:alpha val="50000"/>
              </a:srgbClr>
            </a:solidFill>
            <a:prstDash val="solid"/>
          </a:ln>
        </p:spPr>
      </p:sp>
      <p:sp>
        <p:nvSpPr>
          <p:cNvPr id="12" name="Shape 10"/>
          <p:cNvSpPr/>
          <p:nvPr/>
        </p:nvSpPr>
        <p:spPr>
          <a:xfrm>
            <a:off x="5806440" y="1389888"/>
            <a:ext cx="2834640" cy="411480"/>
          </a:xfrm>
          <a:prstGeom prst="roundRect">
            <a:avLst>
              <a:gd name="adj" fmla="val 13333"/>
            </a:avLst>
          </a:prstGeom>
          <a:solidFill>
            <a:srgbClr val="8B1A1A"/>
          </a:solidFill>
          <a:ln/>
        </p:spPr>
      </p:sp>
      <p:sp>
        <p:nvSpPr>
          <p:cNvPr id="13" name="Text 11"/>
          <p:cNvSpPr/>
          <p:nvPr/>
        </p:nvSpPr>
        <p:spPr>
          <a:xfrm>
            <a:off x="5806440" y="1389888"/>
            <a:ext cx="28346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HARDWARE HARD STOP</a:t>
            </a:r>
            <a:endParaRPr lang="en-US" sz="1000" dirty="0"/>
          </a:p>
        </p:txBody>
      </p:sp>
      <p:sp>
        <p:nvSpPr>
          <p:cNvPr id="14" name="Shape 12"/>
          <p:cNvSpPr/>
          <p:nvPr/>
        </p:nvSpPr>
        <p:spPr>
          <a:xfrm>
            <a:off x="365760" y="2103120"/>
            <a:ext cx="8412480" cy="841248"/>
          </a:xfrm>
          <a:prstGeom prst="roundRect">
            <a:avLst>
              <a:gd name="adj" fmla="val 7609"/>
            </a:avLst>
          </a:prstGeom>
          <a:solidFill>
            <a:srgbClr val="D4881A"/>
          </a:solidFill>
          <a:ln/>
        </p:spPr>
      </p:sp>
      <p:sp>
        <p:nvSpPr>
          <p:cNvPr id="15" name="Text 13"/>
          <p:cNvSpPr/>
          <p:nvPr/>
        </p:nvSpPr>
        <p:spPr>
          <a:xfrm>
            <a:off x="502920" y="2148840"/>
            <a:ext cx="1005840" cy="320040"/>
          </a:xfrm>
          <a:prstGeom prst="rect">
            <a:avLst/>
          </a:prstGeom>
          <a:noFill/>
          <a:ln/>
        </p:spPr>
        <p:txBody>
          <a:bodyPr wrap="square" lIns="0" tIns="0" rIns="0" bIns="0" rtlCol="0" anchor="ctr"/>
          <a:lstStyle/>
          <a:p>
            <a:pPr marL="0" indent="0">
              <a:buNone/>
            </a:pPr>
            <a:r>
              <a:rPr lang="en-US" sz="1300" b="1" dirty="0">
                <a:solidFill>
                  <a:srgbClr val="FFFFFF"/>
                </a:solidFill>
                <a:latin typeface="Verdana" pitchFamily="32" charset="0"/>
                <a:ea typeface="Verdana" pitchFamily="32" charset="-122"/>
                <a:cs typeface="Verdana" pitchFamily="32" charset="-120"/>
              </a:rPr>
              <a:t>Tier 2</a:t>
            </a:r>
            <a:endParaRPr lang="en-US" sz="1300" dirty="0"/>
          </a:p>
        </p:txBody>
      </p:sp>
      <p:sp>
        <p:nvSpPr>
          <p:cNvPr id="16" name="Text 14"/>
          <p:cNvSpPr/>
          <p:nvPr/>
        </p:nvSpPr>
        <p:spPr>
          <a:xfrm>
            <a:off x="502920" y="2487168"/>
            <a:ext cx="2286000" cy="274320"/>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HIGH — Irreversible, Large-Scale</a:t>
            </a:r>
            <a:endParaRPr lang="en-US" sz="900" dirty="0"/>
          </a:p>
        </p:txBody>
      </p:sp>
      <p:sp>
        <p:nvSpPr>
          <p:cNvPr id="17" name="Shape 15"/>
          <p:cNvSpPr/>
          <p:nvPr/>
        </p:nvSpPr>
        <p:spPr>
          <a:xfrm>
            <a:off x="1828800" y="2194560"/>
            <a:ext cx="27432" cy="658368"/>
          </a:xfrm>
          <a:prstGeom prst="rect">
            <a:avLst/>
          </a:prstGeom>
          <a:solidFill>
            <a:srgbClr val="FFFFFF">
              <a:alpha val="50000"/>
            </a:srgbClr>
          </a:solidFill>
          <a:ln w="12700">
            <a:solidFill>
              <a:srgbClr val="FFFFFF">
                <a:alpha val="50000"/>
              </a:srgbClr>
            </a:solidFill>
            <a:prstDash val="solid"/>
          </a:ln>
        </p:spPr>
      </p:sp>
      <p:sp>
        <p:nvSpPr>
          <p:cNvPr id="18" name="Text 16"/>
          <p:cNvSpPr/>
          <p:nvPr/>
        </p:nvSpPr>
        <p:spPr>
          <a:xfrm>
            <a:off x="1965960" y="2157984"/>
            <a:ext cx="3657600" cy="347472"/>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Examples: Military strike authorization · Critical infrastructure shutdown</a:t>
            </a:r>
            <a:endParaRPr lang="en-US" sz="1000" dirty="0"/>
          </a:p>
        </p:txBody>
      </p:sp>
      <p:sp>
        <p:nvSpPr>
          <p:cNvPr id="19" name="Text 17"/>
          <p:cNvSpPr/>
          <p:nvPr/>
        </p:nvSpPr>
        <p:spPr>
          <a:xfrm>
            <a:off x="1965960" y="2542032"/>
            <a:ext cx="3657600" cy="347472"/>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Multi-party human authorization — minimum two independent authorities.</a:t>
            </a:r>
            <a:endParaRPr lang="en-US" sz="1000" dirty="0"/>
          </a:p>
        </p:txBody>
      </p:sp>
      <p:sp>
        <p:nvSpPr>
          <p:cNvPr id="20" name="Shape 18"/>
          <p:cNvSpPr/>
          <p:nvPr/>
        </p:nvSpPr>
        <p:spPr>
          <a:xfrm>
            <a:off x="5669280" y="2194560"/>
            <a:ext cx="27432" cy="658368"/>
          </a:xfrm>
          <a:prstGeom prst="rect">
            <a:avLst/>
          </a:prstGeom>
          <a:solidFill>
            <a:srgbClr val="FFFFFF">
              <a:alpha val="50000"/>
            </a:srgbClr>
          </a:solidFill>
          <a:ln w="12700">
            <a:solidFill>
              <a:srgbClr val="FFFFFF">
                <a:alpha val="50000"/>
              </a:srgbClr>
            </a:solidFill>
            <a:prstDash val="solid"/>
          </a:ln>
        </p:spPr>
      </p:sp>
      <p:sp>
        <p:nvSpPr>
          <p:cNvPr id="21" name="Shape 19"/>
          <p:cNvSpPr/>
          <p:nvPr/>
        </p:nvSpPr>
        <p:spPr>
          <a:xfrm>
            <a:off x="5806440" y="2304288"/>
            <a:ext cx="2834640" cy="411480"/>
          </a:xfrm>
          <a:prstGeom prst="roundRect">
            <a:avLst>
              <a:gd name="adj" fmla="val 13333"/>
            </a:avLst>
          </a:prstGeom>
          <a:solidFill>
            <a:srgbClr val="8B5E1A"/>
          </a:solidFill>
          <a:ln/>
        </p:spPr>
      </p:sp>
      <p:sp>
        <p:nvSpPr>
          <p:cNvPr id="22" name="Text 20"/>
          <p:cNvSpPr/>
          <p:nvPr/>
        </p:nvSpPr>
        <p:spPr>
          <a:xfrm>
            <a:off x="5806440" y="2304288"/>
            <a:ext cx="28346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MULTI-PARTY ACK</a:t>
            </a:r>
            <a:endParaRPr lang="en-US" sz="1000" dirty="0"/>
          </a:p>
        </p:txBody>
      </p:sp>
      <p:sp>
        <p:nvSpPr>
          <p:cNvPr id="23" name="Shape 21"/>
          <p:cNvSpPr/>
          <p:nvPr/>
        </p:nvSpPr>
        <p:spPr>
          <a:xfrm>
            <a:off x="365760" y="3017520"/>
            <a:ext cx="8412480" cy="841248"/>
          </a:xfrm>
          <a:prstGeom prst="roundRect">
            <a:avLst>
              <a:gd name="adj" fmla="val 7609"/>
            </a:avLst>
          </a:prstGeom>
          <a:solidFill>
            <a:srgbClr val="217A3C"/>
          </a:solidFill>
          <a:ln/>
        </p:spPr>
      </p:sp>
      <p:sp>
        <p:nvSpPr>
          <p:cNvPr id="24" name="Text 22"/>
          <p:cNvSpPr/>
          <p:nvPr/>
        </p:nvSpPr>
        <p:spPr>
          <a:xfrm>
            <a:off x="502920" y="3063240"/>
            <a:ext cx="1005840" cy="320040"/>
          </a:xfrm>
          <a:prstGeom prst="rect">
            <a:avLst/>
          </a:prstGeom>
          <a:noFill/>
          <a:ln/>
        </p:spPr>
        <p:txBody>
          <a:bodyPr wrap="square" lIns="0" tIns="0" rIns="0" bIns="0" rtlCol="0" anchor="ctr"/>
          <a:lstStyle/>
          <a:p>
            <a:pPr marL="0" indent="0">
              <a:buNone/>
            </a:pPr>
            <a:r>
              <a:rPr lang="en-US" sz="1300" b="1" dirty="0">
                <a:solidFill>
                  <a:srgbClr val="FFFFFF"/>
                </a:solidFill>
                <a:latin typeface="Verdana" pitchFamily="32" charset="0"/>
                <a:ea typeface="Verdana" pitchFamily="32" charset="-122"/>
                <a:cs typeface="Verdana" pitchFamily="32" charset="-120"/>
              </a:rPr>
              <a:t>Tier 3</a:t>
            </a:r>
            <a:endParaRPr lang="en-US" sz="1300" dirty="0"/>
          </a:p>
        </p:txBody>
      </p:sp>
      <p:sp>
        <p:nvSpPr>
          <p:cNvPr id="25" name="Text 23"/>
          <p:cNvSpPr/>
          <p:nvPr/>
        </p:nvSpPr>
        <p:spPr>
          <a:xfrm>
            <a:off x="502920" y="3401568"/>
            <a:ext cx="2286000" cy="274320"/>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SIGNIFICANT — Material Impact</a:t>
            </a:r>
            <a:endParaRPr lang="en-US" sz="900" dirty="0"/>
          </a:p>
        </p:txBody>
      </p:sp>
      <p:sp>
        <p:nvSpPr>
          <p:cNvPr id="26" name="Shape 24"/>
          <p:cNvSpPr/>
          <p:nvPr/>
        </p:nvSpPr>
        <p:spPr>
          <a:xfrm>
            <a:off x="1828800" y="3108960"/>
            <a:ext cx="27432" cy="658368"/>
          </a:xfrm>
          <a:prstGeom prst="rect">
            <a:avLst/>
          </a:prstGeom>
          <a:solidFill>
            <a:srgbClr val="FFFFFF">
              <a:alpha val="50000"/>
            </a:srgbClr>
          </a:solidFill>
          <a:ln w="12700">
            <a:solidFill>
              <a:srgbClr val="FFFFFF">
                <a:alpha val="50000"/>
              </a:srgbClr>
            </a:solidFill>
            <a:prstDash val="solid"/>
          </a:ln>
        </p:spPr>
      </p:sp>
      <p:sp>
        <p:nvSpPr>
          <p:cNvPr id="27" name="Text 25"/>
          <p:cNvSpPr/>
          <p:nvPr/>
        </p:nvSpPr>
        <p:spPr>
          <a:xfrm>
            <a:off x="1965960" y="3072384"/>
            <a:ext cx="3657600" cy="347472"/>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Examples: Large financial transactions · Clinical treatment decisions · Targeting support</a:t>
            </a:r>
            <a:endParaRPr lang="en-US" sz="1000" dirty="0"/>
          </a:p>
        </p:txBody>
      </p:sp>
      <p:sp>
        <p:nvSpPr>
          <p:cNvPr id="28" name="Text 26"/>
          <p:cNvSpPr/>
          <p:nvPr/>
        </p:nvSpPr>
        <p:spPr>
          <a:xfrm>
            <a:off x="1965960" y="3456432"/>
            <a:ext cx="3657600" cy="347472"/>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Single designated human authority must authorize.</a:t>
            </a:r>
            <a:endParaRPr lang="en-US" sz="1000" dirty="0"/>
          </a:p>
        </p:txBody>
      </p:sp>
      <p:sp>
        <p:nvSpPr>
          <p:cNvPr id="29" name="Shape 27"/>
          <p:cNvSpPr/>
          <p:nvPr/>
        </p:nvSpPr>
        <p:spPr>
          <a:xfrm>
            <a:off x="5669280" y="3108960"/>
            <a:ext cx="27432" cy="658368"/>
          </a:xfrm>
          <a:prstGeom prst="rect">
            <a:avLst/>
          </a:prstGeom>
          <a:solidFill>
            <a:srgbClr val="FFFFFF">
              <a:alpha val="50000"/>
            </a:srgbClr>
          </a:solidFill>
          <a:ln w="12700">
            <a:solidFill>
              <a:srgbClr val="FFFFFF">
                <a:alpha val="50000"/>
              </a:srgbClr>
            </a:solidFill>
            <a:prstDash val="solid"/>
          </a:ln>
        </p:spPr>
      </p:sp>
      <p:sp>
        <p:nvSpPr>
          <p:cNvPr id="30" name="Shape 28"/>
          <p:cNvSpPr/>
          <p:nvPr/>
        </p:nvSpPr>
        <p:spPr>
          <a:xfrm>
            <a:off x="5806440" y="3218688"/>
            <a:ext cx="2834640" cy="411480"/>
          </a:xfrm>
          <a:prstGeom prst="roundRect">
            <a:avLst>
              <a:gd name="adj" fmla="val 13333"/>
            </a:avLst>
          </a:prstGeom>
          <a:solidFill>
            <a:srgbClr val="1A5C35"/>
          </a:solidFill>
          <a:ln/>
        </p:spPr>
      </p:sp>
      <p:sp>
        <p:nvSpPr>
          <p:cNvPr id="31" name="Text 29"/>
          <p:cNvSpPr/>
          <p:nvPr/>
        </p:nvSpPr>
        <p:spPr>
          <a:xfrm>
            <a:off x="5806440" y="3218688"/>
            <a:ext cx="28346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SINGLE AUTHORITY ACK</a:t>
            </a:r>
            <a:endParaRPr lang="en-US" sz="1000" dirty="0"/>
          </a:p>
        </p:txBody>
      </p:sp>
      <p:sp>
        <p:nvSpPr>
          <p:cNvPr id="32" name="Shape 30"/>
          <p:cNvSpPr/>
          <p:nvPr/>
        </p:nvSpPr>
        <p:spPr>
          <a:xfrm>
            <a:off x="365760" y="3931920"/>
            <a:ext cx="8412480" cy="841248"/>
          </a:xfrm>
          <a:prstGeom prst="roundRect">
            <a:avLst>
              <a:gd name="adj" fmla="val 7609"/>
            </a:avLst>
          </a:prstGeom>
          <a:solidFill>
            <a:srgbClr val="2C5F2D"/>
          </a:solidFill>
          <a:ln/>
        </p:spPr>
      </p:sp>
      <p:sp>
        <p:nvSpPr>
          <p:cNvPr id="33" name="Text 31"/>
          <p:cNvSpPr/>
          <p:nvPr/>
        </p:nvSpPr>
        <p:spPr>
          <a:xfrm>
            <a:off x="502920" y="3977640"/>
            <a:ext cx="1005840" cy="320040"/>
          </a:xfrm>
          <a:prstGeom prst="rect">
            <a:avLst/>
          </a:prstGeom>
          <a:noFill/>
          <a:ln/>
        </p:spPr>
        <p:txBody>
          <a:bodyPr wrap="square" lIns="0" tIns="0" rIns="0" bIns="0" rtlCol="0" anchor="ctr"/>
          <a:lstStyle/>
          <a:p>
            <a:pPr marL="0" indent="0">
              <a:buNone/>
            </a:pPr>
            <a:r>
              <a:rPr lang="en-US" sz="1300" b="1" dirty="0">
                <a:solidFill>
                  <a:srgbClr val="FFFFFF"/>
                </a:solidFill>
                <a:latin typeface="Verdana" pitchFamily="32" charset="0"/>
                <a:ea typeface="Verdana" pitchFamily="32" charset="-122"/>
                <a:cs typeface="Verdana" pitchFamily="32" charset="-120"/>
              </a:rPr>
              <a:t>Tier 4</a:t>
            </a:r>
            <a:endParaRPr lang="en-US" sz="1300" dirty="0"/>
          </a:p>
        </p:txBody>
      </p:sp>
      <p:sp>
        <p:nvSpPr>
          <p:cNvPr id="34" name="Text 32"/>
          <p:cNvSpPr/>
          <p:nvPr/>
        </p:nvSpPr>
        <p:spPr>
          <a:xfrm>
            <a:off x="502920" y="4315968"/>
            <a:ext cx="2286000" cy="274320"/>
          </a:xfrm>
          <a:prstGeom prst="rect">
            <a:avLst/>
          </a:prstGeom>
          <a:noFill/>
          <a:ln/>
        </p:spPr>
        <p:txBody>
          <a:bodyPr wrap="square" lIns="0" tIns="0" rIns="0" bIns="0"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ROUTINE — Standard, Reversible</a:t>
            </a:r>
            <a:endParaRPr lang="en-US" sz="900" dirty="0"/>
          </a:p>
        </p:txBody>
      </p:sp>
      <p:sp>
        <p:nvSpPr>
          <p:cNvPr id="35" name="Shape 33"/>
          <p:cNvSpPr/>
          <p:nvPr/>
        </p:nvSpPr>
        <p:spPr>
          <a:xfrm>
            <a:off x="1828800" y="4023360"/>
            <a:ext cx="27432" cy="658368"/>
          </a:xfrm>
          <a:prstGeom prst="rect">
            <a:avLst/>
          </a:prstGeom>
          <a:solidFill>
            <a:srgbClr val="FFFFFF">
              <a:alpha val="50000"/>
            </a:srgbClr>
          </a:solidFill>
          <a:ln w="12700">
            <a:solidFill>
              <a:srgbClr val="FFFFFF">
                <a:alpha val="50000"/>
              </a:srgbClr>
            </a:solidFill>
            <a:prstDash val="solid"/>
          </a:ln>
        </p:spPr>
      </p:sp>
      <p:sp>
        <p:nvSpPr>
          <p:cNvPr id="36" name="Text 34"/>
          <p:cNvSpPr/>
          <p:nvPr/>
        </p:nvSpPr>
        <p:spPr>
          <a:xfrm>
            <a:off x="1965960" y="3986784"/>
            <a:ext cx="3657600" cy="347472"/>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Examples: Automated reporting · Scheduling · Routine analysis</a:t>
            </a:r>
            <a:endParaRPr lang="en-US" sz="1000" dirty="0"/>
          </a:p>
        </p:txBody>
      </p:sp>
      <p:sp>
        <p:nvSpPr>
          <p:cNvPr id="37" name="Text 35"/>
          <p:cNvSpPr/>
          <p:nvPr/>
        </p:nvSpPr>
        <p:spPr>
          <a:xfrm>
            <a:off x="1965960" y="4370832"/>
            <a:ext cx="3657600" cy="347472"/>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AI executes autonomously — logged and auditable.</a:t>
            </a:r>
            <a:endParaRPr lang="en-US" sz="1000" dirty="0"/>
          </a:p>
        </p:txBody>
      </p:sp>
      <p:sp>
        <p:nvSpPr>
          <p:cNvPr id="38" name="Shape 36"/>
          <p:cNvSpPr/>
          <p:nvPr/>
        </p:nvSpPr>
        <p:spPr>
          <a:xfrm>
            <a:off x="5669280" y="4023360"/>
            <a:ext cx="27432" cy="658368"/>
          </a:xfrm>
          <a:prstGeom prst="rect">
            <a:avLst/>
          </a:prstGeom>
          <a:solidFill>
            <a:srgbClr val="FFFFFF">
              <a:alpha val="50000"/>
            </a:srgbClr>
          </a:solidFill>
          <a:ln w="12700">
            <a:solidFill>
              <a:srgbClr val="FFFFFF">
                <a:alpha val="50000"/>
              </a:srgbClr>
            </a:solidFill>
            <a:prstDash val="solid"/>
          </a:ln>
        </p:spPr>
      </p:sp>
      <p:sp>
        <p:nvSpPr>
          <p:cNvPr id="39" name="Shape 37"/>
          <p:cNvSpPr/>
          <p:nvPr/>
        </p:nvSpPr>
        <p:spPr>
          <a:xfrm>
            <a:off x="5806440" y="4133088"/>
            <a:ext cx="2834640" cy="411480"/>
          </a:xfrm>
          <a:prstGeom prst="roundRect">
            <a:avLst>
              <a:gd name="adj" fmla="val 13333"/>
            </a:avLst>
          </a:prstGeom>
          <a:solidFill>
            <a:srgbClr val="1A4D1A"/>
          </a:solidFill>
          <a:ln/>
        </p:spPr>
      </p:sp>
      <p:sp>
        <p:nvSpPr>
          <p:cNvPr id="40" name="Text 38"/>
          <p:cNvSpPr/>
          <p:nvPr/>
        </p:nvSpPr>
        <p:spPr>
          <a:xfrm>
            <a:off x="5806440" y="4133088"/>
            <a:ext cx="28346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AUTONOMOUS + LOG</a:t>
            </a:r>
            <a:endParaRPr lang="en-US" sz="1000" dirty="0"/>
          </a:p>
        </p:txBody>
      </p:sp>
      <p:sp>
        <p:nvSpPr>
          <p:cNvPr id="41" name="Text 39"/>
          <p:cNvSpPr/>
          <p:nvPr/>
        </p:nvSpPr>
        <p:spPr>
          <a:xfrm>
            <a:off x="365760" y="4800600"/>
            <a:ext cx="8412480" cy="22860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Every Decision Gate event generates an immutable audit log — system ID, action, authorizer, timestamp, rationale, outcome. Retained 10 years minimum.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15625"/>
            </a:avLst>
          </a:prstGeom>
          <a:solidFill>
            <a:srgbClr val="028090"/>
          </a:solidFill>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HARDWARE ENFORCEMENT</a:t>
            </a:r>
            <a:endParaRPr lang="en-US" sz="900" dirty="0"/>
          </a:p>
        </p:txBody>
      </p:sp>
      <p:sp>
        <p:nvSpPr>
          <p:cNvPr id="4" name="Text 2"/>
          <p:cNvSpPr/>
          <p:nvPr/>
        </p:nvSpPr>
        <p:spPr>
          <a:xfrm>
            <a:off x="365760" y="548640"/>
            <a:ext cx="5486400" cy="475488"/>
          </a:xfrm>
          <a:prstGeom prst="rect">
            <a:avLst/>
          </a:prstGeom>
          <a:noFill/>
          <a:ln/>
        </p:spPr>
        <p:txBody>
          <a:bodyPr wrap="square" rtlCol="0" anchor="ctr"/>
          <a:lstStyle/>
          <a:p>
            <a:pPr marL="0" indent="0">
              <a:buNone/>
            </a:pPr>
            <a:r>
              <a:rPr lang="en-US" sz="2800" b="1" dirty="0">
                <a:solidFill>
                  <a:srgbClr val="1F3864"/>
                </a:solidFill>
                <a:latin typeface="Verdana" pitchFamily="32" charset="0"/>
                <a:ea typeface="Verdana" pitchFamily="32" charset="-122"/>
                <a:cs typeface="Verdana" pitchFamily="32" charset="-120"/>
              </a:rPr>
              <a:t>The HACK — Hardware ACK</a:t>
            </a:r>
            <a:endParaRPr lang="en-US" sz="2800" dirty="0"/>
          </a:p>
        </p:txBody>
      </p:sp>
      <p:sp>
        <p:nvSpPr>
          <p:cNvPr id="5" name="Text 3"/>
          <p:cNvSpPr/>
          <p:nvPr/>
        </p:nvSpPr>
        <p:spPr>
          <a:xfrm>
            <a:off x="365760" y="1024128"/>
            <a:ext cx="5486400" cy="347472"/>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Governance below the software stack — where it cannot be patched, bypassed or overridden.</a:t>
            </a:r>
            <a:endParaRPr lang="en-US" sz="1100" dirty="0"/>
          </a:p>
        </p:txBody>
      </p:sp>
      <p:sp>
        <p:nvSpPr>
          <p:cNvPr id="6" name="Shape 4"/>
          <p:cNvSpPr/>
          <p:nvPr/>
        </p:nvSpPr>
        <p:spPr>
          <a:xfrm>
            <a:off x="365760" y="1481328"/>
            <a:ext cx="256032" cy="256032"/>
          </a:xfrm>
          <a:prstGeom prst="ellipse">
            <a:avLst/>
          </a:prstGeom>
          <a:solidFill>
            <a:srgbClr val="028090"/>
          </a:solidFill>
          <a:ln/>
        </p:spPr>
      </p:sp>
      <p:sp>
        <p:nvSpPr>
          <p:cNvPr id="7" name="Text 5"/>
          <p:cNvSpPr/>
          <p:nvPr/>
        </p:nvSpPr>
        <p:spPr>
          <a:xfrm>
            <a:off x="365760" y="1481328"/>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713232" y="1481328"/>
            <a:ext cx="4114800" cy="457200"/>
          </a:xfrm>
          <a:prstGeom prst="rect">
            <a:avLst/>
          </a:prstGeom>
          <a:noFill/>
          <a:ln/>
        </p:spPr>
        <p:txBody>
          <a:bodyPr wrap="square" rtlCol="0" anchor="ctr"/>
          <a:lstStyle/>
          <a:p>
            <a:pPr marL="0" indent="0">
              <a:buNone/>
            </a:pPr>
            <a:r>
              <a:rPr lang="en-US" sz="1050" dirty="0">
                <a:solidFill>
                  <a:srgbClr val="1F3864"/>
                </a:solidFill>
                <a:latin typeface="Calibri" pitchFamily="34" charset="0"/>
                <a:ea typeface="Calibri" pitchFamily="34" charset="-122"/>
                <a:cs typeface="Calibri" pitchFamily="34" charset="-120"/>
              </a:rPr>
              <a:t>CV32E40S RISC-V core + OpenTitan Chain of Evidence (COE)</a:t>
            </a:r>
            <a:endParaRPr lang="en-US" sz="1050" dirty="0"/>
          </a:p>
        </p:txBody>
      </p:sp>
      <p:sp>
        <p:nvSpPr>
          <p:cNvPr id="9" name="Shape 7"/>
          <p:cNvSpPr/>
          <p:nvPr/>
        </p:nvSpPr>
        <p:spPr>
          <a:xfrm>
            <a:off x="365760" y="2011680"/>
            <a:ext cx="256032" cy="256032"/>
          </a:xfrm>
          <a:prstGeom prst="ellipse">
            <a:avLst/>
          </a:prstGeom>
          <a:solidFill>
            <a:srgbClr val="028090"/>
          </a:solidFill>
          <a:ln/>
        </p:spPr>
      </p:sp>
      <p:sp>
        <p:nvSpPr>
          <p:cNvPr id="10" name="Text 8"/>
          <p:cNvSpPr/>
          <p:nvPr/>
        </p:nvSpPr>
        <p:spPr>
          <a:xfrm>
            <a:off x="365760" y="201168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713232" y="2011680"/>
            <a:ext cx="4114800" cy="457200"/>
          </a:xfrm>
          <a:prstGeom prst="rect">
            <a:avLst/>
          </a:prstGeom>
          <a:noFill/>
          <a:ln/>
        </p:spPr>
        <p:txBody>
          <a:bodyPr wrap="square" rtlCol="0" anchor="ctr"/>
          <a:lstStyle/>
          <a:p>
            <a:pPr marL="0" indent="0">
              <a:buNone/>
            </a:pPr>
            <a:r>
              <a:rPr lang="en-US" sz="1050" dirty="0">
                <a:solidFill>
                  <a:srgbClr val="1F3864"/>
                </a:solidFill>
                <a:latin typeface="Calibri" pitchFamily="34" charset="0"/>
                <a:ea typeface="Calibri" pitchFamily="34" charset="-122"/>
                <a:cs typeface="Calibri" pitchFamily="34" charset="-120"/>
              </a:rPr>
              <a:t>Tier 1 hard stop in hardware logic — no firmware update overrides it</a:t>
            </a:r>
            <a:endParaRPr lang="en-US" sz="1050" dirty="0"/>
          </a:p>
        </p:txBody>
      </p:sp>
      <p:sp>
        <p:nvSpPr>
          <p:cNvPr id="12" name="Shape 10"/>
          <p:cNvSpPr/>
          <p:nvPr/>
        </p:nvSpPr>
        <p:spPr>
          <a:xfrm>
            <a:off x="365760" y="2542032"/>
            <a:ext cx="256032" cy="256032"/>
          </a:xfrm>
          <a:prstGeom prst="ellipse">
            <a:avLst/>
          </a:prstGeom>
          <a:solidFill>
            <a:srgbClr val="028090"/>
          </a:solidFill>
          <a:ln/>
        </p:spPr>
      </p:sp>
      <p:sp>
        <p:nvSpPr>
          <p:cNvPr id="13" name="Text 11"/>
          <p:cNvSpPr/>
          <p:nvPr/>
        </p:nvSpPr>
        <p:spPr>
          <a:xfrm>
            <a:off x="365760" y="254203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4" name="Text 12"/>
          <p:cNvSpPr/>
          <p:nvPr/>
        </p:nvSpPr>
        <p:spPr>
          <a:xfrm>
            <a:off x="713232" y="2542032"/>
            <a:ext cx="4114800" cy="457200"/>
          </a:xfrm>
          <a:prstGeom prst="rect">
            <a:avLst/>
          </a:prstGeom>
          <a:noFill/>
          <a:ln/>
        </p:spPr>
        <p:txBody>
          <a:bodyPr wrap="square" rtlCol="0" anchor="ctr"/>
          <a:lstStyle/>
          <a:p>
            <a:pPr marL="0" indent="0">
              <a:buNone/>
            </a:pPr>
            <a:r>
              <a:rPr lang="en-US" sz="1050" dirty="0">
                <a:solidFill>
                  <a:srgbClr val="1F3864"/>
                </a:solidFill>
                <a:latin typeface="Calibri" pitchFamily="34" charset="0"/>
                <a:ea typeface="Calibri" pitchFamily="34" charset="-122"/>
                <a:cs typeface="Calibri" pitchFamily="34" charset="-120"/>
              </a:rPr>
              <a:t>Holds compute capacity gate for Tier 2/3 pending signed human ACK token</a:t>
            </a:r>
            <a:endParaRPr lang="en-US" sz="1050" dirty="0"/>
          </a:p>
        </p:txBody>
      </p:sp>
      <p:sp>
        <p:nvSpPr>
          <p:cNvPr id="15" name="Shape 13"/>
          <p:cNvSpPr/>
          <p:nvPr/>
        </p:nvSpPr>
        <p:spPr>
          <a:xfrm>
            <a:off x="365760" y="3072384"/>
            <a:ext cx="256032" cy="256032"/>
          </a:xfrm>
          <a:prstGeom prst="ellipse">
            <a:avLst/>
          </a:prstGeom>
          <a:solidFill>
            <a:srgbClr val="028090"/>
          </a:solidFill>
          <a:ln/>
        </p:spPr>
      </p:sp>
      <p:sp>
        <p:nvSpPr>
          <p:cNvPr id="16" name="Text 14"/>
          <p:cNvSpPr/>
          <p:nvPr/>
        </p:nvSpPr>
        <p:spPr>
          <a:xfrm>
            <a:off x="365760" y="307238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Text 15"/>
          <p:cNvSpPr/>
          <p:nvPr/>
        </p:nvSpPr>
        <p:spPr>
          <a:xfrm>
            <a:off x="713232" y="3072384"/>
            <a:ext cx="4114800" cy="457200"/>
          </a:xfrm>
          <a:prstGeom prst="rect">
            <a:avLst/>
          </a:prstGeom>
          <a:noFill/>
          <a:ln/>
        </p:spPr>
        <p:txBody>
          <a:bodyPr wrap="square" rtlCol="0" anchor="ctr"/>
          <a:lstStyle/>
          <a:p>
            <a:pPr marL="0" indent="0">
              <a:buNone/>
            </a:pPr>
            <a:r>
              <a:rPr lang="en-US" sz="1050" dirty="0">
                <a:solidFill>
                  <a:srgbClr val="1F3864"/>
                </a:solidFill>
                <a:latin typeface="Calibri" pitchFamily="34" charset="0"/>
                <a:ea typeface="Calibri" pitchFamily="34" charset="-122"/>
                <a:cs typeface="Calibri" pitchFamily="34" charset="-120"/>
              </a:rPr>
              <a:t>Tamper-proof on-chip audit log — no software process can alter it</a:t>
            </a:r>
            <a:endParaRPr lang="en-US" sz="1050" dirty="0"/>
          </a:p>
        </p:txBody>
      </p:sp>
      <p:sp>
        <p:nvSpPr>
          <p:cNvPr id="18" name="Shape 16"/>
          <p:cNvSpPr/>
          <p:nvPr/>
        </p:nvSpPr>
        <p:spPr>
          <a:xfrm>
            <a:off x="365760" y="3602736"/>
            <a:ext cx="256032" cy="256032"/>
          </a:xfrm>
          <a:prstGeom prst="ellipse">
            <a:avLst/>
          </a:prstGeom>
          <a:solidFill>
            <a:srgbClr val="028090"/>
          </a:solidFill>
          <a:ln/>
        </p:spPr>
      </p:sp>
      <p:sp>
        <p:nvSpPr>
          <p:cNvPr id="19" name="Text 17"/>
          <p:cNvSpPr/>
          <p:nvPr/>
        </p:nvSpPr>
        <p:spPr>
          <a:xfrm>
            <a:off x="365760" y="3602736"/>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0" name="Text 18"/>
          <p:cNvSpPr/>
          <p:nvPr/>
        </p:nvSpPr>
        <p:spPr>
          <a:xfrm>
            <a:off x="713232" y="3602736"/>
            <a:ext cx="4114800" cy="457200"/>
          </a:xfrm>
          <a:prstGeom prst="rect">
            <a:avLst/>
          </a:prstGeom>
          <a:noFill/>
          <a:ln/>
        </p:spPr>
        <p:txBody>
          <a:bodyPr wrap="square" rtlCol="0" anchor="ctr"/>
          <a:lstStyle/>
          <a:p>
            <a:pPr marL="0" indent="0">
              <a:buNone/>
            </a:pPr>
            <a:r>
              <a:rPr lang="en-US" sz="1050" dirty="0">
                <a:solidFill>
                  <a:srgbClr val="1F3864"/>
                </a:solidFill>
                <a:latin typeface="Calibri" pitchFamily="34" charset="0"/>
                <a:ea typeface="Calibri" pitchFamily="34" charset="-122"/>
                <a:cs typeface="Calibri" pitchFamily="34" charset="-120"/>
              </a:rPr>
              <a:t>Adoption pathway: TPM precedent → ISO/IEC standard → silicon mandate</a:t>
            </a:r>
            <a:endParaRPr lang="en-US" sz="1050" dirty="0"/>
          </a:p>
        </p:txBody>
      </p:sp>
      <p:pic>
        <p:nvPicPr>
          <p:cNvPr id="21" name="Image 0" descr="/home/claude/imgs/deck/image6.png"/>
          <p:cNvPicPr>
            <a:picLocks noChangeAspect="1"/>
          </p:cNvPicPr>
          <p:nvPr/>
        </p:nvPicPr>
        <p:blipFill>
          <a:blip r:embed="rId3"/>
          <a:stretch>
            <a:fillRect/>
          </a:stretch>
        </p:blipFill>
        <p:spPr>
          <a:xfrm>
            <a:off x="6223589" y="502920"/>
            <a:ext cx="2646091" cy="3566160"/>
          </a:xfrm>
          <a:prstGeom prst="rect">
            <a:avLst/>
          </a:prstGeom>
        </p:spPr>
      </p:pic>
      <p:sp>
        <p:nvSpPr>
          <p:cNvPr id="22" name="Text 19"/>
          <p:cNvSpPr/>
          <p:nvPr/>
        </p:nvSpPr>
        <p:spPr>
          <a:xfrm>
            <a:off x="365760" y="4800600"/>
            <a:ext cx="8412480" cy="22860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CERN OHL-S v2 open hardware licence — same institutional role CERN played in the World Wide Web.</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HARDWARE ENFORCEMENT</a:t>
            </a:r>
            <a:endParaRPr lang="en-US" sz="900" dirty="0"/>
          </a:p>
        </p:txBody>
      </p:sp>
      <p:sp>
        <p:nvSpPr>
          <p:cNvPr id="4" name="Text 2"/>
          <p:cNvSpPr/>
          <p:nvPr/>
        </p:nvSpPr>
        <p:spPr>
          <a:xfrm>
            <a:off x="365760" y="548640"/>
            <a:ext cx="8412480" cy="548640"/>
          </a:xfrm>
          <a:prstGeom prst="rect">
            <a:avLst/>
          </a:prstGeom>
          <a:noFill/>
          <a:ln/>
        </p:spPr>
        <p:txBody>
          <a:bodyPr wrap="square" rtlCol="0" anchor="ctr"/>
          <a:lstStyle/>
          <a:p>
            <a:pPr marL="0" indent="0">
              <a:buNone/>
            </a:pPr>
            <a:r>
              <a:rPr lang="en-US" sz="2800" b="1" dirty="0">
                <a:solidFill>
                  <a:srgbClr val="1F3864"/>
                </a:solidFill>
                <a:latin typeface="Verdana" pitchFamily="34" charset="0"/>
                <a:ea typeface="Verdana" pitchFamily="34" charset="-122"/>
                <a:cs typeface="Verdana" pitchFamily="34" charset="-120"/>
              </a:rPr>
              <a:t>TPM Precedent — HACK Architecture</a:t>
            </a:r>
            <a:endParaRPr lang="en-US" sz="2800" dirty="0"/>
          </a:p>
        </p:txBody>
      </p:sp>
      <p:sp>
        <p:nvSpPr>
          <p:cNvPr id="5" name="Shape 3"/>
          <p:cNvSpPr/>
          <p:nvPr/>
        </p:nvSpPr>
        <p:spPr>
          <a:xfrm>
            <a:off x="365760" y="1261872"/>
            <a:ext cx="3931920" cy="365760"/>
          </a:xfrm>
          <a:prstGeom prst="roundRect">
            <a:avLst>
              <a:gd name="adj" fmla="val 15000"/>
            </a:avLst>
          </a:prstGeom>
          <a:solidFill>
            <a:srgbClr val="1F3864"/>
          </a:solidFill>
          <a:ln w="12700">
            <a:solidFill>
              <a:srgbClr val="1F3864"/>
            </a:solidFill>
            <a:prstDash val="solid"/>
          </a:ln>
        </p:spPr>
      </p:sp>
      <p:sp>
        <p:nvSpPr>
          <p:cNvPr id="6" name="Text 4"/>
          <p:cNvSpPr/>
          <p:nvPr/>
        </p:nvSpPr>
        <p:spPr>
          <a:xfrm>
            <a:off x="365760" y="1261872"/>
            <a:ext cx="39319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TPM (today)</a:t>
            </a:r>
            <a:endParaRPr lang="en-US" sz="1300" dirty="0"/>
          </a:p>
        </p:txBody>
      </p:sp>
      <p:sp>
        <p:nvSpPr>
          <p:cNvPr id="7" name="Shape 5"/>
          <p:cNvSpPr/>
          <p:nvPr/>
        </p:nvSpPr>
        <p:spPr>
          <a:xfrm>
            <a:off x="4846320" y="1261872"/>
            <a:ext cx="3931920" cy="365760"/>
          </a:xfrm>
          <a:prstGeom prst="roundRect">
            <a:avLst>
              <a:gd name="adj" fmla="val 15000"/>
            </a:avLst>
          </a:prstGeom>
          <a:solidFill>
            <a:srgbClr val="028090"/>
          </a:solidFill>
          <a:ln w="12700">
            <a:solidFill>
              <a:srgbClr val="028090"/>
            </a:solidFill>
            <a:prstDash val="solid"/>
          </a:ln>
        </p:spPr>
      </p:sp>
      <p:sp>
        <p:nvSpPr>
          <p:cNvPr id="8" name="Text 6"/>
          <p:cNvSpPr/>
          <p:nvPr/>
        </p:nvSpPr>
        <p:spPr>
          <a:xfrm>
            <a:off x="4846320" y="1261872"/>
            <a:ext cx="39319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4" charset="0"/>
                <a:ea typeface="Verdana" pitchFamily="34" charset="-122"/>
                <a:cs typeface="Verdana" pitchFamily="34" charset="-120"/>
              </a:rPr>
              <a:t>HACK equivalent (Judge Protocol)</a:t>
            </a:r>
            <a:endParaRPr lang="en-US" sz="1300" dirty="0"/>
          </a:p>
        </p:txBody>
      </p:sp>
      <p:sp>
        <p:nvSpPr>
          <p:cNvPr id="9" name="Shape 7"/>
          <p:cNvSpPr/>
          <p:nvPr/>
        </p:nvSpPr>
        <p:spPr>
          <a:xfrm>
            <a:off x="4315968" y="1444752"/>
            <a:ext cx="512064" cy="0"/>
          </a:xfrm>
          <a:prstGeom prst="line">
            <a:avLst/>
          </a:prstGeom>
          <a:noFill/>
          <a:ln w="25400">
            <a:solidFill>
              <a:srgbClr val="028090"/>
            </a:solidFill>
            <a:prstDash val="dash"/>
          </a:ln>
        </p:spPr>
      </p:sp>
      <p:sp>
        <p:nvSpPr>
          <p:cNvPr id="10" name="Shape 8"/>
          <p:cNvSpPr/>
          <p:nvPr/>
        </p:nvSpPr>
        <p:spPr>
          <a:xfrm>
            <a:off x="365760" y="1719072"/>
            <a:ext cx="3931920" cy="365760"/>
          </a:xfrm>
          <a:prstGeom prst="roundRect">
            <a:avLst>
              <a:gd name="adj" fmla="val 12500"/>
            </a:avLst>
          </a:prstGeom>
          <a:solidFill>
            <a:srgbClr val="EEF2FF"/>
          </a:solidFill>
          <a:ln w="12700">
            <a:solidFill>
              <a:srgbClr val="E2E8F0"/>
            </a:solidFill>
            <a:prstDash val="solid"/>
          </a:ln>
          <a:effectLst>
            <a:outerShdw blurRad="101600" dist="25400" dir="2700000" algn="bl" rotWithShape="0">
              <a:srgbClr val="000000">
                <a:alpha val="10000"/>
              </a:srgbClr>
            </a:outerShdw>
          </a:effectLst>
        </p:spPr>
      </p:sp>
      <p:sp>
        <p:nvSpPr>
          <p:cNvPr id="11" name="Text 9"/>
          <p:cNvSpPr/>
          <p:nvPr/>
        </p:nvSpPr>
        <p:spPr>
          <a:xfrm>
            <a:off x="457200" y="1755648"/>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Application</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OS, software, services</a:t>
            </a:r>
            <a:endParaRPr lang="en-US" sz="1100" dirty="0"/>
          </a:p>
        </p:txBody>
      </p:sp>
      <p:sp>
        <p:nvSpPr>
          <p:cNvPr id="12" name="Shape 10"/>
          <p:cNvSpPr/>
          <p:nvPr/>
        </p:nvSpPr>
        <p:spPr>
          <a:xfrm>
            <a:off x="4846320" y="1719072"/>
            <a:ext cx="3931920" cy="365760"/>
          </a:xfrm>
          <a:prstGeom prst="roundRect">
            <a:avLst>
              <a:gd name="adj" fmla="val 12500"/>
            </a:avLst>
          </a:prstGeom>
          <a:solidFill>
            <a:srgbClr val="EEF2FF"/>
          </a:solidFill>
          <a:ln w="12700">
            <a:solidFill>
              <a:srgbClr val="E2E8F0"/>
            </a:solidFill>
            <a:prstDash val="solid"/>
          </a:ln>
          <a:effectLst>
            <a:outerShdw blurRad="101600" dist="25400" dir="2700000" algn="bl" rotWithShape="0">
              <a:srgbClr val="000000">
                <a:alpha val="10000"/>
              </a:srgbClr>
            </a:outerShdw>
          </a:effectLst>
        </p:spPr>
      </p:sp>
      <p:sp>
        <p:nvSpPr>
          <p:cNvPr id="13" name="Text 11"/>
          <p:cNvSpPr/>
          <p:nvPr/>
        </p:nvSpPr>
        <p:spPr>
          <a:xfrm>
            <a:off x="4937760" y="1755648"/>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AI system</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Issues ACP-tagged compute instructions</a:t>
            </a:r>
            <a:endParaRPr lang="en-US" sz="1100" dirty="0"/>
          </a:p>
        </p:txBody>
      </p:sp>
      <p:sp>
        <p:nvSpPr>
          <p:cNvPr id="14" name="Shape 12"/>
          <p:cNvSpPr/>
          <p:nvPr/>
        </p:nvSpPr>
        <p:spPr>
          <a:xfrm>
            <a:off x="365760" y="2121408"/>
            <a:ext cx="3931920" cy="365760"/>
          </a:xfrm>
          <a:prstGeom prst="roundRect">
            <a:avLst>
              <a:gd name="adj" fmla="val 12500"/>
            </a:avLst>
          </a:prstGeom>
          <a:solidFill>
            <a:srgbClr val="DBEAFE"/>
          </a:solidFill>
          <a:ln w="12700">
            <a:solidFill>
              <a:srgbClr val="E2E8F0"/>
            </a:solidFill>
            <a:prstDash val="solid"/>
          </a:ln>
          <a:effectLst>
            <a:outerShdw blurRad="101600" dist="25400" dir="2700000" algn="bl" rotWithShape="0">
              <a:srgbClr val="000000">
                <a:alpha val="10000"/>
              </a:srgbClr>
            </a:outerShdw>
          </a:effectLst>
        </p:spPr>
      </p:sp>
      <p:sp>
        <p:nvSpPr>
          <p:cNvPr id="15" name="Text 13"/>
          <p:cNvSpPr/>
          <p:nvPr/>
        </p:nvSpPr>
        <p:spPr>
          <a:xfrm>
            <a:off x="457200" y="2157984"/>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TPM software stack (TSS)</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TCG standard API — TPM2-TSS</a:t>
            </a:r>
            <a:endParaRPr lang="en-US" sz="1100" dirty="0"/>
          </a:p>
        </p:txBody>
      </p:sp>
      <p:sp>
        <p:nvSpPr>
          <p:cNvPr id="16" name="Shape 14"/>
          <p:cNvSpPr/>
          <p:nvPr/>
        </p:nvSpPr>
        <p:spPr>
          <a:xfrm>
            <a:off x="4846320" y="2121408"/>
            <a:ext cx="3931920" cy="365760"/>
          </a:xfrm>
          <a:prstGeom prst="roundRect">
            <a:avLst>
              <a:gd name="adj" fmla="val 12500"/>
            </a:avLst>
          </a:prstGeom>
          <a:solidFill>
            <a:srgbClr val="DBEAFE"/>
          </a:solidFill>
          <a:ln w="12700">
            <a:solidFill>
              <a:srgbClr val="E2E8F0"/>
            </a:solidFill>
            <a:prstDash val="solid"/>
          </a:ln>
          <a:effectLst>
            <a:outerShdw blurRad="101600" dist="25400" dir="2700000" algn="bl" rotWithShape="0">
              <a:srgbClr val="000000">
                <a:alpha val="10000"/>
              </a:srgbClr>
            </a:outerShdw>
          </a:effectLst>
        </p:spPr>
      </p:sp>
      <p:sp>
        <p:nvSpPr>
          <p:cNvPr id="17" name="Text 15"/>
          <p:cNvSpPr/>
          <p:nvPr/>
        </p:nvSpPr>
        <p:spPr>
          <a:xfrm>
            <a:off x="4937760" y="2157984"/>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HACK TSS equivalent</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Open standard API — CERN OHL</a:t>
            </a:r>
            <a:endParaRPr lang="en-US" sz="1100" dirty="0"/>
          </a:p>
        </p:txBody>
      </p:sp>
      <p:sp>
        <p:nvSpPr>
          <p:cNvPr id="18" name="Shape 16"/>
          <p:cNvSpPr/>
          <p:nvPr/>
        </p:nvSpPr>
        <p:spPr>
          <a:xfrm>
            <a:off x="365760" y="2523744"/>
            <a:ext cx="3931920" cy="365760"/>
          </a:xfrm>
          <a:prstGeom prst="roundRect">
            <a:avLst>
              <a:gd name="adj" fmla="val 12500"/>
            </a:avLst>
          </a:prstGeom>
          <a:solidFill>
            <a:srgbClr val="D1FAE5"/>
          </a:solidFill>
          <a:ln w="12700">
            <a:solidFill>
              <a:srgbClr val="E2E8F0"/>
            </a:solidFill>
            <a:prstDash val="solid"/>
          </a:ln>
          <a:effectLst>
            <a:outerShdw blurRad="101600" dist="25400" dir="2700000" algn="bl" rotWithShape="0">
              <a:srgbClr val="000000">
                <a:alpha val="10000"/>
              </a:srgbClr>
            </a:outerShdw>
          </a:effectLst>
        </p:spPr>
      </p:sp>
      <p:sp>
        <p:nvSpPr>
          <p:cNvPr id="19" name="Text 17"/>
          <p:cNvSpPr/>
          <p:nvPr/>
        </p:nvSpPr>
        <p:spPr>
          <a:xfrm>
            <a:off x="457200" y="2560320"/>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LPC / SPI bus interface</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Physical connection to motherboard</a:t>
            </a:r>
            <a:endParaRPr lang="en-US" sz="1100" dirty="0"/>
          </a:p>
        </p:txBody>
      </p:sp>
      <p:sp>
        <p:nvSpPr>
          <p:cNvPr id="20" name="Shape 18"/>
          <p:cNvSpPr/>
          <p:nvPr/>
        </p:nvSpPr>
        <p:spPr>
          <a:xfrm>
            <a:off x="4846320" y="2523744"/>
            <a:ext cx="3931920" cy="365760"/>
          </a:xfrm>
          <a:prstGeom prst="roundRect">
            <a:avLst>
              <a:gd name="adj" fmla="val 12500"/>
            </a:avLst>
          </a:prstGeom>
          <a:solidFill>
            <a:srgbClr val="D1FAE5"/>
          </a:solidFill>
          <a:ln w="12700">
            <a:solidFill>
              <a:srgbClr val="E2E8F0"/>
            </a:solidFill>
            <a:prstDash val="solid"/>
          </a:ln>
          <a:effectLst>
            <a:outerShdw blurRad="101600" dist="25400" dir="2700000" algn="bl" rotWithShape="0">
              <a:srgbClr val="000000">
                <a:alpha val="10000"/>
              </a:srgbClr>
            </a:outerShdw>
          </a:effectLst>
        </p:spPr>
      </p:sp>
      <p:sp>
        <p:nvSpPr>
          <p:cNvPr id="21" name="Text 19"/>
          <p:cNvSpPr/>
          <p:nvPr/>
        </p:nvSpPr>
        <p:spPr>
          <a:xfrm>
            <a:off x="4937760" y="2560320"/>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PCIe bus (PMO)</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Inline between CPU and GPU</a:t>
            </a:r>
            <a:endParaRPr lang="en-US" sz="1100" dirty="0"/>
          </a:p>
        </p:txBody>
      </p:sp>
      <p:sp>
        <p:nvSpPr>
          <p:cNvPr id="22" name="Shape 20"/>
          <p:cNvSpPr/>
          <p:nvPr/>
        </p:nvSpPr>
        <p:spPr>
          <a:xfrm>
            <a:off x="365760" y="2926080"/>
            <a:ext cx="3931920" cy="365760"/>
          </a:xfrm>
          <a:prstGeom prst="roundRect">
            <a:avLst>
              <a:gd name="adj" fmla="val 12500"/>
            </a:avLst>
          </a:prstGeom>
          <a:solidFill>
            <a:srgbClr val="FEF3C7"/>
          </a:solidFill>
          <a:ln w="12700">
            <a:solidFill>
              <a:srgbClr val="E2E8F0"/>
            </a:solidFill>
            <a:prstDash val="solid"/>
          </a:ln>
          <a:effectLst>
            <a:outerShdw blurRad="101600" dist="25400" dir="2700000" algn="bl" rotWithShape="0">
              <a:srgbClr val="000000">
                <a:alpha val="10000"/>
              </a:srgbClr>
            </a:outerShdw>
          </a:effectLst>
        </p:spPr>
      </p:sp>
      <p:sp>
        <p:nvSpPr>
          <p:cNvPr id="23" name="Text 21"/>
          <p:cNvSpPr/>
          <p:nvPr/>
        </p:nvSpPr>
        <p:spPr>
          <a:xfrm>
            <a:off x="457200" y="2962656"/>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TPM chip</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Crypto engine · key storage · PCR · boot</a:t>
            </a:r>
            <a:endParaRPr lang="en-US" sz="1100" dirty="0"/>
          </a:p>
        </p:txBody>
      </p:sp>
      <p:sp>
        <p:nvSpPr>
          <p:cNvPr id="24" name="Shape 22"/>
          <p:cNvSpPr/>
          <p:nvPr/>
        </p:nvSpPr>
        <p:spPr>
          <a:xfrm>
            <a:off x="4846320" y="2926080"/>
            <a:ext cx="3931920" cy="365760"/>
          </a:xfrm>
          <a:prstGeom prst="roundRect">
            <a:avLst>
              <a:gd name="adj" fmla="val 12500"/>
            </a:avLst>
          </a:prstGeom>
          <a:solidFill>
            <a:srgbClr val="FEF3C7"/>
          </a:solidFill>
          <a:ln w="12700">
            <a:solidFill>
              <a:srgbClr val="E2E8F0"/>
            </a:solidFill>
            <a:prstDash val="solid"/>
          </a:ln>
          <a:effectLst>
            <a:outerShdw blurRad="101600" dist="25400" dir="2700000" algn="bl" rotWithShape="0">
              <a:srgbClr val="000000">
                <a:alpha val="10000"/>
              </a:srgbClr>
            </a:outerShdw>
          </a:effectLst>
        </p:spPr>
      </p:sp>
      <p:sp>
        <p:nvSpPr>
          <p:cNvPr id="25" name="Text 23"/>
          <p:cNvSpPr/>
          <p:nvPr/>
        </p:nvSpPr>
        <p:spPr>
          <a:xfrm>
            <a:off x="4937760" y="2962656"/>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HACK module + COE</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ACP parser · classification · gate · OpenTitan</a:t>
            </a:r>
            <a:endParaRPr lang="en-US" sz="1100" dirty="0"/>
          </a:p>
        </p:txBody>
      </p:sp>
      <p:sp>
        <p:nvSpPr>
          <p:cNvPr id="26" name="Shape 24"/>
          <p:cNvSpPr/>
          <p:nvPr/>
        </p:nvSpPr>
        <p:spPr>
          <a:xfrm>
            <a:off x="365760" y="3328416"/>
            <a:ext cx="3931920" cy="365760"/>
          </a:xfrm>
          <a:prstGeom prst="roundRect">
            <a:avLst>
              <a:gd name="adj" fmla="val 12500"/>
            </a:avLst>
          </a:prstGeom>
          <a:solidFill>
            <a:srgbClr val="FCE7F3"/>
          </a:solidFill>
          <a:ln w="12700">
            <a:solidFill>
              <a:srgbClr val="E2E8F0"/>
            </a:solidFill>
            <a:prstDash val="solid"/>
          </a:ln>
          <a:effectLst>
            <a:outerShdw blurRad="101600" dist="25400" dir="2700000" algn="bl" rotWithShape="0">
              <a:srgbClr val="000000">
                <a:alpha val="10000"/>
              </a:srgbClr>
            </a:outerShdw>
          </a:effectLst>
        </p:spPr>
      </p:sp>
      <p:sp>
        <p:nvSpPr>
          <p:cNvPr id="27" name="Text 25"/>
          <p:cNvSpPr/>
          <p:nvPr/>
        </p:nvSpPr>
        <p:spPr>
          <a:xfrm>
            <a:off x="457200" y="3364992"/>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Endorsement key (EK)</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Fused at manufacture — never extractable</a:t>
            </a:r>
            <a:endParaRPr lang="en-US" sz="1100" dirty="0"/>
          </a:p>
        </p:txBody>
      </p:sp>
      <p:sp>
        <p:nvSpPr>
          <p:cNvPr id="28" name="Shape 26"/>
          <p:cNvSpPr/>
          <p:nvPr/>
        </p:nvSpPr>
        <p:spPr>
          <a:xfrm>
            <a:off x="4846320" y="3328416"/>
            <a:ext cx="3931920" cy="365760"/>
          </a:xfrm>
          <a:prstGeom prst="roundRect">
            <a:avLst>
              <a:gd name="adj" fmla="val 12500"/>
            </a:avLst>
          </a:prstGeom>
          <a:solidFill>
            <a:srgbClr val="FCE7F3"/>
          </a:solidFill>
          <a:ln w="12700">
            <a:solidFill>
              <a:srgbClr val="E2E8F0"/>
            </a:solidFill>
            <a:prstDash val="solid"/>
          </a:ln>
          <a:effectLst>
            <a:outerShdw blurRad="101600" dist="25400" dir="2700000" algn="bl" rotWithShape="0">
              <a:srgbClr val="000000">
                <a:alpha val="10000"/>
              </a:srgbClr>
            </a:outerShdw>
          </a:effectLst>
        </p:spPr>
      </p:sp>
      <p:sp>
        <p:nvSpPr>
          <p:cNvPr id="29" name="Text 27"/>
          <p:cNvSpPr/>
          <p:nvPr/>
        </p:nvSpPr>
        <p:spPr>
          <a:xfrm>
            <a:off x="4937760" y="3364992"/>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Endorsement key (EK)</a:t>
            </a:r>
            <a:endParaRPr lang="en-US" sz="1100" dirty="0"/>
          </a:p>
          <a:p>
            <a:pPr marL="0" indent="0">
              <a:buNone/>
            </a:pPr>
            <a:r>
              <a:rPr lang="en-US" sz="900" dirty="0">
                <a:solidFill>
                  <a:srgbClr val="64748B"/>
                </a:solidFill>
                <a:latin typeface="Calibri" pitchFamily="34" charset="0"/>
                <a:ea typeface="Calibri" pitchFamily="34" charset="-122"/>
                <a:cs typeface="Calibri" pitchFamily="34" charset="-120"/>
              </a:rPr>
              <a:t>Fused at manufacture — FIPS 140-3</a:t>
            </a:r>
            <a:endParaRPr lang="en-US" sz="1100" dirty="0"/>
          </a:p>
        </p:txBody>
      </p:sp>
      <p:sp>
        <p:nvSpPr>
          <p:cNvPr id="30" name="Shape 28"/>
          <p:cNvSpPr/>
          <p:nvPr/>
        </p:nvSpPr>
        <p:spPr>
          <a:xfrm>
            <a:off x="365760" y="3730752"/>
            <a:ext cx="3931920" cy="365760"/>
          </a:xfrm>
          <a:prstGeom prst="roundRect">
            <a:avLst>
              <a:gd name="adj" fmla="val 12500"/>
            </a:avLst>
          </a:prstGeom>
          <a:solidFill>
            <a:srgbClr val="FEE2E2"/>
          </a:solidFill>
          <a:ln w="12700">
            <a:solidFill>
              <a:srgbClr val="E2E8F0"/>
            </a:solidFill>
            <a:prstDash val="solid"/>
          </a:ln>
          <a:effectLst>
            <a:outerShdw blurRad="101600" dist="25400" dir="2700000" algn="bl" rotWithShape="0">
              <a:srgbClr val="000000">
                <a:alpha val="10000"/>
              </a:srgbClr>
            </a:outerShdw>
          </a:effectLst>
        </p:spPr>
      </p:sp>
      <p:sp>
        <p:nvSpPr>
          <p:cNvPr id="31" name="Text 29"/>
          <p:cNvSpPr/>
          <p:nvPr/>
        </p:nvSpPr>
        <p:spPr>
          <a:xfrm>
            <a:off x="457200" y="3767328"/>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Silicon root of trust</a:t>
            </a:r>
            <a:endParaRPr lang="en-US" sz="1100" dirty="0"/>
          </a:p>
        </p:txBody>
      </p:sp>
      <p:sp>
        <p:nvSpPr>
          <p:cNvPr id="32" name="Shape 30"/>
          <p:cNvSpPr/>
          <p:nvPr/>
        </p:nvSpPr>
        <p:spPr>
          <a:xfrm>
            <a:off x="4846320" y="3730752"/>
            <a:ext cx="3931920" cy="365760"/>
          </a:xfrm>
          <a:prstGeom prst="roundRect">
            <a:avLst>
              <a:gd name="adj" fmla="val 12500"/>
            </a:avLst>
          </a:prstGeom>
          <a:solidFill>
            <a:srgbClr val="FEE2E2"/>
          </a:solidFill>
          <a:ln w="12700">
            <a:solidFill>
              <a:srgbClr val="E2E8F0"/>
            </a:solidFill>
            <a:prstDash val="solid"/>
          </a:ln>
          <a:effectLst>
            <a:outerShdw blurRad="101600" dist="25400" dir="2700000" algn="bl" rotWithShape="0">
              <a:srgbClr val="000000">
                <a:alpha val="10000"/>
              </a:srgbClr>
            </a:outerShdw>
          </a:effectLst>
        </p:spPr>
      </p:sp>
      <p:sp>
        <p:nvSpPr>
          <p:cNvPr id="33" name="Text 31"/>
          <p:cNvSpPr/>
          <p:nvPr/>
        </p:nvSpPr>
        <p:spPr>
          <a:xfrm>
            <a:off x="4937760" y="3767328"/>
            <a:ext cx="3749040" cy="310896"/>
          </a:xfrm>
          <a:prstGeom prst="rect">
            <a:avLst/>
          </a:prstGeom>
          <a:noFill/>
          <a:ln/>
        </p:spPr>
        <p:txBody>
          <a:bodyPr wrap="square" rtlCol="0" anchor="ctr"/>
          <a:lstStyle/>
          <a:p>
            <a:pPr marL="0" indent="0">
              <a:buNone/>
            </a:pPr>
            <a:r>
              <a:rPr lang="en-US" sz="1100" b="1" dirty="0">
                <a:solidFill>
                  <a:srgbClr val="1F3864"/>
                </a:solidFill>
                <a:latin typeface="Calibri" pitchFamily="34" charset="0"/>
                <a:ea typeface="Calibri" pitchFamily="34" charset="-122"/>
                <a:cs typeface="Calibri" pitchFamily="34" charset="-120"/>
              </a:rPr>
              <a:t>RISC-V silicon root of trust</a:t>
            </a:r>
            <a:endParaRPr lang="en-US" sz="1100" dirty="0"/>
          </a:p>
        </p:txBody>
      </p:sp>
      <p:sp>
        <p:nvSpPr>
          <p:cNvPr id="34" name="Text 32"/>
          <p:cNvSpPr/>
          <p:nvPr/>
        </p:nvSpPr>
        <p:spPr>
          <a:xfrm>
            <a:off x="365760" y="4773168"/>
            <a:ext cx="8412480" cy="22860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TPM enforces boot-time security · HACK enforces runtime AI governance · Same silicon trust model, different domain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15625"/>
            </a:avLst>
          </a:prstGeom>
          <a:solidFill>
            <a:srgbClr val="028090"/>
          </a:solidFill>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GOVERNANCE ARCHITECTURE</a:t>
            </a:r>
            <a:endParaRPr lang="en-US" sz="900" dirty="0"/>
          </a:p>
        </p:txBody>
      </p:sp>
      <p:sp>
        <p:nvSpPr>
          <p:cNvPr id="4" name="Text 2"/>
          <p:cNvSpPr/>
          <p:nvPr/>
        </p:nvSpPr>
        <p:spPr>
          <a:xfrm>
            <a:off x="365760" y="548640"/>
            <a:ext cx="8412480" cy="475488"/>
          </a:xfrm>
          <a:prstGeom prst="rect">
            <a:avLst/>
          </a:prstGeom>
          <a:noFill/>
          <a:ln/>
        </p:spPr>
        <p:txBody>
          <a:bodyPr wrap="square" rtlCol="0" anchor="ctr"/>
          <a:lstStyle/>
          <a:p>
            <a:pPr marL="0" indent="0">
              <a:buNone/>
            </a:pPr>
            <a:r>
              <a:rPr lang="en-US" sz="2800" b="1" dirty="0">
                <a:solidFill>
                  <a:srgbClr val="1F3864"/>
                </a:solidFill>
                <a:latin typeface="Verdana" pitchFamily="32" charset="0"/>
                <a:ea typeface="Verdana" pitchFamily="32" charset="-122"/>
                <a:cs typeface="Verdana" pitchFamily="32" charset="-120"/>
              </a:rPr>
              <a:t>Three Layers: Silicon → National → Global</a:t>
            </a:r>
            <a:endParaRPr lang="en-US" sz="2800" dirty="0"/>
          </a:p>
        </p:txBody>
      </p:sp>
      <p:sp>
        <p:nvSpPr>
          <p:cNvPr id="5" name="Text 3"/>
          <p:cNvSpPr/>
          <p:nvPr/>
        </p:nvSpPr>
        <p:spPr>
          <a:xfrm>
            <a:off x="365760" y="1024128"/>
            <a:ext cx="841248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Enforceable without being centralized. Universal without requiring any state to surrender sovereignty.</a:t>
            </a:r>
            <a:endParaRPr lang="en-US" sz="1100" dirty="0"/>
          </a:p>
        </p:txBody>
      </p:sp>
      <p:pic>
        <p:nvPicPr>
          <p:cNvPr id="6" name="Image 0" descr="/home/claude/imgs/deck/image4.png"/>
          <p:cNvPicPr>
            <a:picLocks noChangeAspect="1"/>
          </p:cNvPicPr>
          <p:nvPr/>
        </p:nvPicPr>
        <p:blipFill>
          <a:blip r:embed="rId3"/>
          <a:stretch>
            <a:fillRect/>
          </a:stretch>
        </p:blipFill>
        <p:spPr>
          <a:xfrm>
            <a:off x="3115155" y="1417320"/>
            <a:ext cx="2913690" cy="3337560"/>
          </a:xfrm>
          <a:prstGeom prst="rect">
            <a:avLst/>
          </a:prstGeom>
        </p:spPr>
      </p:pic>
      <p:sp>
        <p:nvSpPr>
          <p:cNvPr id="7" name="Text 4"/>
          <p:cNvSpPr/>
          <p:nvPr/>
        </p:nvSpPr>
        <p:spPr>
          <a:xfrm>
            <a:off x="365760" y="4846320"/>
            <a:ext cx="8412480" cy="228600"/>
          </a:xfrm>
          <a:prstGeom prst="rect">
            <a:avLst/>
          </a:prstGeom>
          <a:noFill/>
          <a:ln/>
        </p:spPr>
        <p:txBody>
          <a:bodyPr wrap="square"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Figure 3 — Every AI action: silicon → national authority → global governance. Human authorized at Layer 2. Data flows upward only — never laterally between nations.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15625"/>
            </a:avLst>
          </a:prstGeom>
          <a:solidFill>
            <a:srgbClr val="028090"/>
          </a:solidFill>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GOVERNANCE ARCHITECTURE</a:t>
            </a:r>
            <a:endParaRPr lang="en-US" sz="900" dirty="0"/>
          </a:p>
        </p:txBody>
      </p:sp>
      <p:sp>
        <p:nvSpPr>
          <p:cNvPr id="4" name="Text 2"/>
          <p:cNvSpPr/>
          <p:nvPr/>
        </p:nvSpPr>
        <p:spPr>
          <a:xfrm>
            <a:off x="365760" y="548640"/>
            <a:ext cx="8412480" cy="475488"/>
          </a:xfrm>
          <a:prstGeom prst="rect">
            <a:avLst/>
          </a:prstGeom>
          <a:noFill/>
          <a:ln/>
        </p:spPr>
        <p:txBody>
          <a:bodyPr wrap="square" rtlCol="0" anchor="ctr"/>
          <a:lstStyle/>
          <a:p>
            <a:pPr marL="0" indent="0">
              <a:buNone/>
            </a:pPr>
            <a:r>
              <a:rPr lang="en-US" sz="2800" b="1" dirty="0">
                <a:solidFill>
                  <a:srgbClr val="1F3864"/>
                </a:solidFill>
                <a:latin typeface="Verdana" pitchFamily="32" charset="0"/>
                <a:ea typeface="Verdana" pitchFamily="32" charset="-122"/>
                <a:cs typeface="Verdana" pitchFamily="32" charset="-120"/>
              </a:rPr>
              <a:t>NAIA and IAIA — The Institutional Model</a:t>
            </a:r>
            <a:endParaRPr lang="en-US" sz="2800" dirty="0"/>
          </a:p>
        </p:txBody>
      </p:sp>
      <p:sp>
        <p:nvSpPr>
          <p:cNvPr id="5" name="Shape 3"/>
          <p:cNvSpPr/>
          <p:nvPr/>
        </p:nvSpPr>
        <p:spPr>
          <a:xfrm>
            <a:off x="365760" y="1188720"/>
            <a:ext cx="4023360" cy="3566160"/>
          </a:xfrm>
          <a:prstGeom prst="roundRect">
            <a:avLst>
              <a:gd name="adj" fmla="val 2564"/>
            </a:avLst>
          </a:prstGeom>
          <a:solidFill>
            <a:srgbClr val="FFFFFF"/>
          </a:solidFill>
          <a:ln/>
          <a:effectLst>
            <a:outerShdw blurRad="101600" dist="38100" dir="2700000" algn="bl" rotWithShape="0">
              <a:srgbClr val="000000">
                <a:alpha val="13000"/>
              </a:srgbClr>
            </a:outerShdw>
          </a:effectLst>
        </p:spPr>
      </p:sp>
      <p:sp>
        <p:nvSpPr>
          <p:cNvPr id="6" name="Shape 4"/>
          <p:cNvSpPr/>
          <p:nvPr/>
        </p:nvSpPr>
        <p:spPr>
          <a:xfrm>
            <a:off x="365760" y="1188720"/>
            <a:ext cx="4023360" cy="438912"/>
          </a:xfrm>
          <a:prstGeom prst="roundRect">
            <a:avLst>
              <a:gd name="adj" fmla="val 20833"/>
            </a:avLst>
          </a:prstGeom>
          <a:solidFill>
            <a:srgbClr val="1F3864"/>
          </a:solidFill>
          <a:ln/>
        </p:spPr>
      </p:sp>
      <p:sp>
        <p:nvSpPr>
          <p:cNvPr id="7" name="Text 5"/>
          <p:cNvSpPr/>
          <p:nvPr/>
        </p:nvSpPr>
        <p:spPr>
          <a:xfrm>
            <a:off x="365760" y="1188720"/>
            <a:ext cx="4023360"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2" charset="0"/>
                <a:ea typeface="Verdana" pitchFamily="32" charset="-122"/>
                <a:cs typeface="Verdana" pitchFamily="32" charset="-120"/>
              </a:rPr>
              <a:t>National AI Authority (NAIA)</a:t>
            </a:r>
            <a:endParaRPr lang="en-US" sz="1300" dirty="0"/>
          </a:p>
        </p:txBody>
      </p:sp>
      <p:sp>
        <p:nvSpPr>
          <p:cNvPr id="8" name="Shape 6"/>
          <p:cNvSpPr/>
          <p:nvPr/>
        </p:nvSpPr>
        <p:spPr>
          <a:xfrm>
            <a:off x="594360" y="1783080"/>
            <a:ext cx="109728" cy="109728"/>
          </a:xfrm>
          <a:prstGeom prst="rect">
            <a:avLst/>
          </a:prstGeom>
          <a:solidFill>
            <a:srgbClr val="028090"/>
          </a:solidFill>
          <a:ln w="12700">
            <a:solidFill>
              <a:srgbClr val="028090"/>
            </a:solidFill>
            <a:prstDash val="solid"/>
          </a:ln>
        </p:spPr>
      </p:sp>
      <p:sp>
        <p:nvSpPr>
          <p:cNvPr id="9" name="Text 7"/>
          <p:cNvSpPr/>
          <p:nvPr/>
        </p:nvSpPr>
        <p:spPr>
          <a:xfrm>
            <a:off x="804672" y="1737360"/>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Ministerial-level Representative Lead</a:t>
            </a:r>
            <a:endParaRPr lang="en-US" sz="1050" dirty="0"/>
          </a:p>
        </p:txBody>
      </p:sp>
      <p:sp>
        <p:nvSpPr>
          <p:cNvPr id="10" name="Shape 8"/>
          <p:cNvSpPr/>
          <p:nvPr/>
        </p:nvSpPr>
        <p:spPr>
          <a:xfrm>
            <a:off x="594360" y="2258568"/>
            <a:ext cx="109728" cy="109728"/>
          </a:xfrm>
          <a:prstGeom prst="rect">
            <a:avLst/>
          </a:prstGeom>
          <a:solidFill>
            <a:srgbClr val="028090"/>
          </a:solidFill>
          <a:ln w="12700">
            <a:solidFill>
              <a:srgbClr val="028090"/>
            </a:solidFill>
            <a:prstDash val="solid"/>
          </a:ln>
        </p:spPr>
      </p:sp>
      <p:sp>
        <p:nvSpPr>
          <p:cNvPr id="11" name="Text 9"/>
          <p:cNvSpPr/>
          <p:nvPr/>
        </p:nvSpPr>
        <p:spPr>
          <a:xfrm>
            <a:off x="804672" y="2212848"/>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Maintains national AI systems registry</a:t>
            </a:r>
            <a:endParaRPr lang="en-US" sz="1050" dirty="0"/>
          </a:p>
        </p:txBody>
      </p:sp>
      <p:sp>
        <p:nvSpPr>
          <p:cNvPr id="12" name="Shape 10"/>
          <p:cNvSpPr/>
          <p:nvPr/>
        </p:nvSpPr>
        <p:spPr>
          <a:xfrm>
            <a:off x="594360" y="2734056"/>
            <a:ext cx="109728" cy="109728"/>
          </a:xfrm>
          <a:prstGeom prst="rect">
            <a:avLst/>
          </a:prstGeom>
          <a:solidFill>
            <a:srgbClr val="028090"/>
          </a:solidFill>
          <a:ln w="12700">
            <a:solidFill>
              <a:srgbClr val="028090"/>
            </a:solidFill>
            <a:prstDash val="solid"/>
          </a:ln>
        </p:spPr>
      </p:sp>
      <p:sp>
        <p:nvSpPr>
          <p:cNvPr id="13" name="Text 11"/>
          <p:cNvSpPr/>
          <p:nvPr/>
        </p:nvSpPr>
        <p:spPr>
          <a:xfrm>
            <a:off x="804672" y="2688336"/>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Audits Decision Gate compliance</a:t>
            </a:r>
            <a:endParaRPr lang="en-US" sz="1050" dirty="0"/>
          </a:p>
        </p:txBody>
      </p:sp>
      <p:sp>
        <p:nvSpPr>
          <p:cNvPr id="14" name="Shape 12"/>
          <p:cNvSpPr/>
          <p:nvPr/>
        </p:nvSpPr>
        <p:spPr>
          <a:xfrm>
            <a:off x="594360" y="3209544"/>
            <a:ext cx="109728" cy="109728"/>
          </a:xfrm>
          <a:prstGeom prst="rect">
            <a:avLst/>
          </a:prstGeom>
          <a:solidFill>
            <a:srgbClr val="028090"/>
          </a:solidFill>
          <a:ln w="12700">
            <a:solidFill>
              <a:srgbClr val="028090"/>
            </a:solidFill>
            <a:prstDash val="solid"/>
          </a:ln>
        </p:spPr>
      </p:sp>
      <p:sp>
        <p:nvSpPr>
          <p:cNvPr id="15" name="Text 13"/>
          <p:cNvSpPr/>
          <p:nvPr/>
        </p:nvSpPr>
        <p:spPr>
          <a:xfrm>
            <a:off x="804672" y="3163824"/>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Manages AI incidents and enforcement</a:t>
            </a:r>
            <a:endParaRPr lang="en-US" sz="1050" dirty="0"/>
          </a:p>
        </p:txBody>
      </p:sp>
      <p:sp>
        <p:nvSpPr>
          <p:cNvPr id="16" name="Shape 14"/>
          <p:cNvSpPr/>
          <p:nvPr/>
        </p:nvSpPr>
        <p:spPr>
          <a:xfrm>
            <a:off x="594360" y="3685032"/>
            <a:ext cx="109728" cy="109728"/>
          </a:xfrm>
          <a:prstGeom prst="rect">
            <a:avLst/>
          </a:prstGeom>
          <a:solidFill>
            <a:srgbClr val="028090"/>
          </a:solidFill>
          <a:ln w="12700">
            <a:solidFill>
              <a:srgbClr val="028090"/>
            </a:solidFill>
            <a:prstDash val="solid"/>
          </a:ln>
        </p:spPr>
      </p:sp>
      <p:sp>
        <p:nvSpPr>
          <p:cNvPr id="17" name="Text 15"/>
          <p:cNvSpPr/>
          <p:nvPr/>
        </p:nvSpPr>
        <p:spPr>
          <a:xfrm>
            <a:off x="804672" y="3639312"/>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Reports compliance metadata to IAIA</a:t>
            </a:r>
            <a:endParaRPr lang="en-US" sz="1050" dirty="0"/>
          </a:p>
        </p:txBody>
      </p:sp>
      <p:sp>
        <p:nvSpPr>
          <p:cNvPr id="18" name="Shape 16"/>
          <p:cNvSpPr/>
          <p:nvPr/>
        </p:nvSpPr>
        <p:spPr>
          <a:xfrm>
            <a:off x="594360" y="4160520"/>
            <a:ext cx="109728" cy="109728"/>
          </a:xfrm>
          <a:prstGeom prst="rect">
            <a:avLst/>
          </a:prstGeom>
          <a:solidFill>
            <a:srgbClr val="028090"/>
          </a:solidFill>
          <a:ln w="12700">
            <a:solidFill>
              <a:srgbClr val="028090"/>
            </a:solidFill>
            <a:prstDash val="solid"/>
          </a:ln>
        </p:spPr>
      </p:sp>
      <p:sp>
        <p:nvSpPr>
          <p:cNvPr id="19" name="Text 17"/>
          <p:cNvSpPr/>
          <p:nvPr/>
        </p:nvSpPr>
        <p:spPr>
          <a:xfrm>
            <a:off x="804672" y="4114800"/>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National data remains under national jurisdiction at all times</a:t>
            </a:r>
            <a:endParaRPr lang="en-US" sz="1050" dirty="0"/>
          </a:p>
        </p:txBody>
      </p:sp>
      <p:sp>
        <p:nvSpPr>
          <p:cNvPr id="20" name="Shape 18"/>
          <p:cNvSpPr/>
          <p:nvPr/>
        </p:nvSpPr>
        <p:spPr>
          <a:xfrm>
            <a:off x="4754880" y="1188720"/>
            <a:ext cx="4023360" cy="3566160"/>
          </a:xfrm>
          <a:prstGeom prst="roundRect">
            <a:avLst>
              <a:gd name="adj" fmla="val 2564"/>
            </a:avLst>
          </a:prstGeom>
          <a:solidFill>
            <a:srgbClr val="FFFFFF"/>
          </a:solidFill>
          <a:ln/>
          <a:effectLst>
            <a:outerShdw blurRad="101600" dist="38100" dir="2700000" algn="bl" rotWithShape="0">
              <a:srgbClr val="000000">
                <a:alpha val="13000"/>
              </a:srgbClr>
            </a:outerShdw>
          </a:effectLst>
        </p:spPr>
      </p:sp>
      <p:sp>
        <p:nvSpPr>
          <p:cNvPr id="21" name="Shape 19"/>
          <p:cNvSpPr/>
          <p:nvPr/>
        </p:nvSpPr>
        <p:spPr>
          <a:xfrm>
            <a:off x="4754880" y="1188720"/>
            <a:ext cx="4023360" cy="438912"/>
          </a:xfrm>
          <a:prstGeom prst="roundRect">
            <a:avLst>
              <a:gd name="adj" fmla="val 20833"/>
            </a:avLst>
          </a:prstGeom>
          <a:solidFill>
            <a:srgbClr val="028090"/>
          </a:solidFill>
          <a:ln/>
        </p:spPr>
      </p:sp>
      <p:sp>
        <p:nvSpPr>
          <p:cNvPr id="22" name="Text 20"/>
          <p:cNvSpPr/>
          <p:nvPr/>
        </p:nvSpPr>
        <p:spPr>
          <a:xfrm>
            <a:off x="4754880" y="1188720"/>
            <a:ext cx="4023360"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Verdana" pitchFamily="32" charset="0"/>
                <a:ea typeface="Verdana" pitchFamily="32" charset="-122"/>
                <a:cs typeface="Verdana" pitchFamily="32" charset="-120"/>
              </a:rPr>
              <a:t>International AI Agency (IAIA)</a:t>
            </a:r>
            <a:endParaRPr lang="en-US" sz="1300" dirty="0"/>
          </a:p>
        </p:txBody>
      </p:sp>
      <p:sp>
        <p:nvSpPr>
          <p:cNvPr id="23" name="Shape 21"/>
          <p:cNvSpPr/>
          <p:nvPr/>
        </p:nvSpPr>
        <p:spPr>
          <a:xfrm>
            <a:off x="4983480" y="1783080"/>
            <a:ext cx="109728" cy="109728"/>
          </a:xfrm>
          <a:prstGeom prst="rect">
            <a:avLst/>
          </a:prstGeom>
          <a:solidFill>
            <a:srgbClr val="1F3864"/>
          </a:solidFill>
          <a:ln w="12700">
            <a:solidFill>
              <a:srgbClr val="1F3864"/>
            </a:solidFill>
            <a:prstDash val="solid"/>
          </a:ln>
        </p:spPr>
      </p:sp>
      <p:sp>
        <p:nvSpPr>
          <p:cNvPr id="24" name="Text 22"/>
          <p:cNvSpPr/>
          <p:nvPr/>
        </p:nvSpPr>
        <p:spPr>
          <a:xfrm>
            <a:off x="5193792" y="1737360"/>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UN specialized agency — modelled on IAEA</a:t>
            </a:r>
            <a:endParaRPr lang="en-US" sz="1050" dirty="0"/>
          </a:p>
        </p:txBody>
      </p:sp>
      <p:sp>
        <p:nvSpPr>
          <p:cNvPr id="25" name="Shape 23"/>
          <p:cNvSpPr/>
          <p:nvPr/>
        </p:nvSpPr>
        <p:spPr>
          <a:xfrm>
            <a:off x="4983480" y="2258568"/>
            <a:ext cx="109728" cy="109728"/>
          </a:xfrm>
          <a:prstGeom prst="rect">
            <a:avLst/>
          </a:prstGeom>
          <a:solidFill>
            <a:srgbClr val="1F3864"/>
          </a:solidFill>
          <a:ln w="12700">
            <a:solidFill>
              <a:srgbClr val="1F3864"/>
            </a:solidFill>
            <a:prstDash val="solid"/>
          </a:ln>
        </p:spPr>
      </p:sp>
      <p:sp>
        <p:nvSpPr>
          <p:cNvPr id="26" name="Text 24"/>
          <p:cNvSpPr/>
          <p:nvPr/>
        </p:nvSpPr>
        <p:spPr>
          <a:xfrm>
            <a:off x="5193792" y="2212848"/>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Equal voting rights — no permanent-member veto</a:t>
            </a:r>
            <a:endParaRPr lang="en-US" sz="1050" dirty="0"/>
          </a:p>
        </p:txBody>
      </p:sp>
      <p:sp>
        <p:nvSpPr>
          <p:cNvPr id="27" name="Shape 25"/>
          <p:cNvSpPr/>
          <p:nvPr/>
        </p:nvSpPr>
        <p:spPr>
          <a:xfrm>
            <a:off x="4983480" y="2734056"/>
            <a:ext cx="109728" cy="109728"/>
          </a:xfrm>
          <a:prstGeom prst="rect">
            <a:avLst/>
          </a:prstGeom>
          <a:solidFill>
            <a:srgbClr val="1F3864"/>
          </a:solidFill>
          <a:ln w="12700">
            <a:solidFill>
              <a:srgbClr val="1F3864"/>
            </a:solidFill>
            <a:prstDash val="solid"/>
          </a:ln>
        </p:spPr>
      </p:sp>
      <p:sp>
        <p:nvSpPr>
          <p:cNvPr id="28" name="Text 26"/>
          <p:cNvSpPr/>
          <p:nvPr/>
        </p:nvSpPr>
        <p:spPr>
          <a:xfrm>
            <a:off x="5193792" y="2688336"/>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Operates the Global AI Registry</a:t>
            </a:r>
            <a:endParaRPr lang="en-US" sz="1050" dirty="0"/>
          </a:p>
        </p:txBody>
      </p:sp>
      <p:sp>
        <p:nvSpPr>
          <p:cNvPr id="29" name="Shape 27"/>
          <p:cNvSpPr/>
          <p:nvPr/>
        </p:nvSpPr>
        <p:spPr>
          <a:xfrm>
            <a:off x="4983480" y="3209544"/>
            <a:ext cx="109728" cy="109728"/>
          </a:xfrm>
          <a:prstGeom prst="rect">
            <a:avLst/>
          </a:prstGeom>
          <a:solidFill>
            <a:srgbClr val="1F3864"/>
          </a:solidFill>
          <a:ln w="12700">
            <a:solidFill>
              <a:srgbClr val="1F3864"/>
            </a:solidFill>
            <a:prstDash val="solid"/>
          </a:ln>
        </p:spPr>
      </p:sp>
      <p:sp>
        <p:nvSpPr>
          <p:cNvPr id="30" name="Text 28"/>
          <p:cNvSpPr/>
          <p:nvPr/>
        </p:nvSpPr>
        <p:spPr>
          <a:xfrm>
            <a:off x="5193792" y="3163824"/>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Global Emergency Dashboard (Normal/Elevated/Crisis)</a:t>
            </a:r>
            <a:endParaRPr lang="en-US" sz="1050" dirty="0"/>
          </a:p>
        </p:txBody>
      </p:sp>
      <p:sp>
        <p:nvSpPr>
          <p:cNvPr id="31" name="Shape 29"/>
          <p:cNvSpPr/>
          <p:nvPr/>
        </p:nvSpPr>
        <p:spPr>
          <a:xfrm>
            <a:off x="4983480" y="3685032"/>
            <a:ext cx="109728" cy="109728"/>
          </a:xfrm>
          <a:prstGeom prst="rect">
            <a:avLst/>
          </a:prstGeom>
          <a:solidFill>
            <a:srgbClr val="1F3864"/>
          </a:solidFill>
          <a:ln w="12700">
            <a:solidFill>
              <a:srgbClr val="1F3864"/>
            </a:solidFill>
            <a:prstDash val="solid"/>
          </a:ln>
        </p:spPr>
      </p:sp>
      <p:sp>
        <p:nvSpPr>
          <p:cNvPr id="32" name="Text 30"/>
          <p:cNvSpPr/>
          <p:nvPr/>
        </p:nvSpPr>
        <p:spPr>
          <a:xfrm>
            <a:off x="5193792" y="3639312"/>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Coordinates with IAEA, WHO, BIS/FSB, ITU</a:t>
            </a:r>
            <a:endParaRPr lang="en-US" sz="1050" dirty="0"/>
          </a:p>
        </p:txBody>
      </p:sp>
      <p:sp>
        <p:nvSpPr>
          <p:cNvPr id="33" name="Shape 31"/>
          <p:cNvSpPr/>
          <p:nvPr/>
        </p:nvSpPr>
        <p:spPr>
          <a:xfrm>
            <a:off x="4983480" y="4160520"/>
            <a:ext cx="109728" cy="109728"/>
          </a:xfrm>
          <a:prstGeom prst="rect">
            <a:avLst/>
          </a:prstGeom>
          <a:solidFill>
            <a:srgbClr val="1F3864"/>
          </a:solidFill>
          <a:ln w="12700">
            <a:solidFill>
              <a:srgbClr val="1F3864"/>
            </a:solidFill>
            <a:prstDash val="solid"/>
          </a:ln>
        </p:spPr>
      </p:sp>
      <p:sp>
        <p:nvSpPr>
          <p:cNvPr id="34" name="Text 32"/>
          <p:cNvSpPr/>
          <p:nvPr/>
        </p:nvSpPr>
        <p:spPr>
          <a:xfrm>
            <a:off x="5193792" y="4114800"/>
            <a:ext cx="3429000" cy="384048"/>
          </a:xfrm>
          <a:prstGeom prst="rect">
            <a:avLst/>
          </a:prstGeom>
          <a:noFill/>
          <a:ln/>
        </p:spPr>
        <p:txBody>
          <a:bodyPr wrap="square" rtlCol="0" anchor="t"/>
          <a:lstStyle/>
          <a:p>
            <a:pPr marL="0" indent="0">
              <a:buNone/>
            </a:pPr>
            <a:r>
              <a:rPr lang="en-US" sz="1050" dirty="0">
                <a:solidFill>
                  <a:srgbClr val="1F3864"/>
                </a:solidFill>
                <a:latin typeface="Calibri" pitchFamily="34" charset="0"/>
                <a:ea typeface="Calibri" pitchFamily="34" charset="-122"/>
                <a:cs typeface="Calibri" pitchFamily="34" charset="-120"/>
              </a:rPr>
              <a:t>Funded by member states + chip micro-levy at manufacture</a:t>
            </a:r>
            <a:endParaRPr lang="en-US" sz="1050" dirty="0"/>
          </a:p>
        </p:txBody>
      </p:sp>
      <p:sp>
        <p:nvSpPr>
          <p:cNvPr id="35" name="Text 33"/>
          <p:cNvSpPr/>
          <p:nvPr/>
        </p:nvSpPr>
        <p:spPr>
          <a:xfrm>
            <a:off x="365760" y="4800600"/>
            <a:ext cx="8412480" cy="22860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No single actor can override the IAIA alert level — it is set algorithmically. Industry contributions carry no voting rights or policy influence.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15625"/>
            </a:avLst>
          </a:prstGeom>
          <a:solidFill>
            <a:srgbClr val="028090"/>
          </a:solidFill>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GLOBAL NETWORK</a:t>
            </a:r>
            <a:endParaRPr lang="en-US" sz="900" dirty="0"/>
          </a:p>
        </p:txBody>
      </p:sp>
      <p:sp>
        <p:nvSpPr>
          <p:cNvPr id="4" name="Text 2"/>
          <p:cNvSpPr/>
          <p:nvPr/>
        </p:nvSpPr>
        <p:spPr>
          <a:xfrm>
            <a:off x="365760" y="548640"/>
            <a:ext cx="8412480" cy="475488"/>
          </a:xfrm>
          <a:prstGeom prst="rect">
            <a:avLst/>
          </a:prstGeom>
          <a:noFill/>
          <a:ln/>
        </p:spPr>
        <p:txBody>
          <a:bodyPr wrap="square" rtlCol="0" anchor="ctr"/>
          <a:lstStyle/>
          <a:p>
            <a:pPr marL="0" indent="0">
              <a:buNone/>
            </a:pPr>
            <a:r>
              <a:rPr lang="en-US" sz="2800" b="1" dirty="0">
                <a:solidFill>
                  <a:srgbClr val="1F3864"/>
                </a:solidFill>
                <a:latin typeface="Verdana" pitchFamily="32" charset="0"/>
                <a:ea typeface="Verdana" pitchFamily="32" charset="-122"/>
                <a:cs typeface="Verdana" pitchFamily="32" charset="-120"/>
              </a:rPr>
              <a:t>Sovereignty by Design</a:t>
            </a:r>
            <a:endParaRPr lang="en-US" sz="2800" dirty="0"/>
          </a:p>
        </p:txBody>
      </p:sp>
      <p:sp>
        <p:nvSpPr>
          <p:cNvPr id="5" name="Text 3"/>
          <p:cNvSpPr/>
          <p:nvPr/>
        </p:nvSpPr>
        <p:spPr>
          <a:xfrm>
            <a:off x="365760" y="1024128"/>
            <a:ext cx="841248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National data flows upward to IAIA — never laterally between nations. Each NAIA owns its data.</a:t>
            </a:r>
            <a:endParaRPr lang="en-US" sz="1100" dirty="0"/>
          </a:p>
        </p:txBody>
      </p:sp>
      <p:pic>
        <p:nvPicPr>
          <p:cNvPr id="6" name="Image 0" descr="/home/claude/imgs/deck/image3.png"/>
          <p:cNvPicPr>
            <a:picLocks noChangeAspect="1"/>
          </p:cNvPicPr>
          <p:nvPr/>
        </p:nvPicPr>
        <p:blipFill>
          <a:blip r:embed="rId3"/>
          <a:stretch>
            <a:fillRect/>
          </a:stretch>
        </p:blipFill>
        <p:spPr>
          <a:xfrm>
            <a:off x="1828251" y="1417320"/>
            <a:ext cx="5487497" cy="3291840"/>
          </a:xfrm>
          <a:prstGeom prst="rect">
            <a:avLst/>
          </a:prstGeom>
        </p:spPr>
      </p:pic>
      <p:sp>
        <p:nvSpPr>
          <p:cNvPr id="7" name="Text 4"/>
          <p:cNvSpPr/>
          <p:nvPr/>
        </p:nvSpPr>
        <p:spPr>
          <a:xfrm>
            <a:off x="365760" y="4846320"/>
            <a:ext cx="8412480" cy="228600"/>
          </a:xfrm>
          <a:prstGeom prst="rect">
            <a:avLst/>
          </a:prstGeom>
          <a:noFill/>
          <a:ln/>
        </p:spPr>
        <p:txBody>
          <a:bodyPr wrap="square"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Figure 4 — Global IAIA/NAIA network. Compliance metadata flows upward from national authorities to the IAIA — never laterally between nations.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GOVERNANCE ARCHITECTURE</a:t>
            </a:r>
            <a:endParaRPr lang="en-US" sz="900" dirty="0"/>
          </a:p>
        </p:txBody>
      </p:sp>
      <p:sp>
        <p:nvSpPr>
          <p:cNvPr id="4" name="Text 2"/>
          <p:cNvSpPr/>
          <p:nvPr/>
        </p:nvSpPr>
        <p:spPr>
          <a:xfrm>
            <a:off x="365760" y="548640"/>
            <a:ext cx="8412480" cy="548640"/>
          </a:xfrm>
          <a:prstGeom prst="rect">
            <a:avLst/>
          </a:prstGeom>
          <a:noFill/>
          <a:ln/>
        </p:spPr>
        <p:txBody>
          <a:bodyPr wrap="square" rtlCol="0" anchor="ctr"/>
          <a:lstStyle/>
          <a:p>
            <a:pPr marL="0" indent="0">
              <a:buNone/>
            </a:pPr>
            <a:r>
              <a:rPr lang="en-US" sz="2800" b="1" dirty="0">
                <a:solidFill>
                  <a:srgbClr val="1F3864"/>
                </a:solidFill>
                <a:latin typeface="Verdana" pitchFamily="34" charset="0"/>
                <a:ea typeface="Verdana" pitchFamily="34" charset="-122"/>
                <a:cs typeface="Verdana" pitchFamily="34" charset="-120"/>
              </a:rPr>
              <a:t>NAIA Operations Dashboard</a:t>
            </a:r>
            <a:endParaRPr lang="en-US" sz="2800" dirty="0"/>
          </a:p>
        </p:txBody>
      </p:sp>
      <p:sp>
        <p:nvSpPr>
          <p:cNvPr id="5" name="Shape 3"/>
          <p:cNvSpPr/>
          <p:nvPr/>
        </p:nvSpPr>
        <p:spPr>
          <a:xfrm>
            <a:off x="365760" y="1261872"/>
            <a:ext cx="8412480" cy="347472"/>
          </a:xfrm>
          <a:prstGeom prst="roundRect">
            <a:avLst>
              <a:gd name="adj" fmla="val 15789"/>
            </a:avLst>
          </a:prstGeom>
          <a:solidFill>
            <a:srgbClr val="1F3864"/>
          </a:solidFill>
          <a:ln w="12700">
            <a:solidFill>
              <a:srgbClr val="1F3864"/>
            </a:solidFill>
            <a:prstDash val="solid"/>
          </a:ln>
        </p:spPr>
      </p:sp>
      <p:sp>
        <p:nvSpPr>
          <p:cNvPr id="6" name="Text 4"/>
          <p:cNvSpPr/>
          <p:nvPr/>
        </p:nvSpPr>
        <p:spPr>
          <a:xfrm>
            <a:off x="457200" y="1261872"/>
            <a:ext cx="822960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Judge Protocol — NAIA Operations Dashboard</a:t>
            </a:r>
            <a:r>
              <a:rPr lang="en-US" sz="1100" dirty="0">
                <a:solidFill>
                  <a:srgbClr val="6EE7B7"/>
                </a:solidFill>
                <a:latin typeface="Calibri" pitchFamily="34" charset="0"/>
                <a:ea typeface="Calibri" pitchFamily="34" charset="-122"/>
                <a:cs typeface="Calibri" pitchFamily="34" charset="-120"/>
              </a:rPr>
              <a:t>          ● Normal   Live · 14:37 UTC</a:t>
            </a:r>
            <a:endParaRPr lang="en-US" sz="1100" dirty="0"/>
          </a:p>
        </p:txBody>
      </p:sp>
      <p:sp>
        <p:nvSpPr>
          <p:cNvPr id="7" name="Shape 5"/>
          <p:cNvSpPr/>
          <p:nvPr/>
        </p:nvSpPr>
        <p:spPr>
          <a:xfrm>
            <a:off x="365760" y="1682496"/>
            <a:ext cx="2651760" cy="914400"/>
          </a:xfrm>
          <a:prstGeom prst="roundRect">
            <a:avLst>
              <a:gd name="adj" fmla="val 6000"/>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sp>
      <p:sp>
        <p:nvSpPr>
          <p:cNvPr id="8" name="Text 6"/>
          <p:cNvSpPr/>
          <p:nvPr/>
        </p:nvSpPr>
        <p:spPr>
          <a:xfrm>
            <a:off x="457200" y="1737360"/>
            <a:ext cx="2468880" cy="201168"/>
          </a:xfrm>
          <a:prstGeom prst="rect">
            <a:avLst/>
          </a:prstGeom>
          <a:noFill/>
          <a:ln/>
        </p:spPr>
        <p:txBody>
          <a:bodyPr wrap="square" rtlCol="0" anchor="ctr"/>
          <a:lstStyle/>
          <a:p>
            <a:pPr marL="0" indent="0">
              <a:buNone/>
            </a:pPr>
            <a:r>
              <a:rPr lang="en-US" sz="800" b="1" dirty="0">
                <a:solidFill>
                  <a:srgbClr val="64748B"/>
                </a:solidFill>
                <a:latin typeface="Calibri" pitchFamily="34" charset="0"/>
                <a:ea typeface="Calibri" pitchFamily="34" charset="-122"/>
                <a:cs typeface="Calibri" pitchFamily="34" charset="-120"/>
              </a:rPr>
              <a:t>HACK EVENTS TODAY</a:t>
            </a:r>
            <a:endParaRPr lang="en-US" sz="800" dirty="0"/>
          </a:p>
        </p:txBody>
      </p:sp>
      <p:sp>
        <p:nvSpPr>
          <p:cNvPr id="9" name="Text 7"/>
          <p:cNvSpPr/>
          <p:nvPr/>
        </p:nvSpPr>
        <p:spPr>
          <a:xfrm>
            <a:off x="457200" y="1920240"/>
            <a:ext cx="2468880" cy="384048"/>
          </a:xfrm>
          <a:prstGeom prst="rect">
            <a:avLst/>
          </a:prstGeom>
          <a:noFill/>
          <a:ln/>
        </p:spPr>
        <p:txBody>
          <a:bodyPr wrap="square" rtlCol="0" anchor="ctr"/>
          <a:lstStyle/>
          <a:p>
            <a:pPr marL="0" indent="0">
              <a:buNone/>
            </a:pPr>
            <a:r>
              <a:rPr lang="en-US" sz="2800" b="1" dirty="0">
                <a:solidFill>
                  <a:srgbClr val="1F3864"/>
                </a:solidFill>
                <a:latin typeface="Verdana" pitchFamily="34" charset="0"/>
                <a:ea typeface="Verdana" pitchFamily="34" charset="-122"/>
                <a:cs typeface="Verdana" pitchFamily="34" charset="-120"/>
              </a:rPr>
              <a:t>48,291</a:t>
            </a:r>
            <a:endParaRPr lang="en-US" sz="2800" dirty="0"/>
          </a:p>
        </p:txBody>
      </p:sp>
      <p:sp>
        <p:nvSpPr>
          <p:cNvPr id="10" name="Text 8"/>
          <p:cNvSpPr/>
          <p:nvPr/>
        </p:nvSpPr>
        <p:spPr>
          <a:xfrm>
            <a:off x="457200" y="2304288"/>
            <a:ext cx="2468880" cy="201168"/>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 12% vs yesterday</a:t>
            </a:r>
            <a:endParaRPr lang="en-US" sz="800" dirty="0"/>
          </a:p>
        </p:txBody>
      </p:sp>
      <p:sp>
        <p:nvSpPr>
          <p:cNvPr id="11" name="Shape 9"/>
          <p:cNvSpPr/>
          <p:nvPr/>
        </p:nvSpPr>
        <p:spPr>
          <a:xfrm>
            <a:off x="3200400" y="1682496"/>
            <a:ext cx="2651760" cy="914400"/>
          </a:xfrm>
          <a:prstGeom prst="roundRect">
            <a:avLst>
              <a:gd name="adj" fmla="val 6000"/>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sp>
      <p:sp>
        <p:nvSpPr>
          <p:cNvPr id="12" name="Text 10"/>
          <p:cNvSpPr/>
          <p:nvPr/>
        </p:nvSpPr>
        <p:spPr>
          <a:xfrm>
            <a:off x="3291840" y="1737360"/>
            <a:ext cx="2468880" cy="201168"/>
          </a:xfrm>
          <a:prstGeom prst="rect">
            <a:avLst/>
          </a:prstGeom>
          <a:noFill/>
          <a:ln/>
        </p:spPr>
        <p:txBody>
          <a:bodyPr wrap="square" rtlCol="0" anchor="ctr"/>
          <a:lstStyle/>
          <a:p>
            <a:pPr marL="0" indent="0">
              <a:buNone/>
            </a:pPr>
            <a:r>
              <a:rPr lang="en-US" sz="800" b="1" dirty="0">
                <a:solidFill>
                  <a:srgbClr val="64748B"/>
                </a:solidFill>
                <a:latin typeface="Calibri" pitchFamily="34" charset="0"/>
                <a:ea typeface="Calibri" pitchFamily="34" charset="-122"/>
                <a:cs typeface="Calibri" pitchFamily="34" charset="-120"/>
              </a:rPr>
              <a:t>PENDING AUTHORIZATIONS</a:t>
            </a:r>
            <a:endParaRPr lang="en-US" sz="800" dirty="0"/>
          </a:p>
        </p:txBody>
      </p:sp>
      <p:sp>
        <p:nvSpPr>
          <p:cNvPr id="13" name="Text 11"/>
          <p:cNvSpPr/>
          <p:nvPr/>
        </p:nvSpPr>
        <p:spPr>
          <a:xfrm>
            <a:off x="3291840" y="1920240"/>
            <a:ext cx="2468880" cy="384048"/>
          </a:xfrm>
          <a:prstGeom prst="rect">
            <a:avLst/>
          </a:prstGeom>
          <a:noFill/>
          <a:ln/>
        </p:spPr>
        <p:txBody>
          <a:bodyPr wrap="square" rtlCol="0" anchor="ctr"/>
          <a:lstStyle/>
          <a:p>
            <a:pPr marL="0" indent="0">
              <a:buNone/>
            </a:pPr>
            <a:r>
              <a:rPr lang="en-US" sz="2800" b="1" dirty="0">
                <a:solidFill>
                  <a:srgbClr val="1F3864"/>
                </a:solidFill>
                <a:latin typeface="Verdana" pitchFamily="34" charset="0"/>
                <a:ea typeface="Verdana" pitchFamily="34" charset="-122"/>
                <a:cs typeface="Verdana" pitchFamily="34" charset="-120"/>
              </a:rPr>
              <a:t>7</a:t>
            </a:r>
            <a:endParaRPr lang="en-US" sz="2800" dirty="0"/>
          </a:p>
        </p:txBody>
      </p:sp>
      <p:sp>
        <p:nvSpPr>
          <p:cNvPr id="14" name="Text 12"/>
          <p:cNvSpPr/>
          <p:nvPr/>
        </p:nvSpPr>
        <p:spPr>
          <a:xfrm>
            <a:off x="3291840" y="2304288"/>
            <a:ext cx="2468880" cy="201168"/>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Tier 2: 2 · Tier 3: 5</a:t>
            </a:r>
            <a:endParaRPr lang="en-US" sz="800" dirty="0"/>
          </a:p>
        </p:txBody>
      </p:sp>
      <p:sp>
        <p:nvSpPr>
          <p:cNvPr id="15" name="Shape 13"/>
          <p:cNvSpPr/>
          <p:nvPr/>
        </p:nvSpPr>
        <p:spPr>
          <a:xfrm>
            <a:off x="6035040" y="1682496"/>
            <a:ext cx="2651760" cy="914400"/>
          </a:xfrm>
          <a:prstGeom prst="roundRect">
            <a:avLst>
              <a:gd name="adj" fmla="val 6000"/>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sp>
      <p:sp>
        <p:nvSpPr>
          <p:cNvPr id="16" name="Text 14"/>
          <p:cNvSpPr/>
          <p:nvPr/>
        </p:nvSpPr>
        <p:spPr>
          <a:xfrm>
            <a:off x="6126480" y="1737360"/>
            <a:ext cx="2468880" cy="201168"/>
          </a:xfrm>
          <a:prstGeom prst="rect">
            <a:avLst/>
          </a:prstGeom>
          <a:noFill/>
          <a:ln/>
        </p:spPr>
        <p:txBody>
          <a:bodyPr wrap="square" rtlCol="0" anchor="ctr"/>
          <a:lstStyle/>
          <a:p>
            <a:pPr marL="0" indent="0">
              <a:buNone/>
            </a:pPr>
            <a:r>
              <a:rPr lang="en-US" sz="800" b="1" dirty="0">
                <a:solidFill>
                  <a:srgbClr val="64748B"/>
                </a:solidFill>
                <a:latin typeface="Calibri" pitchFamily="34" charset="0"/>
                <a:ea typeface="Calibri" pitchFamily="34" charset="-122"/>
                <a:cs typeface="Calibri" pitchFamily="34" charset="-120"/>
              </a:rPr>
              <a:t>HARD STOPS TODAY</a:t>
            </a:r>
            <a:endParaRPr lang="en-US" sz="800" dirty="0"/>
          </a:p>
        </p:txBody>
      </p:sp>
      <p:sp>
        <p:nvSpPr>
          <p:cNvPr id="17" name="Text 15"/>
          <p:cNvSpPr/>
          <p:nvPr/>
        </p:nvSpPr>
        <p:spPr>
          <a:xfrm>
            <a:off x="6126480" y="1920240"/>
            <a:ext cx="2468880" cy="384048"/>
          </a:xfrm>
          <a:prstGeom prst="rect">
            <a:avLst/>
          </a:prstGeom>
          <a:noFill/>
          <a:ln/>
        </p:spPr>
        <p:txBody>
          <a:bodyPr wrap="square" rtlCol="0" anchor="ctr"/>
          <a:lstStyle/>
          <a:p>
            <a:pPr marL="0" indent="0">
              <a:buNone/>
            </a:pPr>
            <a:r>
              <a:rPr lang="en-US" sz="2800" b="1" dirty="0">
                <a:solidFill>
                  <a:srgbClr val="1F3864"/>
                </a:solidFill>
                <a:latin typeface="Verdana" pitchFamily="34" charset="0"/>
                <a:ea typeface="Verdana" pitchFamily="34" charset="-122"/>
                <a:cs typeface="Verdana" pitchFamily="34" charset="-120"/>
              </a:rPr>
              <a:t>0</a:t>
            </a:r>
            <a:endParaRPr lang="en-US" sz="2800" dirty="0"/>
          </a:p>
        </p:txBody>
      </p:sp>
      <p:sp>
        <p:nvSpPr>
          <p:cNvPr id="18" name="Text 16"/>
          <p:cNvSpPr/>
          <p:nvPr/>
        </p:nvSpPr>
        <p:spPr>
          <a:xfrm>
            <a:off x="6126480" y="2304288"/>
            <a:ext cx="2468880" cy="201168"/>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Last: 14 days ago</a:t>
            </a:r>
            <a:endParaRPr lang="en-US" sz="800" dirty="0"/>
          </a:p>
        </p:txBody>
      </p:sp>
      <p:sp>
        <p:nvSpPr>
          <p:cNvPr id="19" name="Shape 17"/>
          <p:cNvSpPr/>
          <p:nvPr/>
        </p:nvSpPr>
        <p:spPr>
          <a:xfrm>
            <a:off x="365760" y="2706624"/>
            <a:ext cx="5303520" cy="1645920"/>
          </a:xfrm>
          <a:prstGeom prst="roundRect">
            <a:avLst>
              <a:gd name="adj" fmla="val 3333"/>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sp>
      <p:sp>
        <p:nvSpPr>
          <p:cNvPr id="20" name="Text 18"/>
          <p:cNvSpPr/>
          <p:nvPr/>
        </p:nvSpPr>
        <p:spPr>
          <a:xfrm>
            <a:off x="457200" y="2761488"/>
            <a:ext cx="5120640" cy="201168"/>
          </a:xfrm>
          <a:prstGeom prst="rect">
            <a:avLst/>
          </a:prstGeom>
          <a:noFill/>
          <a:ln/>
        </p:spPr>
        <p:txBody>
          <a:bodyPr wrap="square" rtlCol="0" anchor="ctr"/>
          <a:lstStyle/>
          <a:p>
            <a:pPr marL="0" indent="0">
              <a:buNone/>
            </a:pPr>
            <a:r>
              <a:rPr lang="en-US" sz="800" b="1" dirty="0">
                <a:solidFill>
                  <a:srgbClr val="64748B"/>
                </a:solidFill>
                <a:latin typeface="Calibri" pitchFamily="34" charset="0"/>
                <a:ea typeface="Calibri" pitchFamily="34" charset="-122"/>
                <a:cs typeface="Calibri" pitchFamily="34" charset="-120"/>
              </a:rPr>
              <a:t>LIVE HACK EVENT STREAM</a:t>
            </a:r>
            <a:endParaRPr lang="en-US" sz="800" dirty="0"/>
          </a:p>
        </p:txBody>
      </p:sp>
      <p:sp>
        <p:nvSpPr>
          <p:cNvPr id="21" name="Shape 19"/>
          <p:cNvSpPr/>
          <p:nvPr/>
        </p:nvSpPr>
        <p:spPr>
          <a:xfrm>
            <a:off x="457200" y="2999232"/>
            <a:ext cx="256032" cy="182880"/>
          </a:xfrm>
          <a:prstGeom prst="roundRect">
            <a:avLst>
              <a:gd name="adj" fmla="val 15000"/>
            </a:avLst>
          </a:prstGeom>
          <a:solidFill>
            <a:srgbClr val="1F3864"/>
          </a:solidFill>
          <a:ln w="12700">
            <a:solidFill>
              <a:srgbClr val="1F3864"/>
            </a:solidFill>
            <a:prstDash val="solid"/>
          </a:ln>
        </p:spPr>
      </p:sp>
      <p:sp>
        <p:nvSpPr>
          <p:cNvPr id="22" name="Text 20"/>
          <p:cNvSpPr/>
          <p:nvPr/>
        </p:nvSpPr>
        <p:spPr>
          <a:xfrm>
            <a:off x="457200" y="2999232"/>
            <a:ext cx="256032"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T4</a:t>
            </a:r>
            <a:endParaRPr lang="en-US" sz="700" dirty="0"/>
          </a:p>
        </p:txBody>
      </p:sp>
      <p:sp>
        <p:nvSpPr>
          <p:cNvPr id="23" name="Shape 21"/>
          <p:cNvSpPr/>
          <p:nvPr/>
        </p:nvSpPr>
        <p:spPr>
          <a:xfrm>
            <a:off x="749808" y="2999232"/>
            <a:ext cx="329184" cy="182880"/>
          </a:xfrm>
          <a:prstGeom prst="roundRect">
            <a:avLst>
              <a:gd name="adj" fmla="val 15000"/>
            </a:avLst>
          </a:prstGeom>
          <a:solidFill>
            <a:srgbClr val="028090"/>
          </a:solidFill>
          <a:ln w="12700">
            <a:solidFill>
              <a:srgbClr val="028090"/>
            </a:solidFill>
            <a:prstDash val="solid"/>
          </a:ln>
        </p:spPr>
      </p:sp>
      <p:sp>
        <p:nvSpPr>
          <p:cNvPr id="24" name="Text 22"/>
          <p:cNvSpPr/>
          <p:nvPr/>
        </p:nvSpPr>
        <p:spPr>
          <a:xfrm>
            <a:off x="749808" y="2999232"/>
            <a:ext cx="329184"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ACK</a:t>
            </a:r>
            <a:endParaRPr lang="en-US" sz="700" dirty="0"/>
          </a:p>
        </p:txBody>
      </p:sp>
      <p:sp>
        <p:nvSpPr>
          <p:cNvPr id="25" name="Text 23"/>
          <p:cNvSpPr/>
          <p:nvPr/>
        </p:nvSpPr>
        <p:spPr>
          <a:xfrm>
            <a:off x="1115568" y="2999232"/>
            <a:ext cx="3291840" cy="182880"/>
          </a:xfrm>
          <a:prstGeom prst="rect">
            <a:avLst/>
          </a:prstGeom>
          <a:noFill/>
          <a:ln/>
        </p:spPr>
        <p:txBody>
          <a:bodyPr wrap="square" rtlCol="0" anchor="ctr"/>
          <a:lstStyle/>
          <a:p>
            <a:pPr marL="0" indent="0">
              <a:buNone/>
            </a:pPr>
            <a:r>
              <a:rPr lang="en-US" sz="800" dirty="0">
                <a:solidFill>
                  <a:srgbClr val="1F3864"/>
                </a:solidFill>
                <a:latin typeface="Calibri" pitchFamily="34" charset="0"/>
                <a:ea typeface="Calibri" pitchFamily="34" charset="-122"/>
                <a:cs typeface="Calibri" pitchFamily="34" charset="-120"/>
              </a:rPr>
              <a:t>Case classification — benefit eligibility</a:t>
            </a:r>
            <a:endParaRPr lang="en-US" sz="800" dirty="0"/>
          </a:p>
        </p:txBody>
      </p:sp>
      <p:sp>
        <p:nvSpPr>
          <p:cNvPr id="26" name="Text 24"/>
          <p:cNvSpPr/>
          <p:nvPr/>
        </p:nvSpPr>
        <p:spPr>
          <a:xfrm>
            <a:off x="4443984" y="2999232"/>
            <a:ext cx="1097280" cy="1828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SE-TAX-01</a:t>
            </a:r>
            <a:endParaRPr lang="en-US" sz="800" dirty="0"/>
          </a:p>
        </p:txBody>
      </p:sp>
      <p:sp>
        <p:nvSpPr>
          <p:cNvPr id="27" name="Shape 25"/>
          <p:cNvSpPr/>
          <p:nvPr/>
        </p:nvSpPr>
        <p:spPr>
          <a:xfrm>
            <a:off x="457200" y="3310128"/>
            <a:ext cx="256032" cy="182880"/>
          </a:xfrm>
          <a:prstGeom prst="roundRect">
            <a:avLst>
              <a:gd name="adj" fmla="val 15000"/>
            </a:avLst>
          </a:prstGeom>
          <a:solidFill>
            <a:srgbClr val="1F3864"/>
          </a:solidFill>
          <a:ln w="12700">
            <a:solidFill>
              <a:srgbClr val="1F3864"/>
            </a:solidFill>
            <a:prstDash val="solid"/>
          </a:ln>
        </p:spPr>
      </p:sp>
      <p:sp>
        <p:nvSpPr>
          <p:cNvPr id="28" name="Text 26"/>
          <p:cNvSpPr/>
          <p:nvPr/>
        </p:nvSpPr>
        <p:spPr>
          <a:xfrm>
            <a:off x="457200" y="3310128"/>
            <a:ext cx="256032"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T3</a:t>
            </a:r>
            <a:endParaRPr lang="en-US" sz="700" dirty="0"/>
          </a:p>
        </p:txBody>
      </p:sp>
      <p:sp>
        <p:nvSpPr>
          <p:cNvPr id="29" name="Shape 27"/>
          <p:cNvSpPr/>
          <p:nvPr/>
        </p:nvSpPr>
        <p:spPr>
          <a:xfrm>
            <a:off x="749808" y="3310128"/>
            <a:ext cx="329184" cy="182880"/>
          </a:xfrm>
          <a:prstGeom prst="roundRect">
            <a:avLst>
              <a:gd name="adj" fmla="val 15000"/>
            </a:avLst>
          </a:prstGeom>
          <a:solidFill>
            <a:srgbClr val="028090"/>
          </a:solidFill>
          <a:ln w="12700">
            <a:solidFill>
              <a:srgbClr val="028090"/>
            </a:solidFill>
            <a:prstDash val="solid"/>
          </a:ln>
        </p:spPr>
      </p:sp>
      <p:sp>
        <p:nvSpPr>
          <p:cNvPr id="30" name="Text 28"/>
          <p:cNvSpPr/>
          <p:nvPr/>
        </p:nvSpPr>
        <p:spPr>
          <a:xfrm>
            <a:off x="749808" y="3310128"/>
            <a:ext cx="329184"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ACK</a:t>
            </a:r>
            <a:endParaRPr lang="en-US" sz="700" dirty="0"/>
          </a:p>
        </p:txBody>
      </p:sp>
      <p:sp>
        <p:nvSpPr>
          <p:cNvPr id="31" name="Text 29"/>
          <p:cNvSpPr/>
          <p:nvPr/>
        </p:nvSpPr>
        <p:spPr>
          <a:xfrm>
            <a:off x="1115568" y="3310128"/>
            <a:ext cx="3291840" cy="182880"/>
          </a:xfrm>
          <a:prstGeom prst="rect">
            <a:avLst/>
          </a:prstGeom>
          <a:noFill/>
          <a:ln/>
        </p:spPr>
        <p:txBody>
          <a:bodyPr wrap="square" rtlCol="0" anchor="ctr"/>
          <a:lstStyle/>
          <a:p>
            <a:pPr marL="0" indent="0">
              <a:buNone/>
            </a:pPr>
            <a:r>
              <a:rPr lang="en-US" sz="800" dirty="0">
                <a:solidFill>
                  <a:srgbClr val="1F3864"/>
                </a:solidFill>
                <a:latin typeface="Calibri" pitchFamily="34" charset="0"/>
                <a:ea typeface="Calibri" pitchFamily="34" charset="-122"/>
                <a:cs typeface="Calibri" pitchFamily="34" charset="-120"/>
              </a:rPr>
              <a:t>Administrative override — residency status</a:t>
            </a:r>
            <a:endParaRPr lang="en-US" sz="800" dirty="0"/>
          </a:p>
        </p:txBody>
      </p:sp>
      <p:sp>
        <p:nvSpPr>
          <p:cNvPr id="32" name="Text 30"/>
          <p:cNvSpPr/>
          <p:nvPr/>
        </p:nvSpPr>
        <p:spPr>
          <a:xfrm>
            <a:off x="4443984" y="3310128"/>
            <a:ext cx="1097280" cy="1828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SE-MIG-04</a:t>
            </a:r>
            <a:endParaRPr lang="en-US" sz="800" dirty="0"/>
          </a:p>
        </p:txBody>
      </p:sp>
      <p:sp>
        <p:nvSpPr>
          <p:cNvPr id="33" name="Shape 31"/>
          <p:cNvSpPr/>
          <p:nvPr/>
        </p:nvSpPr>
        <p:spPr>
          <a:xfrm>
            <a:off x="457200" y="3621024"/>
            <a:ext cx="256032" cy="182880"/>
          </a:xfrm>
          <a:prstGeom prst="roundRect">
            <a:avLst>
              <a:gd name="adj" fmla="val 15000"/>
            </a:avLst>
          </a:prstGeom>
          <a:solidFill>
            <a:srgbClr val="1F3864"/>
          </a:solidFill>
          <a:ln w="12700">
            <a:solidFill>
              <a:srgbClr val="1F3864"/>
            </a:solidFill>
            <a:prstDash val="solid"/>
          </a:ln>
        </p:spPr>
      </p:sp>
      <p:sp>
        <p:nvSpPr>
          <p:cNvPr id="34" name="Text 32"/>
          <p:cNvSpPr/>
          <p:nvPr/>
        </p:nvSpPr>
        <p:spPr>
          <a:xfrm>
            <a:off x="457200" y="3621024"/>
            <a:ext cx="256032"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T2</a:t>
            </a:r>
            <a:endParaRPr lang="en-US" sz="700" dirty="0"/>
          </a:p>
        </p:txBody>
      </p:sp>
      <p:sp>
        <p:nvSpPr>
          <p:cNvPr id="35" name="Shape 33"/>
          <p:cNvSpPr/>
          <p:nvPr/>
        </p:nvSpPr>
        <p:spPr>
          <a:xfrm>
            <a:off x="749808" y="3621024"/>
            <a:ext cx="329184" cy="182880"/>
          </a:xfrm>
          <a:prstGeom prst="roundRect">
            <a:avLst>
              <a:gd name="adj" fmla="val 15000"/>
            </a:avLst>
          </a:prstGeom>
          <a:solidFill>
            <a:srgbClr val="F59E0B"/>
          </a:solidFill>
          <a:ln w="12700">
            <a:solidFill>
              <a:srgbClr val="F59E0B"/>
            </a:solidFill>
            <a:prstDash val="solid"/>
          </a:ln>
        </p:spPr>
      </p:sp>
      <p:sp>
        <p:nvSpPr>
          <p:cNvPr id="36" name="Text 34"/>
          <p:cNvSpPr/>
          <p:nvPr/>
        </p:nvSpPr>
        <p:spPr>
          <a:xfrm>
            <a:off x="749808" y="3621024"/>
            <a:ext cx="329184"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PEND</a:t>
            </a:r>
            <a:endParaRPr lang="en-US" sz="700" dirty="0"/>
          </a:p>
        </p:txBody>
      </p:sp>
      <p:sp>
        <p:nvSpPr>
          <p:cNvPr id="37" name="Text 35"/>
          <p:cNvSpPr/>
          <p:nvPr/>
        </p:nvSpPr>
        <p:spPr>
          <a:xfrm>
            <a:off x="1115568" y="3621024"/>
            <a:ext cx="3291840" cy="182880"/>
          </a:xfrm>
          <a:prstGeom prst="rect">
            <a:avLst/>
          </a:prstGeom>
          <a:noFill/>
          <a:ln/>
        </p:spPr>
        <p:txBody>
          <a:bodyPr wrap="square" rtlCol="0" anchor="ctr"/>
          <a:lstStyle/>
          <a:p>
            <a:pPr marL="0" indent="0">
              <a:buNone/>
            </a:pPr>
            <a:r>
              <a:rPr lang="en-US" sz="800" dirty="0">
                <a:solidFill>
                  <a:srgbClr val="1F3864"/>
                </a:solidFill>
                <a:latin typeface="Calibri" pitchFamily="34" charset="0"/>
                <a:ea typeface="Calibri" pitchFamily="34" charset="-122"/>
                <a:cs typeface="Calibri" pitchFamily="34" charset="-120"/>
              </a:rPr>
              <a:t>Multi-party authorization pending — asset freeze</a:t>
            </a:r>
            <a:endParaRPr lang="en-US" sz="800" dirty="0"/>
          </a:p>
        </p:txBody>
      </p:sp>
      <p:sp>
        <p:nvSpPr>
          <p:cNvPr id="38" name="Text 36"/>
          <p:cNvSpPr/>
          <p:nvPr/>
        </p:nvSpPr>
        <p:spPr>
          <a:xfrm>
            <a:off x="4443984" y="3621024"/>
            <a:ext cx="1097280" cy="1828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SE-FIN-09</a:t>
            </a:r>
            <a:endParaRPr lang="en-US" sz="800" dirty="0"/>
          </a:p>
        </p:txBody>
      </p:sp>
      <p:sp>
        <p:nvSpPr>
          <p:cNvPr id="39" name="Shape 37"/>
          <p:cNvSpPr/>
          <p:nvPr/>
        </p:nvSpPr>
        <p:spPr>
          <a:xfrm>
            <a:off x="457200" y="3931920"/>
            <a:ext cx="256032" cy="182880"/>
          </a:xfrm>
          <a:prstGeom prst="roundRect">
            <a:avLst>
              <a:gd name="adj" fmla="val 15000"/>
            </a:avLst>
          </a:prstGeom>
          <a:solidFill>
            <a:srgbClr val="1F3864"/>
          </a:solidFill>
          <a:ln w="12700">
            <a:solidFill>
              <a:srgbClr val="1F3864"/>
            </a:solidFill>
            <a:prstDash val="solid"/>
          </a:ln>
        </p:spPr>
      </p:sp>
      <p:sp>
        <p:nvSpPr>
          <p:cNvPr id="40" name="Text 38"/>
          <p:cNvSpPr/>
          <p:nvPr/>
        </p:nvSpPr>
        <p:spPr>
          <a:xfrm>
            <a:off x="457200" y="3931920"/>
            <a:ext cx="256032"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T3</a:t>
            </a:r>
            <a:endParaRPr lang="en-US" sz="700" dirty="0"/>
          </a:p>
        </p:txBody>
      </p:sp>
      <p:sp>
        <p:nvSpPr>
          <p:cNvPr id="41" name="Shape 39"/>
          <p:cNvSpPr/>
          <p:nvPr/>
        </p:nvSpPr>
        <p:spPr>
          <a:xfrm>
            <a:off x="749808" y="3931920"/>
            <a:ext cx="329184" cy="182880"/>
          </a:xfrm>
          <a:prstGeom prst="roundRect">
            <a:avLst>
              <a:gd name="adj" fmla="val 15000"/>
            </a:avLst>
          </a:prstGeom>
          <a:solidFill>
            <a:srgbClr val="EF4444"/>
          </a:solidFill>
          <a:ln w="12700">
            <a:solidFill>
              <a:srgbClr val="EF4444"/>
            </a:solidFill>
            <a:prstDash val="solid"/>
          </a:ln>
        </p:spPr>
      </p:sp>
      <p:sp>
        <p:nvSpPr>
          <p:cNvPr id="42" name="Text 40"/>
          <p:cNvSpPr/>
          <p:nvPr/>
        </p:nvSpPr>
        <p:spPr>
          <a:xfrm>
            <a:off x="749808" y="3931920"/>
            <a:ext cx="329184"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REJ</a:t>
            </a:r>
            <a:endParaRPr lang="en-US" sz="700" dirty="0"/>
          </a:p>
        </p:txBody>
      </p:sp>
      <p:sp>
        <p:nvSpPr>
          <p:cNvPr id="43" name="Text 41"/>
          <p:cNvSpPr/>
          <p:nvPr/>
        </p:nvSpPr>
        <p:spPr>
          <a:xfrm>
            <a:off x="1115568" y="3931920"/>
            <a:ext cx="3291840" cy="182880"/>
          </a:xfrm>
          <a:prstGeom prst="rect">
            <a:avLst/>
          </a:prstGeom>
          <a:noFill/>
          <a:ln/>
        </p:spPr>
        <p:txBody>
          <a:bodyPr wrap="square" rtlCol="0" anchor="ctr"/>
          <a:lstStyle/>
          <a:p>
            <a:pPr marL="0" indent="0">
              <a:buNone/>
            </a:pPr>
            <a:r>
              <a:rPr lang="en-US" sz="800" dirty="0">
                <a:solidFill>
                  <a:srgbClr val="1F3864"/>
                </a:solidFill>
                <a:latin typeface="Calibri" pitchFamily="34" charset="0"/>
                <a:ea typeface="Calibri" pitchFamily="34" charset="-122"/>
                <a:cs typeface="Calibri" pitchFamily="34" charset="-120"/>
              </a:rPr>
              <a:t>Authorizer rejected — deportation order</a:t>
            </a:r>
            <a:endParaRPr lang="en-US" sz="800" dirty="0"/>
          </a:p>
        </p:txBody>
      </p:sp>
      <p:sp>
        <p:nvSpPr>
          <p:cNvPr id="44" name="Text 42"/>
          <p:cNvSpPr/>
          <p:nvPr/>
        </p:nvSpPr>
        <p:spPr>
          <a:xfrm>
            <a:off x="4443984" y="3931920"/>
            <a:ext cx="1097280" cy="1828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SE-MIG-07</a:t>
            </a:r>
            <a:endParaRPr lang="en-US" sz="800" dirty="0"/>
          </a:p>
        </p:txBody>
      </p:sp>
      <p:sp>
        <p:nvSpPr>
          <p:cNvPr id="45" name="Shape 43"/>
          <p:cNvSpPr/>
          <p:nvPr/>
        </p:nvSpPr>
        <p:spPr>
          <a:xfrm>
            <a:off x="5760720" y="2706624"/>
            <a:ext cx="3017520" cy="1645920"/>
          </a:xfrm>
          <a:prstGeom prst="roundRect">
            <a:avLst>
              <a:gd name="adj" fmla="val 3333"/>
            </a:avLst>
          </a:prstGeom>
          <a:solidFill>
            <a:srgbClr val="FFFFFF"/>
          </a:solidFill>
          <a:ln w="12700">
            <a:solidFill>
              <a:srgbClr val="E2E8F0"/>
            </a:solidFill>
            <a:prstDash val="solid"/>
          </a:ln>
          <a:effectLst>
            <a:outerShdw blurRad="101600" dist="25400" dir="2700000" algn="bl" rotWithShape="0">
              <a:srgbClr val="000000">
                <a:alpha val="10000"/>
              </a:srgbClr>
            </a:outerShdw>
          </a:effectLst>
        </p:spPr>
      </p:sp>
      <p:sp>
        <p:nvSpPr>
          <p:cNvPr id="46" name="Text 44"/>
          <p:cNvSpPr/>
          <p:nvPr/>
        </p:nvSpPr>
        <p:spPr>
          <a:xfrm>
            <a:off x="5852160" y="2761488"/>
            <a:ext cx="2834640" cy="201168"/>
          </a:xfrm>
          <a:prstGeom prst="rect">
            <a:avLst/>
          </a:prstGeom>
          <a:noFill/>
          <a:ln/>
        </p:spPr>
        <p:txBody>
          <a:bodyPr wrap="square" rtlCol="0" anchor="ctr"/>
          <a:lstStyle/>
          <a:p>
            <a:pPr marL="0" indent="0">
              <a:buNone/>
            </a:pPr>
            <a:r>
              <a:rPr lang="en-US" sz="800" b="1" dirty="0">
                <a:solidFill>
                  <a:srgbClr val="64748B"/>
                </a:solidFill>
                <a:latin typeface="Calibri" pitchFamily="34" charset="0"/>
                <a:ea typeface="Calibri" pitchFamily="34" charset="-122"/>
                <a:cs typeface="Calibri" pitchFamily="34" charset="-120"/>
              </a:rPr>
              <a:t>AUTHORIZATION OUTCOMES</a:t>
            </a:r>
            <a:endParaRPr lang="en-US" sz="800" dirty="0"/>
          </a:p>
        </p:txBody>
      </p:sp>
      <p:sp>
        <p:nvSpPr>
          <p:cNvPr id="47" name="Text 45"/>
          <p:cNvSpPr/>
          <p:nvPr/>
        </p:nvSpPr>
        <p:spPr>
          <a:xfrm>
            <a:off x="5852160" y="2999232"/>
            <a:ext cx="914400" cy="365760"/>
          </a:xfrm>
          <a:prstGeom prst="rect">
            <a:avLst/>
          </a:prstGeom>
          <a:noFill/>
          <a:ln/>
        </p:spPr>
        <p:txBody>
          <a:bodyPr wrap="square" rtlCol="0" anchor="ctr"/>
          <a:lstStyle/>
          <a:p>
            <a:pPr marL="0" indent="0">
              <a:buNone/>
            </a:pPr>
            <a:r>
              <a:rPr lang="en-US" sz="2200" b="1" dirty="0">
                <a:solidFill>
                  <a:srgbClr val="028090"/>
                </a:solidFill>
                <a:latin typeface="Verdana" pitchFamily="34" charset="0"/>
                <a:ea typeface="Verdana" pitchFamily="34" charset="-122"/>
                <a:cs typeface="Verdana" pitchFamily="34" charset="-120"/>
              </a:rPr>
              <a:t>94.1%</a:t>
            </a:r>
            <a:endParaRPr lang="en-US" sz="2200" dirty="0"/>
          </a:p>
        </p:txBody>
      </p:sp>
      <p:sp>
        <p:nvSpPr>
          <p:cNvPr id="48" name="Text 46"/>
          <p:cNvSpPr/>
          <p:nvPr/>
        </p:nvSpPr>
        <p:spPr>
          <a:xfrm>
            <a:off x="5852160" y="3364992"/>
            <a:ext cx="914400" cy="1828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ACK rate</a:t>
            </a:r>
            <a:endParaRPr lang="en-US" sz="800" dirty="0"/>
          </a:p>
        </p:txBody>
      </p:sp>
      <p:sp>
        <p:nvSpPr>
          <p:cNvPr id="49" name="Text 47"/>
          <p:cNvSpPr/>
          <p:nvPr/>
        </p:nvSpPr>
        <p:spPr>
          <a:xfrm>
            <a:off x="6858000" y="2999232"/>
            <a:ext cx="731520" cy="365760"/>
          </a:xfrm>
          <a:prstGeom prst="rect">
            <a:avLst/>
          </a:prstGeom>
          <a:noFill/>
          <a:ln/>
        </p:spPr>
        <p:txBody>
          <a:bodyPr wrap="square" rtlCol="0" anchor="ctr"/>
          <a:lstStyle/>
          <a:p>
            <a:pPr marL="0" indent="0">
              <a:buNone/>
            </a:pPr>
            <a:r>
              <a:rPr lang="en-US" sz="2200" b="1" dirty="0">
                <a:solidFill>
                  <a:srgbClr val="F59E0B"/>
                </a:solidFill>
                <a:latin typeface="Verdana" pitchFamily="34" charset="0"/>
                <a:ea typeface="Verdana" pitchFamily="34" charset="-122"/>
                <a:cs typeface="Verdana" pitchFamily="34" charset="-120"/>
              </a:rPr>
              <a:t>4.2%</a:t>
            </a:r>
            <a:endParaRPr lang="en-US" sz="2200" dirty="0"/>
          </a:p>
        </p:txBody>
      </p:sp>
      <p:sp>
        <p:nvSpPr>
          <p:cNvPr id="50" name="Text 48"/>
          <p:cNvSpPr/>
          <p:nvPr/>
        </p:nvSpPr>
        <p:spPr>
          <a:xfrm>
            <a:off x="6858000" y="3364992"/>
            <a:ext cx="731520" cy="1828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Override</a:t>
            </a:r>
            <a:endParaRPr lang="en-US" sz="800" dirty="0"/>
          </a:p>
        </p:txBody>
      </p:sp>
      <p:sp>
        <p:nvSpPr>
          <p:cNvPr id="51" name="Text 49"/>
          <p:cNvSpPr/>
          <p:nvPr/>
        </p:nvSpPr>
        <p:spPr>
          <a:xfrm>
            <a:off x="7680960" y="2999232"/>
            <a:ext cx="731520" cy="365760"/>
          </a:xfrm>
          <a:prstGeom prst="rect">
            <a:avLst/>
          </a:prstGeom>
          <a:noFill/>
          <a:ln/>
        </p:spPr>
        <p:txBody>
          <a:bodyPr wrap="square" rtlCol="0" anchor="ctr"/>
          <a:lstStyle/>
          <a:p>
            <a:pPr marL="0" indent="0">
              <a:buNone/>
            </a:pPr>
            <a:r>
              <a:rPr lang="en-US" sz="2200" b="1" dirty="0">
                <a:solidFill>
                  <a:srgbClr val="EF4444"/>
                </a:solidFill>
                <a:latin typeface="Verdana" pitchFamily="34" charset="0"/>
                <a:ea typeface="Verdana" pitchFamily="34" charset="-122"/>
                <a:cs typeface="Verdana" pitchFamily="34" charset="-120"/>
              </a:rPr>
              <a:t>1.7%</a:t>
            </a:r>
            <a:endParaRPr lang="en-US" sz="2200" dirty="0"/>
          </a:p>
        </p:txBody>
      </p:sp>
      <p:sp>
        <p:nvSpPr>
          <p:cNvPr id="52" name="Text 50"/>
          <p:cNvSpPr/>
          <p:nvPr/>
        </p:nvSpPr>
        <p:spPr>
          <a:xfrm>
            <a:off x="7680960" y="3364992"/>
            <a:ext cx="731520" cy="18288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Reject</a:t>
            </a:r>
            <a:endParaRPr lang="en-US" sz="800" dirty="0"/>
          </a:p>
        </p:txBody>
      </p:sp>
      <p:sp>
        <p:nvSpPr>
          <p:cNvPr id="53" name="Text 51"/>
          <p:cNvSpPr/>
          <p:nvPr/>
        </p:nvSpPr>
        <p:spPr>
          <a:xfrm>
            <a:off x="5852160" y="3657600"/>
            <a:ext cx="2834640" cy="182880"/>
          </a:xfrm>
          <a:prstGeom prst="rect">
            <a:avLst/>
          </a:prstGeom>
          <a:noFill/>
          <a:ln/>
        </p:spPr>
        <p:txBody>
          <a:bodyPr wrap="square" rtlCol="0" anchor="ctr"/>
          <a:lstStyle/>
          <a:p>
            <a:pPr marL="0" indent="0">
              <a:buNone/>
            </a:pPr>
            <a:r>
              <a:rPr lang="en-US" sz="800" b="1" dirty="0">
                <a:solidFill>
                  <a:srgbClr val="64748B"/>
                </a:solidFill>
                <a:latin typeface="Calibri" pitchFamily="34" charset="0"/>
                <a:ea typeface="Calibri" pitchFamily="34" charset="-122"/>
                <a:cs typeface="Calibri" pitchFamily="34" charset="-120"/>
              </a:rPr>
              <a:t>ACK LATENCY BY TIER</a:t>
            </a:r>
            <a:endParaRPr lang="en-US" sz="800" dirty="0"/>
          </a:p>
        </p:txBody>
      </p:sp>
      <p:sp>
        <p:nvSpPr>
          <p:cNvPr id="54" name="Text 52"/>
          <p:cNvSpPr/>
          <p:nvPr/>
        </p:nvSpPr>
        <p:spPr>
          <a:xfrm>
            <a:off x="5852160" y="3858768"/>
            <a:ext cx="1371600" cy="201168"/>
          </a:xfrm>
          <a:prstGeom prst="rect">
            <a:avLst/>
          </a:prstGeom>
          <a:noFill/>
          <a:ln/>
        </p:spPr>
        <p:txBody>
          <a:bodyPr wrap="square" rtlCol="0" anchor="ctr"/>
          <a:lstStyle/>
          <a:p>
            <a:pPr marL="0" indent="0">
              <a:buNone/>
            </a:pPr>
            <a:r>
              <a:rPr lang="en-US" sz="900" dirty="0">
                <a:solidFill>
                  <a:srgbClr val="1F3864"/>
                </a:solidFill>
                <a:latin typeface="Calibri" pitchFamily="34" charset="0"/>
                <a:ea typeface="Calibri" pitchFamily="34" charset="-122"/>
                <a:cs typeface="Calibri" pitchFamily="34" charset="-120"/>
              </a:rPr>
              <a:t>Tier 3 avg</a:t>
            </a:r>
            <a:endParaRPr lang="en-US" sz="900" dirty="0"/>
          </a:p>
        </p:txBody>
      </p:sp>
      <p:sp>
        <p:nvSpPr>
          <p:cNvPr id="55" name="Shape 53"/>
          <p:cNvSpPr/>
          <p:nvPr/>
        </p:nvSpPr>
        <p:spPr>
          <a:xfrm>
            <a:off x="7278624" y="3895344"/>
            <a:ext cx="1042416" cy="128016"/>
          </a:xfrm>
          <a:prstGeom prst="roundRect">
            <a:avLst>
              <a:gd name="adj" fmla="val 28571"/>
            </a:avLst>
          </a:prstGeom>
          <a:solidFill>
            <a:srgbClr val="028090"/>
          </a:solidFill>
          <a:ln w="12700">
            <a:solidFill>
              <a:srgbClr val="028090"/>
            </a:solidFill>
            <a:prstDash val="solid"/>
          </a:ln>
        </p:spPr>
      </p:sp>
      <p:sp>
        <p:nvSpPr>
          <p:cNvPr id="56" name="Text 54"/>
          <p:cNvSpPr/>
          <p:nvPr/>
        </p:nvSpPr>
        <p:spPr>
          <a:xfrm>
            <a:off x="8193024" y="3858768"/>
            <a:ext cx="457200" cy="201168"/>
          </a:xfrm>
          <a:prstGeom prst="rect">
            <a:avLst/>
          </a:prstGeom>
          <a:noFill/>
          <a:ln/>
        </p:spPr>
        <p:txBody>
          <a:bodyPr wrap="square"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4.2m</a:t>
            </a:r>
            <a:endParaRPr lang="en-US" sz="900" dirty="0"/>
          </a:p>
        </p:txBody>
      </p:sp>
      <p:sp>
        <p:nvSpPr>
          <p:cNvPr id="57" name="Text 55"/>
          <p:cNvSpPr/>
          <p:nvPr/>
        </p:nvSpPr>
        <p:spPr>
          <a:xfrm>
            <a:off x="5852160" y="4096512"/>
            <a:ext cx="1371600" cy="201168"/>
          </a:xfrm>
          <a:prstGeom prst="rect">
            <a:avLst/>
          </a:prstGeom>
          <a:noFill/>
          <a:ln/>
        </p:spPr>
        <p:txBody>
          <a:bodyPr wrap="square" rtlCol="0" anchor="ctr"/>
          <a:lstStyle/>
          <a:p>
            <a:pPr marL="0" indent="0">
              <a:buNone/>
            </a:pPr>
            <a:r>
              <a:rPr lang="en-US" sz="900" dirty="0">
                <a:solidFill>
                  <a:srgbClr val="1F3864"/>
                </a:solidFill>
                <a:latin typeface="Calibri" pitchFamily="34" charset="0"/>
                <a:ea typeface="Calibri" pitchFamily="34" charset="-122"/>
                <a:cs typeface="Calibri" pitchFamily="34" charset="-120"/>
              </a:rPr>
              <a:t>Tier 2 avg</a:t>
            </a:r>
            <a:endParaRPr lang="en-US" sz="900" dirty="0"/>
          </a:p>
        </p:txBody>
      </p:sp>
      <p:sp>
        <p:nvSpPr>
          <p:cNvPr id="58" name="Shape 56"/>
          <p:cNvSpPr/>
          <p:nvPr/>
        </p:nvSpPr>
        <p:spPr>
          <a:xfrm>
            <a:off x="7278624" y="4133088"/>
            <a:ext cx="768096" cy="128016"/>
          </a:xfrm>
          <a:prstGeom prst="roundRect">
            <a:avLst>
              <a:gd name="adj" fmla="val 28571"/>
            </a:avLst>
          </a:prstGeom>
          <a:solidFill>
            <a:srgbClr val="F59E0B"/>
          </a:solidFill>
          <a:ln w="12700">
            <a:solidFill>
              <a:srgbClr val="F59E0B"/>
            </a:solidFill>
            <a:prstDash val="solid"/>
          </a:ln>
        </p:spPr>
      </p:sp>
      <p:sp>
        <p:nvSpPr>
          <p:cNvPr id="59" name="Text 57"/>
          <p:cNvSpPr/>
          <p:nvPr/>
        </p:nvSpPr>
        <p:spPr>
          <a:xfrm>
            <a:off x="8193024" y="4096512"/>
            <a:ext cx="457200" cy="201168"/>
          </a:xfrm>
          <a:prstGeom prst="rect">
            <a:avLst/>
          </a:prstGeom>
          <a:noFill/>
          <a:ln/>
        </p:spPr>
        <p:txBody>
          <a:bodyPr wrap="square"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2.1h</a:t>
            </a:r>
            <a:endParaRPr lang="en-US" sz="900" dirty="0"/>
          </a:p>
        </p:txBody>
      </p:sp>
      <p:sp>
        <p:nvSpPr>
          <p:cNvPr id="60" name="Text 58"/>
          <p:cNvSpPr/>
          <p:nvPr/>
        </p:nvSpPr>
        <p:spPr>
          <a:xfrm>
            <a:off x="5852160" y="4334256"/>
            <a:ext cx="1371600" cy="201168"/>
          </a:xfrm>
          <a:prstGeom prst="rect">
            <a:avLst/>
          </a:prstGeom>
          <a:noFill/>
          <a:ln/>
        </p:spPr>
        <p:txBody>
          <a:bodyPr wrap="square" rtlCol="0" anchor="ctr"/>
          <a:lstStyle/>
          <a:p>
            <a:pPr marL="0" indent="0">
              <a:buNone/>
            </a:pPr>
            <a:r>
              <a:rPr lang="en-US" sz="900" dirty="0">
                <a:solidFill>
                  <a:srgbClr val="1F3864"/>
                </a:solidFill>
                <a:latin typeface="Calibri" pitchFamily="34" charset="0"/>
                <a:ea typeface="Calibri" pitchFamily="34" charset="-122"/>
                <a:cs typeface="Calibri" pitchFamily="34" charset="-120"/>
              </a:rPr>
              <a:t>Tier 4 auto</a:t>
            </a:r>
            <a:endParaRPr lang="en-US" sz="900" dirty="0"/>
          </a:p>
        </p:txBody>
      </p:sp>
      <p:sp>
        <p:nvSpPr>
          <p:cNvPr id="61" name="Shape 59"/>
          <p:cNvSpPr/>
          <p:nvPr/>
        </p:nvSpPr>
        <p:spPr>
          <a:xfrm>
            <a:off x="7278624" y="4370832"/>
            <a:ext cx="493776" cy="128016"/>
          </a:xfrm>
          <a:prstGeom prst="roundRect">
            <a:avLst>
              <a:gd name="adj" fmla="val 28571"/>
            </a:avLst>
          </a:prstGeom>
          <a:solidFill>
            <a:srgbClr val="6EE7B7"/>
          </a:solidFill>
          <a:ln w="12700">
            <a:solidFill>
              <a:srgbClr val="6EE7B7"/>
            </a:solidFill>
            <a:prstDash val="solid"/>
          </a:ln>
        </p:spPr>
      </p:sp>
      <p:sp>
        <p:nvSpPr>
          <p:cNvPr id="62" name="Text 60"/>
          <p:cNvSpPr/>
          <p:nvPr/>
        </p:nvSpPr>
        <p:spPr>
          <a:xfrm>
            <a:off x="8193024" y="4334256"/>
            <a:ext cx="457200" cy="201168"/>
          </a:xfrm>
          <a:prstGeom prst="rect">
            <a:avLst/>
          </a:prstGeom>
          <a:noFill/>
          <a:ln/>
        </p:spPr>
        <p:txBody>
          <a:bodyPr wrap="square" rtlCol="0" anchor="ctr"/>
          <a:lstStyle/>
          <a:p>
            <a:pPr marL="0" indent="0">
              <a:buNone/>
            </a:pPr>
            <a:r>
              <a:rPr lang="en-US" sz="900" b="1" dirty="0">
                <a:solidFill>
                  <a:srgbClr val="1F3864"/>
                </a:solidFill>
                <a:latin typeface="Calibri" pitchFamily="34" charset="0"/>
                <a:ea typeface="Calibri" pitchFamily="34" charset="-122"/>
                <a:cs typeface="Calibri" pitchFamily="34" charset="-120"/>
              </a:rPr>
              <a:t>8μs</a:t>
            </a:r>
            <a:endParaRPr lang="en-US" sz="900" dirty="0"/>
          </a:p>
        </p:txBody>
      </p:sp>
      <p:sp>
        <p:nvSpPr>
          <p:cNvPr id="63" name="Text 61"/>
          <p:cNvSpPr/>
          <p:nvPr/>
        </p:nvSpPr>
        <p:spPr>
          <a:xfrm>
            <a:off x="365760" y="4773168"/>
            <a:ext cx="8412480" cy="22860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Grafana-based · Real-time HACK event stream · Full endorsement verification per tier · 10-year immutable audit retention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15625"/>
            </a:avLst>
          </a:prstGeom>
          <a:solidFill>
            <a:srgbClr val="028090"/>
          </a:solidFill>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IMPLEMENTATION</a:t>
            </a:r>
            <a:endParaRPr lang="en-US" sz="900" dirty="0"/>
          </a:p>
        </p:txBody>
      </p:sp>
      <p:sp>
        <p:nvSpPr>
          <p:cNvPr id="4" name="Text 2"/>
          <p:cNvSpPr/>
          <p:nvPr/>
        </p:nvSpPr>
        <p:spPr>
          <a:xfrm>
            <a:off x="365760" y="548640"/>
            <a:ext cx="8412480" cy="475488"/>
          </a:xfrm>
          <a:prstGeom prst="rect">
            <a:avLst/>
          </a:prstGeom>
          <a:noFill/>
          <a:ln/>
        </p:spPr>
        <p:txBody>
          <a:bodyPr wrap="square" rtlCol="0" anchor="ctr"/>
          <a:lstStyle/>
          <a:p>
            <a:pPr marL="0" indent="0">
              <a:buNone/>
            </a:pPr>
            <a:r>
              <a:rPr lang="en-US" sz="2800" b="1" dirty="0">
                <a:solidFill>
                  <a:srgbClr val="1F3864"/>
                </a:solidFill>
                <a:latin typeface="Verdana" pitchFamily="32" charset="0"/>
                <a:ea typeface="Verdana" pitchFamily="32" charset="-122"/>
                <a:cs typeface="Verdana" pitchFamily="32" charset="-120"/>
              </a:rPr>
              <a:t>Four Phases: Prove Before Mandate</a:t>
            </a:r>
            <a:endParaRPr lang="en-US" sz="2800" dirty="0"/>
          </a:p>
        </p:txBody>
      </p:sp>
      <p:sp>
        <p:nvSpPr>
          <p:cNvPr id="5" name="Shape 3"/>
          <p:cNvSpPr/>
          <p:nvPr/>
        </p:nvSpPr>
        <p:spPr>
          <a:xfrm>
            <a:off x="320040" y="1234440"/>
            <a:ext cx="2011680" cy="3566160"/>
          </a:xfrm>
          <a:prstGeom prst="roundRect">
            <a:avLst>
              <a:gd name="adj" fmla="val 4545"/>
            </a:avLst>
          </a:prstGeom>
          <a:solidFill>
            <a:srgbClr val="028090"/>
          </a:solidFill>
          <a:ln/>
        </p:spPr>
      </p:sp>
      <p:sp>
        <p:nvSpPr>
          <p:cNvPr id="6" name="Shape 4"/>
          <p:cNvSpPr/>
          <p:nvPr/>
        </p:nvSpPr>
        <p:spPr>
          <a:xfrm>
            <a:off x="1005840" y="1371600"/>
            <a:ext cx="640080" cy="640080"/>
          </a:xfrm>
          <a:prstGeom prst="ellipse">
            <a:avLst/>
          </a:prstGeom>
          <a:solidFill>
            <a:srgbClr val="FFFFFF">
              <a:alpha val="80000"/>
            </a:srgbClr>
          </a:solidFill>
          <a:ln/>
        </p:spPr>
      </p:sp>
      <p:sp>
        <p:nvSpPr>
          <p:cNvPr id="7" name="Text 5"/>
          <p:cNvSpPr/>
          <p:nvPr/>
        </p:nvSpPr>
        <p:spPr>
          <a:xfrm>
            <a:off x="1005840" y="13716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Verdana" pitchFamily="32" charset="0"/>
                <a:ea typeface="Verdana" pitchFamily="32" charset="-122"/>
                <a:cs typeface="Verdana" pitchFamily="32" charset="-120"/>
              </a:rPr>
              <a:t>1</a:t>
            </a:r>
            <a:endParaRPr lang="en-US" sz="2200" dirty="0"/>
          </a:p>
        </p:txBody>
      </p:sp>
      <p:sp>
        <p:nvSpPr>
          <p:cNvPr id="8" name="Text 6"/>
          <p:cNvSpPr/>
          <p:nvPr/>
        </p:nvSpPr>
        <p:spPr>
          <a:xfrm>
            <a:off x="320040" y="2103120"/>
            <a:ext cx="2011680" cy="274320"/>
          </a:xfrm>
          <a:prstGeom prst="rect">
            <a:avLst/>
          </a:prstGeom>
          <a:noFill/>
          <a:ln/>
        </p:spPr>
        <p:txBody>
          <a:bodyPr wrap="square" rtlCol="0" anchor="ctr"/>
          <a:lstStyle/>
          <a:p>
            <a:pPr marL="0" indent="0" algn="ctr">
              <a:buNone/>
            </a:pPr>
            <a:r>
              <a:rPr lang="en-US" sz="1000" kern="0" spc="100" dirty="0">
                <a:solidFill>
                  <a:srgbClr val="CADCFC"/>
                </a:solidFill>
                <a:latin typeface="Calibri" pitchFamily="34" charset="0"/>
                <a:ea typeface="Calibri" pitchFamily="34" charset="-122"/>
                <a:cs typeface="Calibri" pitchFamily="34" charset="-120"/>
              </a:rPr>
              <a:t>Phase 1</a:t>
            </a:r>
            <a:endParaRPr lang="en-US" sz="1000" dirty="0"/>
          </a:p>
        </p:txBody>
      </p:sp>
      <p:sp>
        <p:nvSpPr>
          <p:cNvPr id="9" name="Text 7"/>
          <p:cNvSpPr/>
          <p:nvPr/>
        </p:nvSpPr>
        <p:spPr>
          <a:xfrm>
            <a:off x="320040" y="2377440"/>
            <a:ext cx="2011680" cy="411480"/>
          </a:xfrm>
          <a:prstGeom prst="rect">
            <a:avLst/>
          </a:prstGeom>
          <a:noFill/>
          <a:ln/>
        </p:spPr>
        <p:txBody>
          <a:bodyPr wrap="square" rtlCol="0" anchor="ctr"/>
          <a:lstStyle/>
          <a:p>
            <a:pPr marL="0" indent="0" algn="ctr">
              <a:buNone/>
            </a:pPr>
            <a:r>
              <a:rPr lang="en-US" sz="1300" b="1" dirty="0">
                <a:solidFill>
                  <a:srgbClr val="FFFFFF"/>
                </a:solidFill>
                <a:latin typeface="Verdana" pitchFamily="32" charset="0"/>
                <a:ea typeface="Verdana" pitchFamily="32" charset="-122"/>
                <a:cs typeface="Verdana" pitchFamily="32" charset="-120"/>
              </a:rPr>
              <a:t>Sandbox</a:t>
            </a:r>
            <a:endParaRPr lang="en-US" sz="1300" dirty="0"/>
          </a:p>
        </p:txBody>
      </p:sp>
      <p:sp>
        <p:nvSpPr>
          <p:cNvPr id="10" name="Text 8"/>
          <p:cNvSpPr/>
          <p:nvPr/>
        </p:nvSpPr>
        <p:spPr>
          <a:xfrm>
            <a:off x="320040" y="2788920"/>
            <a:ext cx="2011680" cy="256032"/>
          </a:xfrm>
          <a:prstGeom prst="rect">
            <a:avLst/>
          </a:prstGeom>
          <a:noFill/>
          <a:ln/>
        </p:spPr>
        <p:txBody>
          <a:bodyPr wrap="square" rtlCol="0" anchor="ctr"/>
          <a:lstStyle/>
          <a:p>
            <a:pPr marL="0" indent="0" algn="ctr">
              <a:buNone/>
            </a:pPr>
            <a:r>
              <a:rPr lang="en-US" sz="950" i="1" dirty="0">
                <a:solidFill>
                  <a:srgbClr val="CADCFC"/>
                </a:solidFill>
                <a:latin typeface="Calibri" pitchFamily="34" charset="0"/>
                <a:ea typeface="Calibri" pitchFamily="34" charset="-122"/>
                <a:cs typeface="Calibri" pitchFamily="34" charset="-120"/>
              </a:rPr>
              <a:t>0–12 months</a:t>
            </a:r>
            <a:endParaRPr lang="en-US" sz="950" dirty="0"/>
          </a:p>
        </p:txBody>
      </p:sp>
      <p:sp>
        <p:nvSpPr>
          <p:cNvPr id="11" name="Shape 9"/>
          <p:cNvSpPr/>
          <p:nvPr/>
        </p:nvSpPr>
        <p:spPr>
          <a:xfrm>
            <a:off x="594360" y="3090672"/>
            <a:ext cx="1463040" cy="27432"/>
          </a:xfrm>
          <a:prstGeom prst="rect">
            <a:avLst/>
          </a:prstGeom>
          <a:solidFill>
            <a:srgbClr val="FFFFFF">
              <a:alpha val="40000"/>
            </a:srgbClr>
          </a:solidFill>
          <a:ln w="12700">
            <a:solidFill>
              <a:srgbClr val="FFFFFF">
                <a:alpha val="40000"/>
              </a:srgbClr>
            </a:solidFill>
            <a:prstDash val="solid"/>
          </a:ln>
        </p:spPr>
      </p:sp>
      <p:sp>
        <p:nvSpPr>
          <p:cNvPr id="12" name="Text 10"/>
          <p:cNvSpPr/>
          <p:nvPr/>
        </p:nvSpPr>
        <p:spPr>
          <a:xfrm>
            <a:off x="429768" y="3163824"/>
            <a:ext cx="1792224" cy="1554480"/>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Decision Gate Platform deployed in a founding national NAIA, one domain. Live audit trail, ACK latency, override rate data published as v1.0 evidence base.</a:t>
            </a:r>
            <a:endParaRPr lang="en-US" sz="950" dirty="0"/>
          </a:p>
        </p:txBody>
      </p:sp>
      <p:sp>
        <p:nvSpPr>
          <p:cNvPr id="13" name="Shape 11"/>
          <p:cNvSpPr/>
          <p:nvPr/>
        </p:nvSpPr>
        <p:spPr>
          <a:xfrm>
            <a:off x="2468880" y="1234440"/>
            <a:ext cx="2011680" cy="3566160"/>
          </a:xfrm>
          <a:prstGeom prst="roundRect">
            <a:avLst>
              <a:gd name="adj" fmla="val 4545"/>
            </a:avLst>
          </a:prstGeom>
          <a:solidFill>
            <a:srgbClr val="1F3864"/>
          </a:solidFill>
          <a:ln/>
        </p:spPr>
      </p:sp>
      <p:sp>
        <p:nvSpPr>
          <p:cNvPr id="14" name="Shape 12"/>
          <p:cNvSpPr/>
          <p:nvPr/>
        </p:nvSpPr>
        <p:spPr>
          <a:xfrm>
            <a:off x="3154680" y="1371600"/>
            <a:ext cx="640080" cy="640080"/>
          </a:xfrm>
          <a:prstGeom prst="ellipse">
            <a:avLst/>
          </a:prstGeom>
          <a:solidFill>
            <a:srgbClr val="FFFFFF">
              <a:alpha val="80000"/>
            </a:srgbClr>
          </a:solidFill>
          <a:ln/>
        </p:spPr>
      </p:sp>
      <p:sp>
        <p:nvSpPr>
          <p:cNvPr id="15" name="Text 13"/>
          <p:cNvSpPr/>
          <p:nvPr/>
        </p:nvSpPr>
        <p:spPr>
          <a:xfrm>
            <a:off x="3154680" y="13716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Verdana" pitchFamily="32" charset="0"/>
                <a:ea typeface="Verdana" pitchFamily="32" charset="-122"/>
                <a:cs typeface="Verdana" pitchFamily="32" charset="-120"/>
              </a:rPr>
              <a:t>2</a:t>
            </a:r>
            <a:endParaRPr lang="en-US" sz="2200" dirty="0"/>
          </a:p>
        </p:txBody>
      </p:sp>
      <p:sp>
        <p:nvSpPr>
          <p:cNvPr id="16" name="Text 14"/>
          <p:cNvSpPr/>
          <p:nvPr/>
        </p:nvSpPr>
        <p:spPr>
          <a:xfrm>
            <a:off x="2468880" y="2103120"/>
            <a:ext cx="2011680" cy="274320"/>
          </a:xfrm>
          <a:prstGeom prst="rect">
            <a:avLst/>
          </a:prstGeom>
          <a:noFill/>
          <a:ln/>
        </p:spPr>
        <p:txBody>
          <a:bodyPr wrap="square" rtlCol="0" anchor="ctr"/>
          <a:lstStyle/>
          <a:p>
            <a:pPr marL="0" indent="0" algn="ctr">
              <a:buNone/>
            </a:pPr>
            <a:r>
              <a:rPr lang="en-US" sz="1000" kern="0" spc="100" dirty="0">
                <a:solidFill>
                  <a:srgbClr val="CADCFC"/>
                </a:solidFill>
                <a:latin typeface="Calibri" pitchFamily="34" charset="0"/>
                <a:ea typeface="Calibri" pitchFamily="34" charset="-122"/>
                <a:cs typeface="Calibri" pitchFamily="34" charset="-120"/>
              </a:rPr>
              <a:t>Phase 2</a:t>
            </a:r>
            <a:endParaRPr lang="en-US" sz="1000" dirty="0"/>
          </a:p>
        </p:txBody>
      </p:sp>
      <p:sp>
        <p:nvSpPr>
          <p:cNvPr id="17" name="Text 15"/>
          <p:cNvSpPr/>
          <p:nvPr/>
        </p:nvSpPr>
        <p:spPr>
          <a:xfrm>
            <a:off x="2468880" y="2377440"/>
            <a:ext cx="2011680" cy="411480"/>
          </a:xfrm>
          <a:prstGeom prst="rect">
            <a:avLst/>
          </a:prstGeom>
          <a:noFill/>
          <a:ln/>
        </p:spPr>
        <p:txBody>
          <a:bodyPr wrap="square" rtlCol="0" anchor="ctr"/>
          <a:lstStyle/>
          <a:p>
            <a:pPr marL="0" indent="0" algn="ctr">
              <a:buNone/>
            </a:pPr>
            <a:r>
              <a:rPr lang="en-US" sz="1300" b="1" dirty="0">
                <a:solidFill>
                  <a:srgbClr val="FFFFFF"/>
                </a:solidFill>
                <a:latin typeface="Verdana" pitchFamily="32" charset="0"/>
                <a:ea typeface="Verdana" pitchFamily="32" charset="-122"/>
                <a:cs typeface="Verdana" pitchFamily="32" charset="-120"/>
              </a:rPr>
              <a:t>Reference Implementation</a:t>
            </a:r>
            <a:endParaRPr lang="en-US" sz="1300" dirty="0"/>
          </a:p>
        </p:txBody>
      </p:sp>
      <p:sp>
        <p:nvSpPr>
          <p:cNvPr id="18" name="Text 16"/>
          <p:cNvSpPr/>
          <p:nvPr/>
        </p:nvSpPr>
        <p:spPr>
          <a:xfrm>
            <a:off x="2468880" y="2788920"/>
            <a:ext cx="2011680" cy="256032"/>
          </a:xfrm>
          <a:prstGeom prst="rect">
            <a:avLst/>
          </a:prstGeom>
          <a:noFill/>
          <a:ln/>
        </p:spPr>
        <p:txBody>
          <a:bodyPr wrap="square" rtlCol="0" anchor="ctr"/>
          <a:lstStyle/>
          <a:p>
            <a:pPr marL="0" indent="0" algn="ctr">
              <a:buNone/>
            </a:pPr>
            <a:r>
              <a:rPr lang="en-US" sz="950" i="1" dirty="0">
                <a:solidFill>
                  <a:srgbClr val="CADCFC"/>
                </a:solidFill>
                <a:latin typeface="Calibri" pitchFamily="34" charset="0"/>
                <a:ea typeface="Calibri" pitchFamily="34" charset="-122"/>
                <a:cs typeface="Calibri" pitchFamily="34" charset="-120"/>
              </a:rPr>
              <a:t>12–24 months</a:t>
            </a:r>
            <a:endParaRPr lang="en-US" sz="950" dirty="0"/>
          </a:p>
        </p:txBody>
      </p:sp>
      <p:sp>
        <p:nvSpPr>
          <p:cNvPr id="19" name="Shape 17"/>
          <p:cNvSpPr/>
          <p:nvPr/>
        </p:nvSpPr>
        <p:spPr>
          <a:xfrm>
            <a:off x="2743200" y="3090672"/>
            <a:ext cx="1463040" cy="27432"/>
          </a:xfrm>
          <a:prstGeom prst="rect">
            <a:avLst/>
          </a:prstGeom>
          <a:solidFill>
            <a:srgbClr val="FFFFFF">
              <a:alpha val="40000"/>
            </a:srgbClr>
          </a:solidFill>
          <a:ln w="12700">
            <a:solidFill>
              <a:srgbClr val="FFFFFF">
                <a:alpha val="40000"/>
              </a:srgbClr>
            </a:solidFill>
            <a:prstDash val="solid"/>
          </a:ln>
        </p:spPr>
      </p:sp>
      <p:sp>
        <p:nvSpPr>
          <p:cNvPr id="20" name="Text 18"/>
          <p:cNvSpPr/>
          <p:nvPr/>
        </p:nvSpPr>
        <p:spPr>
          <a:xfrm>
            <a:off x="2578608" y="3163824"/>
            <a:ext cx="1792224" cy="1554480"/>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Software stack packaged as open-source Judge Protocol Image, deployable on commodity hardware. IAIA interim secretariat established.</a:t>
            </a:r>
            <a:endParaRPr lang="en-US" sz="950" dirty="0"/>
          </a:p>
        </p:txBody>
      </p:sp>
      <p:sp>
        <p:nvSpPr>
          <p:cNvPr id="21" name="Shape 19"/>
          <p:cNvSpPr/>
          <p:nvPr/>
        </p:nvSpPr>
        <p:spPr>
          <a:xfrm>
            <a:off x="4617720" y="1234440"/>
            <a:ext cx="2011680" cy="3566160"/>
          </a:xfrm>
          <a:prstGeom prst="roundRect">
            <a:avLst>
              <a:gd name="adj" fmla="val 4545"/>
            </a:avLst>
          </a:prstGeom>
          <a:solidFill>
            <a:srgbClr val="014F5C"/>
          </a:solidFill>
          <a:ln/>
        </p:spPr>
      </p:sp>
      <p:sp>
        <p:nvSpPr>
          <p:cNvPr id="22" name="Shape 20"/>
          <p:cNvSpPr/>
          <p:nvPr/>
        </p:nvSpPr>
        <p:spPr>
          <a:xfrm>
            <a:off x="5303520" y="1371600"/>
            <a:ext cx="640080" cy="640080"/>
          </a:xfrm>
          <a:prstGeom prst="ellipse">
            <a:avLst/>
          </a:prstGeom>
          <a:solidFill>
            <a:srgbClr val="FFFFFF">
              <a:alpha val="80000"/>
            </a:srgbClr>
          </a:solidFill>
          <a:ln/>
        </p:spPr>
      </p:sp>
      <p:sp>
        <p:nvSpPr>
          <p:cNvPr id="23" name="Text 21"/>
          <p:cNvSpPr/>
          <p:nvPr/>
        </p:nvSpPr>
        <p:spPr>
          <a:xfrm>
            <a:off x="5303520" y="13716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Verdana" pitchFamily="32" charset="0"/>
                <a:ea typeface="Verdana" pitchFamily="32" charset="-122"/>
                <a:cs typeface="Verdana" pitchFamily="32" charset="-120"/>
              </a:rPr>
              <a:t>3</a:t>
            </a:r>
            <a:endParaRPr lang="en-US" sz="2200" dirty="0"/>
          </a:p>
        </p:txBody>
      </p:sp>
      <p:sp>
        <p:nvSpPr>
          <p:cNvPr id="24" name="Text 22"/>
          <p:cNvSpPr/>
          <p:nvPr/>
        </p:nvSpPr>
        <p:spPr>
          <a:xfrm>
            <a:off x="4617720" y="2103120"/>
            <a:ext cx="2011680" cy="274320"/>
          </a:xfrm>
          <a:prstGeom prst="rect">
            <a:avLst/>
          </a:prstGeom>
          <a:noFill/>
          <a:ln/>
        </p:spPr>
        <p:txBody>
          <a:bodyPr wrap="square" rtlCol="0" anchor="ctr"/>
          <a:lstStyle/>
          <a:p>
            <a:pPr marL="0" indent="0" algn="ctr">
              <a:buNone/>
            </a:pPr>
            <a:r>
              <a:rPr lang="en-US" sz="1000" kern="0" spc="100" dirty="0">
                <a:solidFill>
                  <a:srgbClr val="CADCFC"/>
                </a:solidFill>
                <a:latin typeface="Calibri" pitchFamily="34" charset="0"/>
                <a:ea typeface="Calibri" pitchFamily="34" charset="-122"/>
                <a:cs typeface="Calibri" pitchFamily="34" charset="-120"/>
              </a:rPr>
              <a:t>Phase 3</a:t>
            </a:r>
            <a:endParaRPr lang="en-US" sz="1000" dirty="0"/>
          </a:p>
        </p:txBody>
      </p:sp>
      <p:sp>
        <p:nvSpPr>
          <p:cNvPr id="25" name="Text 23"/>
          <p:cNvSpPr/>
          <p:nvPr/>
        </p:nvSpPr>
        <p:spPr>
          <a:xfrm>
            <a:off x="4617720" y="2377440"/>
            <a:ext cx="2011680" cy="411480"/>
          </a:xfrm>
          <a:prstGeom prst="rect">
            <a:avLst/>
          </a:prstGeom>
          <a:noFill/>
          <a:ln/>
        </p:spPr>
        <p:txBody>
          <a:bodyPr wrap="square" rtlCol="0" anchor="ctr"/>
          <a:lstStyle/>
          <a:p>
            <a:pPr marL="0" indent="0" algn="ctr">
              <a:buNone/>
            </a:pPr>
            <a:r>
              <a:rPr lang="en-US" sz="1300" b="1" dirty="0">
                <a:solidFill>
                  <a:srgbClr val="FFFFFF"/>
                </a:solidFill>
                <a:latin typeface="Verdana" pitchFamily="32" charset="0"/>
                <a:ea typeface="Verdana" pitchFamily="32" charset="-122"/>
                <a:cs typeface="Verdana" pitchFamily="32" charset="-120"/>
              </a:rPr>
              <a:t>Hardened Deployment</a:t>
            </a:r>
            <a:endParaRPr lang="en-US" sz="1300" dirty="0"/>
          </a:p>
        </p:txBody>
      </p:sp>
      <p:sp>
        <p:nvSpPr>
          <p:cNvPr id="26" name="Text 24"/>
          <p:cNvSpPr/>
          <p:nvPr/>
        </p:nvSpPr>
        <p:spPr>
          <a:xfrm>
            <a:off x="4617720" y="2788920"/>
            <a:ext cx="2011680" cy="256032"/>
          </a:xfrm>
          <a:prstGeom prst="rect">
            <a:avLst/>
          </a:prstGeom>
          <a:noFill/>
          <a:ln/>
        </p:spPr>
        <p:txBody>
          <a:bodyPr wrap="square" rtlCol="0" anchor="ctr"/>
          <a:lstStyle/>
          <a:p>
            <a:pPr marL="0" indent="0" algn="ctr">
              <a:buNone/>
            </a:pPr>
            <a:r>
              <a:rPr lang="en-US" sz="950" i="1" dirty="0">
                <a:solidFill>
                  <a:srgbClr val="CADCFC"/>
                </a:solidFill>
                <a:latin typeface="Calibri" pitchFamily="34" charset="0"/>
                <a:ea typeface="Calibri" pitchFamily="34" charset="-122"/>
                <a:cs typeface="Calibri" pitchFamily="34" charset="-120"/>
              </a:rPr>
              <a:t>24–48 months</a:t>
            </a:r>
            <a:endParaRPr lang="en-US" sz="950" dirty="0"/>
          </a:p>
        </p:txBody>
      </p:sp>
      <p:sp>
        <p:nvSpPr>
          <p:cNvPr id="27" name="Shape 25"/>
          <p:cNvSpPr/>
          <p:nvPr/>
        </p:nvSpPr>
        <p:spPr>
          <a:xfrm>
            <a:off x="4892040" y="3090672"/>
            <a:ext cx="1463040" cy="27432"/>
          </a:xfrm>
          <a:prstGeom prst="rect">
            <a:avLst/>
          </a:prstGeom>
          <a:solidFill>
            <a:srgbClr val="FFFFFF">
              <a:alpha val="40000"/>
            </a:srgbClr>
          </a:solidFill>
          <a:ln w="12700">
            <a:solidFill>
              <a:srgbClr val="FFFFFF">
                <a:alpha val="40000"/>
              </a:srgbClr>
            </a:solidFill>
            <a:prstDash val="solid"/>
          </a:ln>
        </p:spPr>
      </p:sp>
      <p:sp>
        <p:nvSpPr>
          <p:cNvPr id="28" name="Text 26"/>
          <p:cNvSpPr/>
          <p:nvPr/>
        </p:nvSpPr>
        <p:spPr>
          <a:xfrm>
            <a:off x="4727448" y="3163824"/>
            <a:ext cx="1792224" cy="1554480"/>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TMO PCIe enforcement card deployed. Air-gapped appliance under CERN OHL. Full domain rule set coverage across all twelve domains.</a:t>
            </a:r>
            <a:endParaRPr lang="en-US" sz="950" dirty="0"/>
          </a:p>
        </p:txBody>
      </p:sp>
      <p:sp>
        <p:nvSpPr>
          <p:cNvPr id="29" name="Shape 27"/>
          <p:cNvSpPr/>
          <p:nvPr/>
        </p:nvSpPr>
        <p:spPr>
          <a:xfrm>
            <a:off x="6766560" y="1234440"/>
            <a:ext cx="2011680" cy="3566160"/>
          </a:xfrm>
          <a:prstGeom prst="roundRect">
            <a:avLst>
              <a:gd name="adj" fmla="val 4545"/>
            </a:avLst>
          </a:prstGeom>
          <a:solidFill>
            <a:srgbClr val="162B4D"/>
          </a:solidFill>
          <a:ln/>
        </p:spPr>
      </p:sp>
      <p:sp>
        <p:nvSpPr>
          <p:cNvPr id="30" name="Shape 28"/>
          <p:cNvSpPr/>
          <p:nvPr/>
        </p:nvSpPr>
        <p:spPr>
          <a:xfrm>
            <a:off x="7452360" y="1371600"/>
            <a:ext cx="640080" cy="640080"/>
          </a:xfrm>
          <a:prstGeom prst="ellipse">
            <a:avLst/>
          </a:prstGeom>
          <a:solidFill>
            <a:srgbClr val="FFFFFF">
              <a:alpha val="80000"/>
            </a:srgbClr>
          </a:solidFill>
          <a:ln/>
        </p:spPr>
      </p:sp>
      <p:sp>
        <p:nvSpPr>
          <p:cNvPr id="31" name="Text 29"/>
          <p:cNvSpPr/>
          <p:nvPr/>
        </p:nvSpPr>
        <p:spPr>
          <a:xfrm>
            <a:off x="7452360" y="137160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Verdana" pitchFamily="32" charset="0"/>
                <a:ea typeface="Verdana" pitchFamily="32" charset="-122"/>
                <a:cs typeface="Verdana" pitchFamily="32" charset="-120"/>
              </a:rPr>
              <a:t>4</a:t>
            </a:r>
            <a:endParaRPr lang="en-US" sz="2200" dirty="0"/>
          </a:p>
        </p:txBody>
      </p:sp>
      <p:sp>
        <p:nvSpPr>
          <p:cNvPr id="32" name="Text 30"/>
          <p:cNvSpPr/>
          <p:nvPr/>
        </p:nvSpPr>
        <p:spPr>
          <a:xfrm>
            <a:off x="6766560" y="2103120"/>
            <a:ext cx="2011680" cy="274320"/>
          </a:xfrm>
          <a:prstGeom prst="rect">
            <a:avLst/>
          </a:prstGeom>
          <a:noFill/>
          <a:ln/>
        </p:spPr>
        <p:txBody>
          <a:bodyPr wrap="square" rtlCol="0" anchor="ctr"/>
          <a:lstStyle/>
          <a:p>
            <a:pPr marL="0" indent="0" algn="ctr">
              <a:buNone/>
            </a:pPr>
            <a:r>
              <a:rPr lang="en-US" sz="1000" kern="0" spc="100" dirty="0">
                <a:solidFill>
                  <a:srgbClr val="CADCFC"/>
                </a:solidFill>
                <a:latin typeface="Calibri" pitchFamily="34" charset="0"/>
                <a:ea typeface="Calibri" pitchFamily="34" charset="-122"/>
                <a:cs typeface="Calibri" pitchFamily="34" charset="-120"/>
              </a:rPr>
              <a:t>Phase 4</a:t>
            </a:r>
            <a:endParaRPr lang="en-US" sz="1000" dirty="0"/>
          </a:p>
        </p:txBody>
      </p:sp>
      <p:sp>
        <p:nvSpPr>
          <p:cNvPr id="33" name="Text 31"/>
          <p:cNvSpPr/>
          <p:nvPr/>
        </p:nvSpPr>
        <p:spPr>
          <a:xfrm>
            <a:off x="6766560" y="2377440"/>
            <a:ext cx="2011680" cy="411480"/>
          </a:xfrm>
          <a:prstGeom prst="rect">
            <a:avLst/>
          </a:prstGeom>
          <a:noFill/>
          <a:ln/>
        </p:spPr>
        <p:txBody>
          <a:bodyPr wrap="square" rtlCol="0" anchor="ctr"/>
          <a:lstStyle/>
          <a:p>
            <a:pPr marL="0" indent="0" algn="ctr">
              <a:buNone/>
            </a:pPr>
            <a:r>
              <a:rPr lang="en-US" sz="1300" b="1" dirty="0">
                <a:solidFill>
                  <a:srgbClr val="FFFFFF"/>
                </a:solidFill>
                <a:latin typeface="Verdana" pitchFamily="32" charset="0"/>
                <a:ea typeface="Verdana" pitchFamily="32" charset="-122"/>
                <a:cs typeface="Verdana" pitchFamily="32" charset="-120"/>
              </a:rPr>
              <a:t>Silicon Enforcement</a:t>
            </a:r>
            <a:endParaRPr lang="en-US" sz="1300" dirty="0"/>
          </a:p>
        </p:txBody>
      </p:sp>
      <p:sp>
        <p:nvSpPr>
          <p:cNvPr id="34" name="Text 32"/>
          <p:cNvSpPr/>
          <p:nvPr/>
        </p:nvSpPr>
        <p:spPr>
          <a:xfrm>
            <a:off x="6766560" y="2788920"/>
            <a:ext cx="2011680" cy="256032"/>
          </a:xfrm>
          <a:prstGeom prst="rect">
            <a:avLst/>
          </a:prstGeom>
          <a:noFill/>
          <a:ln/>
        </p:spPr>
        <p:txBody>
          <a:bodyPr wrap="square" rtlCol="0" anchor="ctr"/>
          <a:lstStyle/>
          <a:p>
            <a:pPr marL="0" indent="0" algn="ctr">
              <a:buNone/>
            </a:pPr>
            <a:r>
              <a:rPr lang="en-US" sz="950" i="1" dirty="0">
                <a:solidFill>
                  <a:srgbClr val="CADCFC"/>
                </a:solidFill>
                <a:latin typeface="Calibri" pitchFamily="34" charset="0"/>
                <a:ea typeface="Calibri" pitchFamily="34" charset="-122"/>
                <a:cs typeface="Calibri" pitchFamily="34" charset="-120"/>
              </a:rPr>
              <a:t>48–72 months</a:t>
            </a:r>
            <a:endParaRPr lang="en-US" sz="950" dirty="0"/>
          </a:p>
        </p:txBody>
      </p:sp>
      <p:sp>
        <p:nvSpPr>
          <p:cNvPr id="35" name="Shape 33"/>
          <p:cNvSpPr/>
          <p:nvPr/>
        </p:nvSpPr>
        <p:spPr>
          <a:xfrm>
            <a:off x="7040880" y="3090672"/>
            <a:ext cx="1463040" cy="27432"/>
          </a:xfrm>
          <a:prstGeom prst="rect">
            <a:avLst/>
          </a:prstGeom>
          <a:solidFill>
            <a:srgbClr val="FFFFFF">
              <a:alpha val="40000"/>
            </a:srgbClr>
          </a:solidFill>
          <a:ln w="12700">
            <a:solidFill>
              <a:srgbClr val="FFFFFF">
                <a:alpha val="40000"/>
              </a:srgbClr>
            </a:solidFill>
            <a:prstDash val="solid"/>
          </a:ln>
        </p:spPr>
      </p:sp>
      <p:sp>
        <p:nvSpPr>
          <p:cNvPr id="36" name="Text 34"/>
          <p:cNvSpPr/>
          <p:nvPr/>
        </p:nvSpPr>
        <p:spPr>
          <a:xfrm>
            <a:off x="6876288" y="3163824"/>
            <a:ext cx="1792224" cy="1554480"/>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HACK core embedded in AI accelerator silicon. Government procurement mandates. Universal silicon-level AI governance enforcement.</a:t>
            </a:r>
            <a:endParaRPr lang="en-US" sz="950" dirty="0"/>
          </a:p>
        </p:txBody>
      </p:sp>
      <p:sp>
        <p:nvSpPr>
          <p:cNvPr id="37" name="Shape 35"/>
          <p:cNvSpPr/>
          <p:nvPr/>
        </p:nvSpPr>
        <p:spPr>
          <a:xfrm>
            <a:off x="2331720" y="3017520"/>
            <a:ext cx="137160" cy="0"/>
          </a:xfrm>
          <a:prstGeom prst="line">
            <a:avLst/>
          </a:prstGeom>
          <a:noFill/>
          <a:ln w="25400">
            <a:solidFill>
              <a:srgbClr val="E2E8F0"/>
            </a:solidFill>
            <a:prstDash val="solid"/>
          </a:ln>
        </p:spPr>
      </p:sp>
      <p:sp>
        <p:nvSpPr>
          <p:cNvPr id="38" name="Shape 36"/>
          <p:cNvSpPr/>
          <p:nvPr/>
        </p:nvSpPr>
        <p:spPr>
          <a:xfrm>
            <a:off x="4480560" y="3017520"/>
            <a:ext cx="137160" cy="0"/>
          </a:xfrm>
          <a:prstGeom prst="line">
            <a:avLst/>
          </a:prstGeom>
          <a:noFill/>
          <a:ln w="25400">
            <a:solidFill>
              <a:srgbClr val="E2E8F0"/>
            </a:solidFill>
            <a:prstDash val="solid"/>
          </a:ln>
        </p:spPr>
      </p:sp>
      <p:sp>
        <p:nvSpPr>
          <p:cNvPr id="39" name="Shape 37"/>
          <p:cNvSpPr/>
          <p:nvPr/>
        </p:nvSpPr>
        <p:spPr>
          <a:xfrm>
            <a:off x="6629400" y="3017520"/>
            <a:ext cx="137160" cy="0"/>
          </a:xfrm>
          <a:prstGeom prst="line">
            <a:avLst/>
          </a:prstGeom>
          <a:noFill/>
          <a:ln w="25400">
            <a:solidFill>
              <a:srgbClr val="E2E8F0"/>
            </a:solidFill>
            <a:prstDash val="solid"/>
          </a:ln>
        </p:spPr>
      </p:sp>
      <p:sp>
        <p:nvSpPr>
          <p:cNvPr id="40" name="Text 38"/>
          <p:cNvSpPr/>
          <p:nvPr/>
        </p:nvSpPr>
        <p:spPr>
          <a:xfrm>
            <a:off x="365760" y="4800600"/>
            <a:ext cx="8412480" cy="22860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The sandbox generates the evidence base that justifies mandatory adoption. Phase 1 asks: one nation, one domain, twelve months.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15625"/>
            </a:avLst>
          </a:prstGeom>
          <a:solidFill>
            <a:srgbClr val="028090"/>
          </a:solidFill>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WHY NOW</a:t>
            </a:r>
            <a:endParaRPr lang="en-US" sz="900" dirty="0"/>
          </a:p>
        </p:txBody>
      </p:sp>
      <p:sp>
        <p:nvSpPr>
          <p:cNvPr id="4" name="Text 2"/>
          <p:cNvSpPr/>
          <p:nvPr/>
        </p:nvSpPr>
        <p:spPr>
          <a:xfrm>
            <a:off x="365760" y="548640"/>
            <a:ext cx="8412480" cy="475488"/>
          </a:xfrm>
          <a:prstGeom prst="rect">
            <a:avLst/>
          </a:prstGeom>
          <a:noFill/>
          <a:ln/>
        </p:spPr>
        <p:txBody>
          <a:bodyPr wrap="square" rtlCol="0" anchor="ctr"/>
          <a:lstStyle/>
          <a:p>
            <a:pPr marL="0" indent="0">
              <a:buNone/>
            </a:pPr>
            <a:r>
              <a:rPr lang="en-US" sz="2800" b="1" dirty="0">
                <a:solidFill>
                  <a:srgbClr val="1F3864"/>
                </a:solidFill>
                <a:latin typeface="Verdana" pitchFamily="32" charset="0"/>
                <a:ea typeface="Verdana" pitchFamily="32" charset="-122"/>
                <a:cs typeface="Verdana" pitchFamily="32" charset="-120"/>
              </a:rPr>
              <a:t>The Field Has Arrived at the Gate</a:t>
            </a:r>
            <a:endParaRPr lang="en-US" sz="2800" dirty="0"/>
          </a:p>
        </p:txBody>
      </p:sp>
      <p:sp>
        <p:nvSpPr>
          <p:cNvPr id="5" name="Shape 3"/>
          <p:cNvSpPr/>
          <p:nvPr/>
        </p:nvSpPr>
        <p:spPr>
          <a:xfrm>
            <a:off x="365760" y="1234440"/>
            <a:ext cx="5029200" cy="1078992"/>
          </a:xfrm>
          <a:prstGeom prst="roundRect">
            <a:avLst>
              <a:gd name="adj" fmla="val 6780"/>
            </a:avLst>
          </a:prstGeom>
          <a:solidFill>
            <a:srgbClr val="F4F6F9"/>
          </a:solidFill>
          <a:ln/>
          <a:effectLst>
            <a:outerShdw blurRad="101600" dist="38100" dir="2700000" algn="bl" rotWithShape="0">
              <a:srgbClr val="000000">
                <a:alpha val="13000"/>
              </a:srgbClr>
            </a:outerShdw>
          </a:effectLst>
        </p:spPr>
      </p:sp>
      <p:sp>
        <p:nvSpPr>
          <p:cNvPr id="6" name="Text 4"/>
          <p:cNvSpPr/>
          <p:nvPr/>
        </p:nvSpPr>
        <p:spPr>
          <a:xfrm>
            <a:off x="502920" y="1298448"/>
            <a:ext cx="4754880" cy="274320"/>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Dario Amodei, Anthropic (June 10, 2026)</a:t>
            </a:r>
            <a:endParaRPr lang="en-US" sz="1000" dirty="0"/>
          </a:p>
        </p:txBody>
      </p:sp>
      <p:sp>
        <p:nvSpPr>
          <p:cNvPr id="7" name="Text 5"/>
          <p:cNvSpPr/>
          <p:nvPr/>
        </p:nvSpPr>
        <p:spPr>
          <a:xfrm>
            <a:off x="502920" y="1572768"/>
            <a:ext cx="4754880" cy="658368"/>
          </a:xfrm>
          <a:prstGeom prst="rect">
            <a:avLst/>
          </a:prstGeom>
          <a:noFill/>
          <a:ln/>
        </p:spPr>
        <p:txBody>
          <a:bodyPr wrap="square" rtlCol="0" anchor="ctr"/>
          <a:lstStyle/>
          <a:p>
            <a:pPr marL="0" indent="0">
              <a:buNone/>
            </a:pPr>
            <a:r>
              <a:rPr lang="en-US" sz="1000" dirty="0">
                <a:solidFill>
                  <a:srgbClr val="1F3864"/>
                </a:solidFill>
                <a:latin typeface="Calibri" pitchFamily="34" charset="0"/>
                <a:ea typeface="Calibri" pitchFamily="34" charset="-122"/>
                <a:cs typeface="Calibri" pitchFamily="34" charset="-120"/>
              </a:rPr>
              <a:t>"Policy on the AI Exponential" — mandatory third-party testing, government power to block unsafe releases, IAEA-style coalition, G7 agenda. Backed by $350M.</a:t>
            </a:r>
            <a:endParaRPr lang="en-US" sz="1000" dirty="0"/>
          </a:p>
        </p:txBody>
      </p:sp>
      <p:sp>
        <p:nvSpPr>
          <p:cNvPr id="8" name="Shape 6"/>
          <p:cNvSpPr/>
          <p:nvPr/>
        </p:nvSpPr>
        <p:spPr>
          <a:xfrm>
            <a:off x="365760" y="2423160"/>
            <a:ext cx="5029200" cy="1078992"/>
          </a:xfrm>
          <a:prstGeom prst="roundRect">
            <a:avLst>
              <a:gd name="adj" fmla="val 6780"/>
            </a:avLst>
          </a:prstGeom>
          <a:solidFill>
            <a:srgbClr val="F4F6F9"/>
          </a:solidFill>
          <a:ln/>
          <a:effectLst>
            <a:outerShdw blurRad="101600" dist="38100" dir="2700000" algn="bl" rotWithShape="0">
              <a:srgbClr val="000000">
                <a:alpha val="13000"/>
              </a:srgbClr>
            </a:outerShdw>
          </a:effectLst>
        </p:spPr>
      </p:sp>
      <p:sp>
        <p:nvSpPr>
          <p:cNvPr id="9" name="Text 7"/>
          <p:cNvSpPr/>
          <p:nvPr/>
        </p:nvSpPr>
        <p:spPr>
          <a:xfrm>
            <a:off x="502920" y="2487168"/>
            <a:ext cx="4754880" cy="274320"/>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Pope Leo XIV (May 2026)</a:t>
            </a:r>
            <a:endParaRPr lang="en-US" sz="1000" dirty="0"/>
          </a:p>
        </p:txBody>
      </p:sp>
      <p:sp>
        <p:nvSpPr>
          <p:cNvPr id="10" name="Text 8"/>
          <p:cNvSpPr/>
          <p:nvPr/>
        </p:nvSpPr>
        <p:spPr>
          <a:xfrm>
            <a:off x="502920" y="2761488"/>
            <a:ext cx="4754880" cy="658368"/>
          </a:xfrm>
          <a:prstGeom prst="rect">
            <a:avLst/>
          </a:prstGeom>
          <a:noFill/>
          <a:ln/>
        </p:spPr>
        <p:txBody>
          <a:bodyPr wrap="square" rtlCol="0" anchor="ctr"/>
          <a:lstStyle/>
          <a:p>
            <a:pPr marL="0" indent="0">
              <a:buNone/>
            </a:pPr>
            <a:r>
              <a:rPr lang="en-US" sz="1000" dirty="0">
                <a:solidFill>
                  <a:srgbClr val="1F3864"/>
                </a:solidFill>
                <a:latin typeface="Calibri" pitchFamily="34" charset="0"/>
                <a:ea typeface="Calibri" pitchFamily="34" charset="-122"/>
                <a:cs typeface="Calibri" pitchFamily="34" charset="-120"/>
              </a:rPr>
              <a:t>Magnifica Humanitas — "not permissible" to entrust lethal AI decisions. Calls for robust legal frameworks. Rome Call principles now elevated to binding moral obligation.</a:t>
            </a:r>
            <a:endParaRPr lang="en-US" sz="1000" dirty="0"/>
          </a:p>
        </p:txBody>
      </p:sp>
      <p:sp>
        <p:nvSpPr>
          <p:cNvPr id="11" name="Shape 9"/>
          <p:cNvSpPr/>
          <p:nvPr/>
        </p:nvSpPr>
        <p:spPr>
          <a:xfrm>
            <a:off x="365760" y="3611880"/>
            <a:ext cx="5029200" cy="1078992"/>
          </a:xfrm>
          <a:prstGeom prst="roundRect">
            <a:avLst>
              <a:gd name="adj" fmla="val 6780"/>
            </a:avLst>
          </a:prstGeom>
          <a:solidFill>
            <a:srgbClr val="F4F6F9"/>
          </a:solidFill>
          <a:ln/>
          <a:effectLst>
            <a:outerShdw blurRad="101600" dist="38100" dir="2700000" algn="bl" rotWithShape="0">
              <a:srgbClr val="000000">
                <a:alpha val="13000"/>
              </a:srgbClr>
            </a:outerShdw>
          </a:effectLst>
        </p:spPr>
      </p:sp>
      <p:sp>
        <p:nvSpPr>
          <p:cNvPr id="12" name="Text 10"/>
          <p:cNvSpPr/>
          <p:nvPr/>
        </p:nvSpPr>
        <p:spPr>
          <a:xfrm>
            <a:off x="502920" y="3675888"/>
            <a:ext cx="4754880" cy="274320"/>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28 governments (2023)</a:t>
            </a:r>
            <a:endParaRPr lang="en-US" sz="1000" dirty="0"/>
          </a:p>
        </p:txBody>
      </p:sp>
      <p:sp>
        <p:nvSpPr>
          <p:cNvPr id="13" name="Text 11"/>
          <p:cNvSpPr/>
          <p:nvPr/>
        </p:nvSpPr>
        <p:spPr>
          <a:xfrm>
            <a:off x="502920" y="3950208"/>
            <a:ext cx="4754880" cy="658368"/>
          </a:xfrm>
          <a:prstGeom prst="rect">
            <a:avLst/>
          </a:prstGeom>
          <a:noFill/>
          <a:ln/>
        </p:spPr>
        <p:txBody>
          <a:bodyPr wrap="square" rtlCol="0" anchor="ctr"/>
          <a:lstStyle/>
          <a:p>
            <a:pPr marL="0" indent="0">
              <a:buNone/>
            </a:pPr>
            <a:r>
              <a:rPr lang="en-US" sz="1000" dirty="0">
                <a:solidFill>
                  <a:srgbClr val="1F3864"/>
                </a:solidFill>
                <a:latin typeface="Calibri" pitchFamily="34" charset="0"/>
                <a:ea typeface="Calibri" pitchFamily="34" charset="-122"/>
                <a:cs typeface="Calibri" pitchFamily="34" charset="-120"/>
              </a:rPr>
              <a:t>Bletchley Declaration — multilateral acknowledgement of frontier AI risk. No enforcement mechanism. The gap the Judge Protocol fills.</a:t>
            </a:r>
            <a:endParaRPr lang="en-US" sz="1000" dirty="0"/>
          </a:p>
        </p:txBody>
      </p:sp>
      <p:sp>
        <p:nvSpPr>
          <p:cNvPr id="14" name="Shape 12"/>
          <p:cNvSpPr/>
          <p:nvPr/>
        </p:nvSpPr>
        <p:spPr>
          <a:xfrm>
            <a:off x="5623560" y="1234440"/>
            <a:ext cx="3154680" cy="3520440"/>
          </a:xfrm>
          <a:prstGeom prst="roundRect">
            <a:avLst>
              <a:gd name="adj" fmla="val 2899"/>
            </a:avLst>
          </a:prstGeom>
          <a:solidFill>
            <a:srgbClr val="1F3864"/>
          </a:solidFill>
          <a:ln/>
        </p:spPr>
      </p:sp>
      <p:sp>
        <p:nvSpPr>
          <p:cNvPr id="15" name="Text 13"/>
          <p:cNvSpPr/>
          <p:nvPr/>
        </p:nvSpPr>
        <p:spPr>
          <a:xfrm>
            <a:off x="5623560" y="1325880"/>
            <a:ext cx="3154680" cy="365760"/>
          </a:xfrm>
          <a:prstGeom prst="rect">
            <a:avLst/>
          </a:prstGeom>
          <a:noFill/>
          <a:ln/>
        </p:spPr>
        <p:txBody>
          <a:bodyPr wrap="square" rtlCol="0" anchor="ctr"/>
          <a:lstStyle/>
          <a:p>
            <a:pPr marL="0" indent="0" algn="ctr">
              <a:buNone/>
            </a:pPr>
            <a:r>
              <a:rPr lang="en-US" sz="1600" b="1" dirty="0">
                <a:solidFill>
                  <a:srgbClr val="FFFFFF"/>
                </a:solidFill>
                <a:latin typeface="Verdana" pitchFamily="32" charset="0"/>
                <a:ea typeface="Verdana" pitchFamily="32" charset="-122"/>
                <a:cs typeface="Verdana" pitchFamily="32" charset="-120"/>
              </a:rPr>
              <a:t>The Gap</a:t>
            </a:r>
            <a:endParaRPr lang="en-US" sz="1600" dirty="0"/>
          </a:p>
        </p:txBody>
      </p:sp>
      <p:sp>
        <p:nvSpPr>
          <p:cNvPr id="16" name="Shape 14"/>
          <p:cNvSpPr/>
          <p:nvPr/>
        </p:nvSpPr>
        <p:spPr>
          <a:xfrm>
            <a:off x="5943600" y="1719072"/>
            <a:ext cx="2514600" cy="27432"/>
          </a:xfrm>
          <a:prstGeom prst="rect">
            <a:avLst/>
          </a:prstGeom>
          <a:solidFill>
            <a:srgbClr val="028090"/>
          </a:solidFill>
          <a:ln w="12700">
            <a:solidFill>
              <a:srgbClr val="028090"/>
            </a:solidFill>
            <a:prstDash val="solid"/>
          </a:ln>
        </p:spPr>
      </p:sp>
      <p:sp>
        <p:nvSpPr>
          <p:cNvPr id="17" name="Text 15"/>
          <p:cNvSpPr/>
          <p:nvPr/>
        </p:nvSpPr>
        <p:spPr>
          <a:xfrm>
            <a:off x="5760720" y="1810512"/>
            <a:ext cx="2834640" cy="274320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Testing gates the release.</a:t>
            </a:r>
            <a:endParaRPr lang="en-US" sz="1150" dirty="0"/>
          </a:p>
          <a:p>
            <a:pPr marL="0" indent="0">
              <a:buNone/>
            </a:pP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Authorization gates the action.</a:t>
            </a:r>
            <a:endParaRPr lang="en-US" sz="1150" dirty="0"/>
          </a:p>
          <a:p>
            <a:pPr marL="0" indent="0">
              <a:buNone/>
            </a:pP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Every proposed regime lacks a runtime verification layer.</a:t>
            </a:r>
          </a:p>
          <a:p>
            <a:pPr marL="0" indent="0">
              <a:buNone/>
            </a:pPr>
            <a:endParaRPr lang="en-US" sz="1150" dirty="0">
              <a:solidFill>
                <a:srgbClr val="FFFFFF"/>
              </a:solidFill>
              <a:latin typeface="Calibri" pitchFamily="34" charset="0"/>
              <a:ea typeface="Calibri" pitchFamily="34" charset="-122"/>
              <a:cs typeface="Calibri" pitchFamily="34" charset="-120"/>
            </a:endParaRPr>
          </a:p>
          <a:p>
            <a:pPr marL="0" indent="0">
              <a:buNone/>
            </a:pPr>
            <a:r>
              <a:rPr lang="en-US" sz="1150" dirty="0">
                <a:solidFill>
                  <a:srgbClr val="FFFFFF"/>
                </a:solidFill>
                <a:latin typeface="Calibri" pitchFamily="34" charset="0"/>
                <a:ea typeface="Calibri" pitchFamily="34" charset="-122"/>
                <a:cs typeface="Calibri" pitchFamily="34" charset="-120"/>
              </a:rPr>
              <a:t>When one government can switch off global AI without control — June 2026, US export directive, Fable 5 — the case for international authorization infrastructure is no longer theoretical</a:t>
            </a:r>
          </a:p>
          <a:p>
            <a:pPr marL="0" indent="0">
              <a:buNone/>
            </a:pP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The Judge Protocol — published March 2026 — specifies one.</a:t>
            </a:r>
            <a:endParaRPr lang="en-US" sz="1150" dirty="0"/>
          </a:p>
        </p:txBody>
      </p:sp>
      <p:sp>
        <p:nvSpPr>
          <p:cNvPr id="18" name="Text 16"/>
          <p:cNvSpPr/>
          <p:nvPr/>
        </p:nvSpPr>
        <p:spPr>
          <a:xfrm>
            <a:off x="365760" y="4800600"/>
            <a:ext cx="8412480" cy="22860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DOI: 10.5281/zenodo.20401666 — timestamped March 2026. Prior art predates the June 10 essay.</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502920"/>
          </a:xfrm>
          <a:prstGeom prst="rect">
            <a:avLst/>
          </a:prstGeom>
          <a:noFill/>
          <a:ln/>
        </p:spPr>
        <p:txBody>
          <a:bodyPr wrap="square" rtlCol="0" anchor="ctr"/>
          <a:lstStyle/>
          <a:p>
            <a:pPr marL="0" indent="0" algn="ctr">
              <a:buNone/>
            </a:pPr>
            <a:r>
              <a:rPr lang="en-US" sz="3200" b="1" dirty="0">
                <a:solidFill>
                  <a:srgbClr val="FFFFFF"/>
                </a:solidFill>
                <a:latin typeface="Verdana" pitchFamily="32" charset="0"/>
                <a:ea typeface="Verdana" pitchFamily="32" charset="-122"/>
                <a:cs typeface="Verdana" pitchFamily="32" charset="-120"/>
              </a:rPr>
              <a:t>Three Open Invitations</a:t>
            </a:r>
            <a:endParaRPr lang="en-US" sz="3200" dirty="0"/>
          </a:p>
        </p:txBody>
      </p:sp>
      <p:sp>
        <p:nvSpPr>
          <p:cNvPr id="3" name="Shape 1"/>
          <p:cNvSpPr/>
          <p:nvPr/>
        </p:nvSpPr>
        <p:spPr>
          <a:xfrm>
            <a:off x="411480" y="1143000"/>
            <a:ext cx="2633472" cy="3383280"/>
          </a:xfrm>
          <a:prstGeom prst="roundRect">
            <a:avLst>
              <a:gd name="adj" fmla="val 3472"/>
            </a:avLst>
          </a:prstGeom>
          <a:solidFill>
            <a:srgbClr val="028090"/>
          </a:solidFill>
          <a:ln/>
        </p:spPr>
      </p:sp>
      <p:sp>
        <p:nvSpPr>
          <p:cNvPr id="4" name="Shape 2"/>
          <p:cNvSpPr/>
          <p:nvPr/>
        </p:nvSpPr>
        <p:spPr>
          <a:xfrm>
            <a:off x="1362456" y="1261872"/>
            <a:ext cx="731520" cy="731520"/>
          </a:xfrm>
          <a:prstGeom prst="ellipse">
            <a:avLst/>
          </a:prstGeom>
          <a:solidFill>
            <a:srgbClr val="FFFFFF">
              <a:alpha val="80000"/>
            </a:srgbClr>
          </a:solidFill>
          <a:ln/>
        </p:spPr>
      </p:sp>
      <p:sp>
        <p:nvSpPr>
          <p:cNvPr id="5" name="Text 3"/>
          <p:cNvSpPr/>
          <p:nvPr/>
        </p:nvSpPr>
        <p:spPr>
          <a:xfrm>
            <a:off x="1362456" y="1261872"/>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Verdana" pitchFamily="32" charset="0"/>
                <a:ea typeface="Verdana" pitchFamily="32" charset="-122"/>
                <a:cs typeface="Verdana" pitchFamily="32" charset="-120"/>
              </a:rPr>
              <a:t>1</a:t>
            </a:r>
            <a:endParaRPr lang="en-US" sz="2400" dirty="0"/>
          </a:p>
        </p:txBody>
      </p:sp>
      <p:sp>
        <p:nvSpPr>
          <p:cNvPr id="6" name="Text 4"/>
          <p:cNvSpPr/>
          <p:nvPr/>
        </p:nvSpPr>
        <p:spPr>
          <a:xfrm>
            <a:off x="502920" y="2103120"/>
            <a:ext cx="2450592" cy="548640"/>
          </a:xfrm>
          <a:prstGeom prst="rect">
            <a:avLst/>
          </a:prstGeom>
          <a:noFill/>
          <a:ln/>
        </p:spPr>
        <p:txBody>
          <a:bodyPr wrap="square" rtlCol="0" anchor="ctr"/>
          <a:lstStyle/>
          <a:p>
            <a:pPr marL="0" indent="0" algn="ctr">
              <a:buNone/>
            </a:pPr>
            <a:r>
              <a:rPr lang="en-US" sz="1200" b="1" dirty="0">
                <a:solidFill>
                  <a:srgbClr val="FFFFFF"/>
                </a:solidFill>
                <a:latin typeface="Verdana" pitchFamily="32" charset="0"/>
                <a:ea typeface="Verdana" pitchFamily="32" charset="-122"/>
                <a:cs typeface="Verdana" pitchFamily="32" charset="-120"/>
              </a:rPr>
              <a:t>Founding Sandbox Partner</a:t>
            </a:r>
            <a:endParaRPr lang="en-US" sz="1200" dirty="0"/>
          </a:p>
        </p:txBody>
      </p:sp>
      <p:sp>
        <p:nvSpPr>
          <p:cNvPr id="7" name="Shape 5"/>
          <p:cNvSpPr/>
          <p:nvPr/>
        </p:nvSpPr>
        <p:spPr>
          <a:xfrm>
            <a:off x="777240" y="2697480"/>
            <a:ext cx="1901952" cy="27432"/>
          </a:xfrm>
          <a:prstGeom prst="rect">
            <a:avLst/>
          </a:prstGeom>
          <a:solidFill>
            <a:srgbClr val="FFFFFF">
              <a:alpha val="40000"/>
            </a:srgbClr>
          </a:solidFill>
          <a:ln w="12700">
            <a:solidFill>
              <a:srgbClr val="FFFFFF">
                <a:alpha val="40000"/>
              </a:srgbClr>
            </a:solidFill>
            <a:prstDash val="solid"/>
          </a:ln>
        </p:spPr>
      </p:sp>
      <p:sp>
        <p:nvSpPr>
          <p:cNvPr id="8" name="Text 6"/>
          <p:cNvSpPr/>
          <p:nvPr/>
        </p:nvSpPr>
        <p:spPr>
          <a:xfrm>
            <a:off x="521208" y="2788920"/>
            <a:ext cx="2414016" cy="1645920"/>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One national authority. One domain. Twelve months. Deploy the Decision Gate Platform, publish the evidence base, become the founding node of the global network. Sweden is the natural first mover.</a:t>
            </a:r>
            <a:endParaRPr lang="en-US" sz="950" dirty="0"/>
          </a:p>
        </p:txBody>
      </p:sp>
      <p:sp>
        <p:nvSpPr>
          <p:cNvPr id="9" name="Shape 7"/>
          <p:cNvSpPr/>
          <p:nvPr/>
        </p:nvSpPr>
        <p:spPr>
          <a:xfrm>
            <a:off x="3227832" y="1143000"/>
            <a:ext cx="2633472" cy="3383280"/>
          </a:xfrm>
          <a:prstGeom prst="roundRect">
            <a:avLst>
              <a:gd name="adj" fmla="val 3472"/>
            </a:avLst>
          </a:prstGeom>
          <a:solidFill>
            <a:srgbClr val="025F6B"/>
          </a:solidFill>
          <a:ln/>
        </p:spPr>
      </p:sp>
      <p:sp>
        <p:nvSpPr>
          <p:cNvPr id="10" name="Shape 8"/>
          <p:cNvSpPr/>
          <p:nvPr/>
        </p:nvSpPr>
        <p:spPr>
          <a:xfrm>
            <a:off x="4178808" y="1261872"/>
            <a:ext cx="731520" cy="731520"/>
          </a:xfrm>
          <a:prstGeom prst="ellipse">
            <a:avLst/>
          </a:prstGeom>
          <a:solidFill>
            <a:srgbClr val="FFFFFF">
              <a:alpha val="80000"/>
            </a:srgbClr>
          </a:solidFill>
          <a:ln/>
        </p:spPr>
      </p:sp>
      <p:sp>
        <p:nvSpPr>
          <p:cNvPr id="11" name="Text 9"/>
          <p:cNvSpPr/>
          <p:nvPr/>
        </p:nvSpPr>
        <p:spPr>
          <a:xfrm>
            <a:off x="4178808" y="1261872"/>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Verdana" pitchFamily="32" charset="0"/>
                <a:ea typeface="Verdana" pitchFamily="32" charset="-122"/>
                <a:cs typeface="Verdana" pitchFamily="32" charset="-120"/>
              </a:rPr>
              <a:t>2</a:t>
            </a:r>
            <a:endParaRPr lang="en-US" sz="2400" dirty="0"/>
          </a:p>
        </p:txBody>
      </p:sp>
      <p:sp>
        <p:nvSpPr>
          <p:cNvPr id="12" name="Text 10"/>
          <p:cNvSpPr/>
          <p:nvPr/>
        </p:nvSpPr>
        <p:spPr>
          <a:xfrm>
            <a:off x="3319272" y="2103120"/>
            <a:ext cx="2450592" cy="548640"/>
          </a:xfrm>
          <a:prstGeom prst="rect">
            <a:avLst/>
          </a:prstGeom>
          <a:noFill/>
          <a:ln/>
        </p:spPr>
        <p:txBody>
          <a:bodyPr wrap="square" rtlCol="0" anchor="ctr"/>
          <a:lstStyle/>
          <a:p>
            <a:pPr marL="0" indent="0" algn="ctr">
              <a:buNone/>
            </a:pPr>
            <a:r>
              <a:rPr lang="en-US" sz="1200" b="1" dirty="0">
                <a:solidFill>
                  <a:srgbClr val="FFFFFF"/>
                </a:solidFill>
                <a:latin typeface="Verdana" pitchFamily="32" charset="0"/>
                <a:ea typeface="Verdana" pitchFamily="32" charset="-122"/>
                <a:cs typeface="Verdana" pitchFamily="32" charset="-120"/>
              </a:rPr>
              <a:t>CERN / Hardware Collaboration</a:t>
            </a:r>
            <a:endParaRPr lang="en-US" sz="1200" dirty="0"/>
          </a:p>
        </p:txBody>
      </p:sp>
      <p:sp>
        <p:nvSpPr>
          <p:cNvPr id="13" name="Shape 11"/>
          <p:cNvSpPr/>
          <p:nvPr/>
        </p:nvSpPr>
        <p:spPr>
          <a:xfrm>
            <a:off x="3593592" y="2697480"/>
            <a:ext cx="1901952" cy="27432"/>
          </a:xfrm>
          <a:prstGeom prst="rect">
            <a:avLst/>
          </a:prstGeom>
          <a:solidFill>
            <a:srgbClr val="FFFFFF">
              <a:alpha val="40000"/>
            </a:srgbClr>
          </a:solidFill>
          <a:ln w="12700">
            <a:solidFill>
              <a:srgbClr val="FFFFFF">
                <a:alpha val="40000"/>
              </a:srgbClr>
            </a:solidFill>
            <a:prstDash val="solid"/>
          </a:ln>
        </p:spPr>
      </p:sp>
      <p:sp>
        <p:nvSpPr>
          <p:cNvPr id="14" name="Text 12"/>
          <p:cNvSpPr/>
          <p:nvPr/>
        </p:nvSpPr>
        <p:spPr>
          <a:xfrm>
            <a:off x="3337560" y="2788920"/>
            <a:ext cx="2414016" cy="1645920"/>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The HACK specification requires a neutral technical authority. CERN played this role for the Web. HLD Sections 4–8 are open for co-development under CERN OHL-S v2 via Openlab.</a:t>
            </a:r>
            <a:endParaRPr lang="en-US" sz="950" dirty="0"/>
          </a:p>
        </p:txBody>
      </p:sp>
      <p:sp>
        <p:nvSpPr>
          <p:cNvPr id="15" name="Shape 13"/>
          <p:cNvSpPr/>
          <p:nvPr/>
        </p:nvSpPr>
        <p:spPr>
          <a:xfrm>
            <a:off x="6044184" y="1143000"/>
            <a:ext cx="2633472" cy="3383280"/>
          </a:xfrm>
          <a:prstGeom prst="roundRect">
            <a:avLst>
              <a:gd name="adj" fmla="val 3472"/>
            </a:avLst>
          </a:prstGeom>
          <a:solidFill>
            <a:srgbClr val="162B4D"/>
          </a:solidFill>
          <a:ln/>
        </p:spPr>
      </p:sp>
      <p:sp>
        <p:nvSpPr>
          <p:cNvPr id="16" name="Shape 14"/>
          <p:cNvSpPr/>
          <p:nvPr/>
        </p:nvSpPr>
        <p:spPr>
          <a:xfrm>
            <a:off x="6995160" y="1261872"/>
            <a:ext cx="731520" cy="731520"/>
          </a:xfrm>
          <a:prstGeom prst="ellipse">
            <a:avLst/>
          </a:prstGeom>
          <a:solidFill>
            <a:srgbClr val="FFFFFF">
              <a:alpha val="80000"/>
            </a:srgbClr>
          </a:solidFill>
          <a:ln/>
        </p:spPr>
      </p:sp>
      <p:sp>
        <p:nvSpPr>
          <p:cNvPr id="17" name="Text 15"/>
          <p:cNvSpPr/>
          <p:nvPr/>
        </p:nvSpPr>
        <p:spPr>
          <a:xfrm>
            <a:off x="6995160" y="1261872"/>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Verdana" pitchFamily="32" charset="0"/>
                <a:ea typeface="Verdana" pitchFamily="32" charset="-122"/>
                <a:cs typeface="Verdana" pitchFamily="32" charset="-120"/>
              </a:rPr>
              <a:t>3</a:t>
            </a:r>
            <a:endParaRPr lang="en-US" sz="2400" dirty="0"/>
          </a:p>
        </p:txBody>
      </p:sp>
      <p:sp>
        <p:nvSpPr>
          <p:cNvPr id="18" name="Text 16"/>
          <p:cNvSpPr/>
          <p:nvPr/>
        </p:nvSpPr>
        <p:spPr>
          <a:xfrm>
            <a:off x="6135624" y="2103120"/>
            <a:ext cx="2450592" cy="548640"/>
          </a:xfrm>
          <a:prstGeom prst="rect">
            <a:avLst/>
          </a:prstGeom>
          <a:noFill/>
          <a:ln/>
        </p:spPr>
        <p:txBody>
          <a:bodyPr wrap="square" rtlCol="0" anchor="ctr"/>
          <a:lstStyle/>
          <a:p>
            <a:pPr marL="0" indent="0" algn="ctr">
              <a:buNone/>
            </a:pPr>
            <a:r>
              <a:rPr lang="en-US" sz="1200" b="1" dirty="0">
                <a:solidFill>
                  <a:srgbClr val="FFFFFF"/>
                </a:solidFill>
                <a:latin typeface="Verdana" pitchFamily="32" charset="0"/>
                <a:ea typeface="Verdana" pitchFamily="32" charset="-122"/>
                <a:cs typeface="Verdana" pitchFamily="32" charset="-120"/>
              </a:rPr>
              <a:t>Military Exception Working Group</a:t>
            </a:r>
            <a:endParaRPr lang="en-US" sz="1200" dirty="0"/>
          </a:p>
        </p:txBody>
      </p:sp>
      <p:sp>
        <p:nvSpPr>
          <p:cNvPr id="19" name="Shape 17"/>
          <p:cNvSpPr/>
          <p:nvPr/>
        </p:nvSpPr>
        <p:spPr>
          <a:xfrm>
            <a:off x="6409944" y="2697480"/>
            <a:ext cx="1901952" cy="27432"/>
          </a:xfrm>
          <a:prstGeom prst="rect">
            <a:avLst/>
          </a:prstGeom>
          <a:solidFill>
            <a:srgbClr val="FFFFFF">
              <a:alpha val="40000"/>
            </a:srgbClr>
          </a:solidFill>
          <a:ln w="12700">
            <a:solidFill>
              <a:srgbClr val="FFFFFF">
                <a:alpha val="40000"/>
              </a:srgbClr>
            </a:solidFill>
            <a:prstDash val="solid"/>
          </a:ln>
        </p:spPr>
      </p:sp>
      <p:sp>
        <p:nvSpPr>
          <p:cNvPr id="20" name="Text 18"/>
          <p:cNvSpPr/>
          <p:nvPr/>
        </p:nvSpPr>
        <p:spPr>
          <a:xfrm>
            <a:off x="6153912" y="2788920"/>
            <a:ext cx="2414016" cy="1645920"/>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The most sensitive open question. Must be resolved with ICRC, UN GGE on LAWS, and member state defense establishments before v1.0 ratification. Experts invited.</a:t>
            </a:r>
            <a:endParaRPr lang="en-US" sz="950" dirty="0"/>
          </a:p>
        </p:txBody>
      </p:sp>
      <p:sp>
        <p:nvSpPr>
          <p:cNvPr id="21" name="Text 19"/>
          <p:cNvSpPr/>
          <p:nvPr/>
        </p:nvSpPr>
        <p:spPr>
          <a:xfrm>
            <a:off x="548640" y="4709160"/>
            <a:ext cx="8046720" cy="27432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judgeprotocol@pm.me  ·  judgeprotocol.org  ·  DOI: 10.5281/zenodo.20401666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365760" y="13716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365760" y="13716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EA FRAMEWORK</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200" b="1" dirty="0">
                <a:solidFill>
                  <a:srgbClr val="FFFFFF"/>
                </a:solidFill>
                <a:latin typeface="Verdana" pitchFamily="34" charset="0"/>
                <a:ea typeface="Verdana" pitchFamily="34" charset="-122"/>
                <a:cs typeface="Verdana" pitchFamily="34" charset="-120"/>
              </a:rPr>
              <a:t>The Judge Protocol — Enterprise Architecture Framework</a:t>
            </a:r>
            <a:endParaRPr lang="en-US" sz="2200" dirty="0"/>
          </a:p>
        </p:txBody>
      </p:sp>
      <p:sp>
        <p:nvSpPr>
          <p:cNvPr id="5" name="Shape 3"/>
          <p:cNvSpPr/>
          <p:nvPr/>
        </p:nvSpPr>
        <p:spPr>
          <a:xfrm>
            <a:off x="274320" y="1170432"/>
            <a:ext cx="822960" cy="713232"/>
          </a:xfrm>
          <a:prstGeom prst="roundRect">
            <a:avLst>
              <a:gd name="adj" fmla="val 7692"/>
            </a:avLst>
          </a:prstGeom>
          <a:solidFill>
            <a:srgbClr val="1E3A5F"/>
          </a:solidFill>
          <a:ln w="12700">
            <a:solidFill>
              <a:srgbClr val="334155"/>
            </a:solidFill>
            <a:prstDash val="solid"/>
          </a:ln>
        </p:spPr>
      </p:sp>
      <p:sp>
        <p:nvSpPr>
          <p:cNvPr id="6" name="Text 4"/>
          <p:cNvSpPr/>
          <p:nvPr/>
        </p:nvSpPr>
        <p:spPr>
          <a:xfrm>
            <a:off x="274320" y="1170432"/>
            <a:ext cx="822960"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Global</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Layer 3</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IAIA</a:t>
            </a:r>
            <a:endParaRPr lang="en-US" sz="900" dirty="0"/>
          </a:p>
        </p:txBody>
      </p:sp>
      <p:sp>
        <p:nvSpPr>
          <p:cNvPr id="7" name="Shape 5"/>
          <p:cNvSpPr/>
          <p:nvPr/>
        </p:nvSpPr>
        <p:spPr>
          <a:xfrm>
            <a:off x="1152144" y="1170432"/>
            <a:ext cx="1828800" cy="713232"/>
          </a:xfrm>
          <a:prstGeom prst="roundRect">
            <a:avLst>
              <a:gd name="adj" fmla="val 7692"/>
            </a:avLst>
          </a:prstGeom>
          <a:solidFill>
            <a:srgbClr val="1E3A5F"/>
          </a:solidFill>
          <a:ln w="12700">
            <a:solidFill>
              <a:srgbClr val="334155"/>
            </a:solidFill>
            <a:prstDash val="solid"/>
          </a:ln>
        </p:spPr>
      </p:sp>
      <p:sp>
        <p:nvSpPr>
          <p:cNvPr id="8" name="Text 6"/>
          <p:cNvSpPr/>
          <p:nvPr/>
        </p:nvSpPr>
        <p:spPr>
          <a:xfrm>
            <a:off x="1225296" y="1243584"/>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IAIA</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UN specialized agency · IAEA model</a:t>
            </a:r>
            <a:endParaRPr lang="en-US" sz="1000" dirty="0"/>
          </a:p>
        </p:txBody>
      </p:sp>
      <p:sp>
        <p:nvSpPr>
          <p:cNvPr id="9" name="Shape 7"/>
          <p:cNvSpPr/>
          <p:nvPr/>
        </p:nvSpPr>
        <p:spPr>
          <a:xfrm>
            <a:off x="3035808" y="1170432"/>
            <a:ext cx="1828800" cy="713232"/>
          </a:xfrm>
          <a:prstGeom prst="roundRect">
            <a:avLst>
              <a:gd name="adj" fmla="val 7692"/>
            </a:avLst>
          </a:prstGeom>
          <a:solidFill>
            <a:srgbClr val="1E3A5F"/>
          </a:solidFill>
          <a:ln w="12700">
            <a:solidFill>
              <a:srgbClr val="334155"/>
            </a:solidFill>
            <a:prstDash val="solid"/>
          </a:ln>
        </p:spPr>
      </p:sp>
      <p:sp>
        <p:nvSpPr>
          <p:cNvPr id="10" name="Text 8"/>
          <p:cNvSpPr/>
          <p:nvPr/>
        </p:nvSpPr>
        <p:spPr>
          <a:xfrm>
            <a:off x="3108960" y="1243584"/>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Global Emergency Dashboard</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Normal / Elevated / Crisis</a:t>
            </a:r>
            <a:endParaRPr lang="en-US" sz="1000" dirty="0"/>
          </a:p>
        </p:txBody>
      </p:sp>
      <p:sp>
        <p:nvSpPr>
          <p:cNvPr id="11" name="Shape 9"/>
          <p:cNvSpPr/>
          <p:nvPr/>
        </p:nvSpPr>
        <p:spPr>
          <a:xfrm>
            <a:off x="4919472" y="1170432"/>
            <a:ext cx="1828800" cy="713232"/>
          </a:xfrm>
          <a:prstGeom prst="roundRect">
            <a:avLst>
              <a:gd name="adj" fmla="val 7692"/>
            </a:avLst>
          </a:prstGeom>
          <a:solidFill>
            <a:srgbClr val="1E3A5F"/>
          </a:solidFill>
          <a:ln w="12700">
            <a:solidFill>
              <a:srgbClr val="334155"/>
            </a:solidFill>
            <a:prstDash val="solid"/>
          </a:ln>
        </p:spPr>
      </p:sp>
      <p:sp>
        <p:nvSpPr>
          <p:cNvPr id="12" name="Text 10"/>
          <p:cNvSpPr/>
          <p:nvPr/>
        </p:nvSpPr>
        <p:spPr>
          <a:xfrm>
            <a:off x="4992624" y="1243584"/>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Global AI Registry</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All declared AI systems</a:t>
            </a:r>
            <a:endParaRPr lang="en-US" sz="1000" dirty="0"/>
          </a:p>
        </p:txBody>
      </p:sp>
      <p:sp>
        <p:nvSpPr>
          <p:cNvPr id="13" name="Shape 11"/>
          <p:cNvSpPr/>
          <p:nvPr/>
        </p:nvSpPr>
        <p:spPr>
          <a:xfrm>
            <a:off x="6803136" y="1170432"/>
            <a:ext cx="1828800" cy="713232"/>
          </a:xfrm>
          <a:prstGeom prst="roundRect">
            <a:avLst>
              <a:gd name="adj" fmla="val 7692"/>
            </a:avLst>
          </a:prstGeom>
          <a:solidFill>
            <a:srgbClr val="1E3A5F"/>
          </a:solidFill>
          <a:ln w="12700">
            <a:solidFill>
              <a:srgbClr val="334155"/>
            </a:solidFill>
            <a:prstDash val="solid"/>
          </a:ln>
        </p:spPr>
      </p:sp>
      <p:sp>
        <p:nvSpPr>
          <p:cNvPr id="14" name="Text 12"/>
          <p:cNvSpPr/>
          <p:nvPr/>
        </p:nvSpPr>
        <p:spPr>
          <a:xfrm>
            <a:off x="6876288" y="1243584"/>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GÉANT Backbone</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Neutral research network</a:t>
            </a:r>
            <a:endParaRPr lang="en-US" sz="1000" dirty="0"/>
          </a:p>
        </p:txBody>
      </p:sp>
      <p:sp>
        <p:nvSpPr>
          <p:cNvPr id="15" name="Shape 13"/>
          <p:cNvSpPr/>
          <p:nvPr/>
        </p:nvSpPr>
        <p:spPr>
          <a:xfrm>
            <a:off x="274320" y="1938528"/>
            <a:ext cx="822960" cy="713232"/>
          </a:xfrm>
          <a:prstGeom prst="roundRect">
            <a:avLst>
              <a:gd name="adj" fmla="val 7692"/>
            </a:avLst>
          </a:prstGeom>
          <a:solidFill>
            <a:srgbClr val="164E63"/>
          </a:solidFill>
          <a:ln w="12700">
            <a:solidFill>
              <a:srgbClr val="334155"/>
            </a:solidFill>
            <a:prstDash val="solid"/>
          </a:ln>
        </p:spPr>
      </p:sp>
      <p:sp>
        <p:nvSpPr>
          <p:cNvPr id="16" name="Text 14"/>
          <p:cNvSpPr/>
          <p:nvPr/>
        </p:nvSpPr>
        <p:spPr>
          <a:xfrm>
            <a:off x="274320" y="1938528"/>
            <a:ext cx="822960"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National</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Layer 2</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NAIA</a:t>
            </a:r>
            <a:endParaRPr lang="en-US" sz="900" dirty="0"/>
          </a:p>
        </p:txBody>
      </p:sp>
      <p:sp>
        <p:nvSpPr>
          <p:cNvPr id="17" name="Shape 15"/>
          <p:cNvSpPr/>
          <p:nvPr/>
        </p:nvSpPr>
        <p:spPr>
          <a:xfrm>
            <a:off x="1152144" y="1938528"/>
            <a:ext cx="1828800" cy="713232"/>
          </a:xfrm>
          <a:prstGeom prst="roundRect">
            <a:avLst>
              <a:gd name="adj" fmla="val 7692"/>
            </a:avLst>
          </a:prstGeom>
          <a:solidFill>
            <a:srgbClr val="164E63"/>
          </a:solidFill>
          <a:ln w="12700">
            <a:solidFill>
              <a:srgbClr val="334155"/>
            </a:solidFill>
            <a:prstDash val="solid"/>
          </a:ln>
        </p:spPr>
      </p:sp>
      <p:sp>
        <p:nvSpPr>
          <p:cNvPr id="18" name="Text 16"/>
          <p:cNvSpPr/>
          <p:nvPr/>
        </p:nvSpPr>
        <p:spPr>
          <a:xfrm>
            <a:off x="1225296" y="2011680"/>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NAIA</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National authority · every member state</a:t>
            </a:r>
            <a:endParaRPr lang="en-US" sz="1000" dirty="0"/>
          </a:p>
        </p:txBody>
      </p:sp>
      <p:sp>
        <p:nvSpPr>
          <p:cNvPr id="19" name="Shape 17"/>
          <p:cNvSpPr/>
          <p:nvPr/>
        </p:nvSpPr>
        <p:spPr>
          <a:xfrm>
            <a:off x="3035808" y="1938528"/>
            <a:ext cx="1828800" cy="713232"/>
          </a:xfrm>
          <a:prstGeom prst="roundRect">
            <a:avLst>
              <a:gd name="adj" fmla="val 7692"/>
            </a:avLst>
          </a:prstGeom>
          <a:solidFill>
            <a:srgbClr val="164E63"/>
          </a:solidFill>
          <a:ln w="12700">
            <a:solidFill>
              <a:srgbClr val="334155"/>
            </a:solidFill>
            <a:prstDash val="solid"/>
          </a:ln>
        </p:spPr>
      </p:sp>
      <p:sp>
        <p:nvSpPr>
          <p:cNvPr id="20" name="Text 18"/>
          <p:cNvSpPr/>
          <p:nvPr/>
        </p:nvSpPr>
        <p:spPr>
          <a:xfrm>
            <a:off x="3108960" y="2011680"/>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Decision Gate Platform</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Tier classify · impact assess · ACK</a:t>
            </a:r>
            <a:endParaRPr lang="en-US" sz="1000" dirty="0"/>
          </a:p>
        </p:txBody>
      </p:sp>
      <p:sp>
        <p:nvSpPr>
          <p:cNvPr id="21" name="Shape 19"/>
          <p:cNvSpPr/>
          <p:nvPr/>
        </p:nvSpPr>
        <p:spPr>
          <a:xfrm>
            <a:off x="4919472" y="1938528"/>
            <a:ext cx="1828800" cy="713232"/>
          </a:xfrm>
          <a:prstGeom prst="roundRect">
            <a:avLst>
              <a:gd name="adj" fmla="val 7692"/>
            </a:avLst>
          </a:prstGeom>
          <a:solidFill>
            <a:srgbClr val="164E63"/>
          </a:solidFill>
          <a:ln w="12700">
            <a:solidFill>
              <a:srgbClr val="334155"/>
            </a:solidFill>
            <a:prstDash val="solid"/>
          </a:ln>
        </p:spPr>
      </p:sp>
      <p:sp>
        <p:nvSpPr>
          <p:cNvPr id="22" name="Text 20"/>
          <p:cNvSpPr/>
          <p:nvPr/>
        </p:nvSpPr>
        <p:spPr>
          <a:xfrm>
            <a:off x="4992624" y="2011680"/>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GAE</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Governance AI Engine · Claude ref.</a:t>
            </a:r>
            <a:endParaRPr lang="en-US" sz="1000" dirty="0"/>
          </a:p>
        </p:txBody>
      </p:sp>
      <p:sp>
        <p:nvSpPr>
          <p:cNvPr id="23" name="Shape 21"/>
          <p:cNvSpPr/>
          <p:nvPr/>
        </p:nvSpPr>
        <p:spPr>
          <a:xfrm>
            <a:off x="6803136" y="1938528"/>
            <a:ext cx="1828800" cy="713232"/>
          </a:xfrm>
          <a:prstGeom prst="roundRect">
            <a:avLst>
              <a:gd name="adj" fmla="val 7692"/>
            </a:avLst>
          </a:prstGeom>
          <a:solidFill>
            <a:srgbClr val="164E63"/>
          </a:solidFill>
          <a:ln w="12700">
            <a:solidFill>
              <a:srgbClr val="334155"/>
            </a:solidFill>
            <a:prstDash val="solid"/>
          </a:ln>
        </p:spPr>
      </p:sp>
      <p:sp>
        <p:nvSpPr>
          <p:cNvPr id="24" name="Text 22"/>
          <p:cNvSpPr/>
          <p:nvPr/>
        </p:nvSpPr>
        <p:spPr>
          <a:xfrm>
            <a:off x="6876288" y="2011680"/>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Human Authorizer</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Reviews · ACKs · rejects</a:t>
            </a:r>
            <a:endParaRPr lang="en-US" sz="1000" dirty="0"/>
          </a:p>
        </p:txBody>
      </p:sp>
      <p:sp>
        <p:nvSpPr>
          <p:cNvPr id="25" name="Shape 23"/>
          <p:cNvSpPr/>
          <p:nvPr/>
        </p:nvSpPr>
        <p:spPr>
          <a:xfrm>
            <a:off x="274320" y="2706624"/>
            <a:ext cx="822960" cy="713232"/>
          </a:xfrm>
          <a:prstGeom prst="roundRect">
            <a:avLst>
              <a:gd name="adj" fmla="val 7692"/>
            </a:avLst>
          </a:prstGeom>
          <a:solidFill>
            <a:srgbClr val="78350F"/>
          </a:solidFill>
          <a:ln w="12700">
            <a:solidFill>
              <a:srgbClr val="334155"/>
            </a:solidFill>
            <a:prstDash val="solid"/>
          </a:ln>
        </p:spPr>
      </p:sp>
      <p:sp>
        <p:nvSpPr>
          <p:cNvPr id="26" name="Text 24"/>
          <p:cNvSpPr/>
          <p:nvPr/>
        </p:nvSpPr>
        <p:spPr>
          <a:xfrm>
            <a:off x="274320" y="2706624"/>
            <a:ext cx="822960"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Silicon</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Layer 1</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HACK</a:t>
            </a:r>
            <a:endParaRPr lang="en-US" sz="900" dirty="0"/>
          </a:p>
        </p:txBody>
      </p:sp>
      <p:sp>
        <p:nvSpPr>
          <p:cNvPr id="27" name="Shape 25"/>
          <p:cNvSpPr/>
          <p:nvPr/>
        </p:nvSpPr>
        <p:spPr>
          <a:xfrm>
            <a:off x="1152144" y="2706624"/>
            <a:ext cx="1828800" cy="713232"/>
          </a:xfrm>
          <a:prstGeom prst="roundRect">
            <a:avLst>
              <a:gd name="adj" fmla="val 7692"/>
            </a:avLst>
          </a:prstGeom>
          <a:solidFill>
            <a:srgbClr val="78350F"/>
          </a:solidFill>
          <a:ln w="12700">
            <a:solidFill>
              <a:srgbClr val="334155"/>
            </a:solidFill>
            <a:prstDash val="solid"/>
          </a:ln>
        </p:spPr>
      </p:sp>
      <p:sp>
        <p:nvSpPr>
          <p:cNvPr id="28" name="Text 26"/>
          <p:cNvSpPr/>
          <p:nvPr/>
        </p:nvSpPr>
        <p:spPr>
          <a:xfrm>
            <a:off x="1225296" y="2779776"/>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HACK</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Hardware ACK · CV32E40S RISC-V</a:t>
            </a:r>
            <a:endParaRPr lang="en-US" sz="1000" dirty="0"/>
          </a:p>
        </p:txBody>
      </p:sp>
      <p:sp>
        <p:nvSpPr>
          <p:cNvPr id="29" name="Shape 27"/>
          <p:cNvSpPr/>
          <p:nvPr/>
        </p:nvSpPr>
        <p:spPr>
          <a:xfrm>
            <a:off x="3035808" y="2706624"/>
            <a:ext cx="1828800" cy="713232"/>
          </a:xfrm>
          <a:prstGeom prst="roundRect">
            <a:avLst>
              <a:gd name="adj" fmla="val 7692"/>
            </a:avLst>
          </a:prstGeom>
          <a:solidFill>
            <a:srgbClr val="78350F"/>
          </a:solidFill>
          <a:ln w="12700">
            <a:solidFill>
              <a:srgbClr val="334155"/>
            </a:solidFill>
            <a:prstDash val="solid"/>
          </a:ln>
        </p:spPr>
      </p:sp>
      <p:sp>
        <p:nvSpPr>
          <p:cNvPr id="30" name="Text 28"/>
          <p:cNvSpPr/>
          <p:nvPr/>
        </p:nvSpPr>
        <p:spPr>
          <a:xfrm>
            <a:off x="3108960" y="2779776"/>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COE</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OpenTitan · crypto offload</a:t>
            </a:r>
            <a:endParaRPr lang="en-US" sz="1000" dirty="0"/>
          </a:p>
        </p:txBody>
      </p:sp>
      <p:sp>
        <p:nvSpPr>
          <p:cNvPr id="31" name="Shape 29"/>
          <p:cNvSpPr/>
          <p:nvPr/>
        </p:nvSpPr>
        <p:spPr>
          <a:xfrm>
            <a:off x="4919472" y="2706624"/>
            <a:ext cx="1828800" cy="713232"/>
          </a:xfrm>
          <a:prstGeom prst="roundRect">
            <a:avLst>
              <a:gd name="adj" fmla="val 7692"/>
            </a:avLst>
          </a:prstGeom>
          <a:solidFill>
            <a:srgbClr val="78350F"/>
          </a:solidFill>
          <a:ln w="12700">
            <a:solidFill>
              <a:srgbClr val="334155"/>
            </a:solidFill>
            <a:prstDash val="solid"/>
          </a:ln>
        </p:spPr>
      </p:sp>
      <p:sp>
        <p:nvSpPr>
          <p:cNvPr id="32" name="Text 30"/>
          <p:cNvSpPr/>
          <p:nvPr/>
        </p:nvSpPr>
        <p:spPr>
          <a:xfrm>
            <a:off x="4992624" y="2779776"/>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ACP</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Action Classification Protocol</a:t>
            </a:r>
            <a:endParaRPr lang="en-US" sz="1000" dirty="0"/>
          </a:p>
        </p:txBody>
      </p:sp>
      <p:sp>
        <p:nvSpPr>
          <p:cNvPr id="33" name="Shape 31"/>
          <p:cNvSpPr/>
          <p:nvPr/>
        </p:nvSpPr>
        <p:spPr>
          <a:xfrm>
            <a:off x="6803136" y="2706624"/>
            <a:ext cx="1828800" cy="713232"/>
          </a:xfrm>
          <a:prstGeom prst="roundRect">
            <a:avLst>
              <a:gd name="adj" fmla="val 7692"/>
            </a:avLst>
          </a:prstGeom>
          <a:solidFill>
            <a:srgbClr val="78350F"/>
          </a:solidFill>
          <a:ln w="12700">
            <a:solidFill>
              <a:srgbClr val="334155"/>
            </a:solidFill>
            <a:prstDash val="solid"/>
          </a:ln>
        </p:spPr>
      </p:sp>
      <p:sp>
        <p:nvSpPr>
          <p:cNvPr id="34" name="Text 32"/>
          <p:cNvSpPr/>
          <p:nvPr/>
        </p:nvSpPr>
        <p:spPr>
          <a:xfrm>
            <a:off x="6876288" y="2779776"/>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On-chip Audit Log</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Write-once · tamper-proof</a:t>
            </a:r>
            <a:endParaRPr lang="en-US" sz="1000" dirty="0"/>
          </a:p>
        </p:txBody>
      </p:sp>
      <p:sp>
        <p:nvSpPr>
          <p:cNvPr id="35" name="Shape 33"/>
          <p:cNvSpPr/>
          <p:nvPr/>
        </p:nvSpPr>
        <p:spPr>
          <a:xfrm>
            <a:off x="274320" y="3474720"/>
            <a:ext cx="822960" cy="713232"/>
          </a:xfrm>
          <a:prstGeom prst="roundRect">
            <a:avLst>
              <a:gd name="adj" fmla="val 7692"/>
            </a:avLst>
          </a:prstGeom>
          <a:solidFill>
            <a:srgbClr val="3D2B1F"/>
          </a:solidFill>
          <a:ln w="12700">
            <a:solidFill>
              <a:srgbClr val="334155"/>
            </a:solidFill>
            <a:prstDash val="solid"/>
          </a:ln>
        </p:spPr>
      </p:sp>
      <p:sp>
        <p:nvSpPr>
          <p:cNvPr id="36" name="Text 34"/>
          <p:cNvSpPr/>
          <p:nvPr/>
        </p:nvSpPr>
        <p:spPr>
          <a:xfrm>
            <a:off x="274320" y="3474720"/>
            <a:ext cx="822960" cy="7132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Decision</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Gate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Tiers</a:t>
            </a:r>
            <a:endParaRPr lang="en-US" sz="900" dirty="0"/>
          </a:p>
        </p:txBody>
      </p:sp>
      <p:sp>
        <p:nvSpPr>
          <p:cNvPr id="37" name="Shape 35"/>
          <p:cNvSpPr/>
          <p:nvPr/>
        </p:nvSpPr>
        <p:spPr>
          <a:xfrm>
            <a:off x="1152144" y="3474720"/>
            <a:ext cx="1828800" cy="713232"/>
          </a:xfrm>
          <a:prstGeom prst="roundRect">
            <a:avLst>
              <a:gd name="adj" fmla="val 7692"/>
            </a:avLst>
          </a:prstGeom>
          <a:solidFill>
            <a:srgbClr val="7F1D1D"/>
          </a:solidFill>
          <a:ln w="12700">
            <a:solidFill>
              <a:srgbClr val="334155"/>
            </a:solidFill>
            <a:prstDash val="solid"/>
          </a:ln>
        </p:spPr>
      </p:sp>
      <p:sp>
        <p:nvSpPr>
          <p:cNvPr id="38" name="Text 36"/>
          <p:cNvSpPr/>
          <p:nvPr/>
        </p:nvSpPr>
        <p:spPr>
          <a:xfrm>
            <a:off x="1225296" y="3547872"/>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Tier 1 — Hard stop</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Existential · no override</a:t>
            </a:r>
            <a:endParaRPr lang="en-US" sz="1000" dirty="0"/>
          </a:p>
        </p:txBody>
      </p:sp>
      <p:sp>
        <p:nvSpPr>
          <p:cNvPr id="39" name="Shape 37"/>
          <p:cNvSpPr/>
          <p:nvPr/>
        </p:nvSpPr>
        <p:spPr>
          <a:xfrm>
            <a:off x="3035808" y="3474720"/>
            <a:ext cx="1828800" cy="713232"/>
          </a:xfrm>
          <a:prstGeom prst="roundRect">
            <a:avLst>
              <a:gd name="adj" fmla="val 7692"/>
            </a:avLst>
          </a:prstGeom>
          <a:solidFill>
            <a:srgbClr val="92400E"/>
          </a:solidFill>
          <a:ln w="12700">
            <a:solidFill>
              <a:srgbClr val="334155"/>
            </a:solidFill>
            <a:prstDash val="solid"/>
          </a:ln>
        </p:spPr>
      </p:sp>
      <p:sp>
        <p:nvSpPr>
          <p:cNvPr id="40" name="Text 38"/>
          <p:cNvSpPr/>
          <p:nvPr/>
        </p:nvSpPr>
        <p:spPr>
          <a:xfrm>
            <a:off x="3108960" y="3547872"/>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Tier 2 — High</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Irreversible · multi-party ACK</a:t>
            </a:r>
            <a:endParaRPr lang="en-US" sz="1000" dirty="0"/>
          </a:p>
        </p:txBody>
      </p:sp>
      <p:sp>
        <p:nvSpPr>
          <p:cNvPr id="41" name="Shape 39"/>
          <p:cNvSpPr/>
          <p:nvPr/>
        </p:nvSpPr>
        <p:spPr>
          <a:xfrm>
            <a:off x="4919472" y="3474720"/>
            <a:ext cx="1828800" cy="713232"/>
          </a:xfrm>
          <a:prstGeom prst="roundRect">
            <a:avLst>
              <a:gd name="adj" fmla="val 7692"/>
            </a:avLst>
          </a:prstGeom>
          <a:solidFill>
            <a:srgbClr val="064E3B"/>
          </a:solidFill>
          <a:ln w="12700">
            <a:solidFill>
              <a:srgbClr val="334155"/>
            </a:solidFill>
            <a:prstDash val="solid"/>
          </a:ln>
        </p:spPr>
      </p:sp>
      <p:sp>
        <p:nvSpPr>
          <p:cNvPr id="42" name="Text 40"/>
          <p:cNvSpPr/>
          <p:nvPr/>
        </p:nvSpPr>
        <p:spPr>
          <a:xfrm>
            <a:off x="4992624" y="3547872"/>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Tier 3 — Significant</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Material impact · single ACK</a:t>
            </a:r>
            <a:endParaRPr lang="en-US" sz="1000" dirty="0"/>
          </a:p>
        </p:txBody>
      </p:sp>
      <p:sp>
        <p:nvSpPr>
          <p:cNvPr id="43" name="Shape 41"/>
          <p:cNvSpPr/>
          <p:nvPr/>
        </p:nvSpPr>
        <p:spPr>
          <a:xfrm>
            <a:off x="6803136" y="3474720"/>
            <a:ext cx="1828800" cy="713232"/>
          </a:xfrm>
          <a:prstGeom prst="roundRect">
            <a:avLst>
              <a:gd name="adj" fmla="val 7692"/>
            </a:avLst>
          </a:prstGeom>
          <a:solidFill>
            <a:srgbClr val="14532D"/>
          </a:solidFill>
          <a:ln w="12700">
            <a:solidFill>
              <a:srgbClr val="334155"/>
            </a:solidFill>
            <a:prstDash val="solid"/>
          </a:ln>
        </p:spPr>
      </p:sp>
      <p:sp>
        <p:nvSpPr>
          <p:cNvPr id="44" name="Text 42"/>
          <p:cNvSpPr/>
          <p:nvPr/>
        </p:nvSpPr>
        <p:spPr>
          <a:xfrm>
            <a:off x="6876288" y="3547872"/>
            <a:ext cx="1682496" cy="56692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Tier 4 — Routine</a:t>
            </a:r>
            <a:endParaRPr lang="en-US" sz="1000" dirty="0"/>
          </a:p>
          <a:p>
            <a:pPr marL="0" indent="0">
              <a:buNone/>
            </a:pPr>
            <a:r>
              <a:rPr lang="en-US" sz="800" dirty="0">
                <a:solidFill>
                  <a:srgbClr val="CBD5E1"/>
                </a:solidFill>
                <a:latin typeface="Calibri" pitchFamily="34" charset="0"/>
                <a:ea typeface="Calibri" pitchFamily="34" charset="-122"/>
                <a:cs typeface="Calibri" pitchFamily="34" charset="-120"/>
              </a:rPr>
              <a:t>Automated · logged</a:t>
            </a:r>
            <a:endParaRPr lang="en-US" sz="1000" dirty="0"/>
          </a:p>
        </p:txBody>
      </p:sp>
      <p:sp>
        <p:nvSpPr>
          <p:cNvPr id="45" name="Shape 43"/>
          <p:cNvSpPr/>
          <p:nvPr/>
        </p:nvSpPr>
        <p:spPr>
          <a:xfrm>
            <a:off x="274320" y="4572000"/>
            <a:ext cx="2011680" cy="310896"/>
          </a:xfrm>
          <a:prstGeom prst="roundRect">
            <a:avLst>
              <a:gd name="adj" fmla="val 23529"/>
            </a:avLst>
          </a:prstGeom>
          <a:solidFill>
            <a:srgbClr val="1E3A5F"/>
          </a:solidFill>
          <a:ln w="12700">
            <a:solidFill>
              <a:srgbClr val="334155"/>
            </a:solidFill>
            <a:prstDash val="solid"/>
          </a:ln>
        </p:spPr>
      </p:sp>
      <p:sp>
        <p:nvSpPr>
          <p:cNvPr id="46" name="Text 44"/>
          <p:cNvSpPr/>
          <p:nvPr/>
        </p:nvSpPr>
        <p:spPr>
          <a:xfrm>
            <a:off x="274320" y="4572000"/>
            <a:ext cx="2011680" cy="310896"/>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AI may analyze</a:t>
            </a:r>
            <a:endParaRPr lang="en-US" sz="900" dirty="0"/>
          </a:p>
        </p:txBody>
      </p:sp>
      <p:sp>
        <p:nvSpPr>
          <p:cNvPr id="47" name="Shape 45"/>
          <p:cNvSpPr/>
          <p:nvPr/>
        </p:nvSpPr>
        <p:spPr>
          <a:xfrm>
            <a:off x="2450592" y="4572000"/>
            <a:ext cx="2011680" cy="310896"/>
          </a:xfrm>
          <a:prstGeom prst="roundRect">
            <a:avLst>
              <a:gd name="adj" fmla="val 23529"/>
            </a:avLst>
          </a:prstGeom>
          <a:solidFill>
            <a:srgbClr val="1E3A5F"/>
          </a:solidFill>
          <a:ln w="12700">
            <a:solidFill>
              <a:srgbClr val="334155"/>
            </a:solidFill>
            <a:prstDash val="solid"/>
          </a:ln>
        </p:spPr>
      </p:sp>
      <p:sp>
        <p:nvSpPr>
          <p:cNvPr id="48" name="Text 46"/>
          <p:cNvSpPr/>
          <p:nvPr/>
        </p:nvSpPr>
        <p:spPr>
          <a:xfrm>
            <a:off x="2450592" y="4572000"/>
            <a:ext cx="2011680" cy="310896"/>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AI may recommend</a:t>
            </a:r>
            <a:endParaRPr lang="en-US" sz="900" dirty="0"/>
          </a:p>
        </p:txBody>
      </p:sp>
      <p:sp>
        <p:nvSpPr>
          <p:cNvPr id="49" name="Shape 47"/>
          <p:cNvSpPr/>
          <p:nvPr/>
        </p:nvSpPr>
        <p:spPr>
          <a:xfrm>
            <a:off x="4626864" y="4572000"/>
            <a:ext cx="2011680" cy="310896"/>
          </a:xfrm>
          <a:prstGeom prst="roundRect">
            <a:avLst>
              <a:gd name="adj" fmla="val 23529"/>
            </a:avLst>
          </a:prstGeom>
          <a:solidFill>
            <a:srgbClr val="1E3A5F"/>
          </a:solidFill>
          <a:ln w="12700">
            <a:solidFill>
              <a:srgbClr val="334155"/>
            </a:solidFill>
            <a:prstDash val="solid"/>
          </a:ln>
        </p:spPr>
      </p:sp>
      <p:sp>
        <p:nvSpPr>
          <p:cNvPr id="50" name="Text 48"/>
          <p:cNvSpPr/>
          <p:nvPr/>
        </p:nvSpPr>
        <p:spPr>
          <a:xfrm>
            <a:off x="4626864" y="4572000"/>
            <a:ext cx="2011680" cy="310896"/>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AI may simulate</a:t>
            </a:r>
            <a:endParaRPr lang="en-US" sz="900" dirty="0"/>
          </a:p>
        </p:txBody>
      </p:sp>
      <p:sp>
        <p:nvSpPr>
          <p:cNvPr id="51" name="Shape 49"/>
          <p:cNvSpPr/>
          <p:nvPr/>
        </p:nvSpPr>
        <p:spPr>
          <a:xfrm>
            <a:off x="6803136" y="4572000"/>
            <a:ext cx="2011680" cy="310896"/>
          </a:xfrm>
          <a:prstGeom prst="roundRect">
            <a:avLst>
              <a:gd name="adj" fmla="val 23529"/>
            </a:avLst>
          </a:prstGeom>
          <a:solidFill>
            <a:srgbClr val="028090"/>
          </a:solidFill>
          <a:ln w="12700">
            <a:solidFill>
              <a:srgbClr val="334155"/>
            </a:solidFill>
            <a:prstDash val="solid"/>
          </a:ln>
        </p:spPr>
      </p:sp>
      <p:sp>
        <p:nvSpPr>
          <p:cNvPr id="52" name="Text 50"/>
          <p:cNvSpPr/>
          <p:nvPr/>
        </p:nvSpPr>
        <p:spPr>
          <a:xfrm>
            <a:off x="6803136" y="4572000"/>
            <a:ext cx="201168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human must authorize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2193</Words>
  <Application>Microsoft Office PowerPoint</Application>
  <PresentationFormat>On-screen Show (16:9)</PresentationFormat>
  <Paragraphs>293</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Judge Protocol</dc:title>
  <dc:subject>Hardware-Enforced Human Oversight of Artificial Intelligence</dc:subject>
  <dc:creator>Alexander Hofmann</dc:creator>
  <cp:lastModifiedBy>Alex Hofmann</cp:lastModifiedBy>
  <cp:revision>2</cp:revision>
  <dcterms:created xsi:type="dcterms:W3CDTF">2026-06-14T10:58:31Z</dcterms:created>
  <dcterms:modified xsi:type="dcterms:W3CDTF">2026-06-16T17:53:17Z</dcterms:modified>
</cp:coreProperties>
</file>