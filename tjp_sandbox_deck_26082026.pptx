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8" r:id="rId3"/>
    <p:sldId id="269" r:id="rId4"/>
    <p:sldId id="258" r:id="rId5"/>
    <p:sldId id="267" r:id="rId6"/>
    <p:sldId id="257" r:id="rId7"/>
    <p:sldId id="259" r:id="rId8"/>
    <p:sldId id="263" r:id="rId9"/>
    <p:sldId id="264" r:id="rId10"/>
    <p:sldId id="265" r:id="rId11"/>
    <p:sldId id="266" r:id="rId12"/>
    <p:sldId id="260" r:id="rId13"/>
    <p:sldId id="261" r:id="rId14"/>
    <p:sldId id="262"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8" d="100"/>
          <a:sy n="118" d="100"/>
        </p:scale>
        <p:origin x="53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6704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implementation uses standard MOM patterns (durable queuing, dead-letter handling) as a proof of concept. A production deployment would align to global messaging/interoperability standards at the contract layer, with each national implementation (NAIA) free to select its own broker and adapt to local regulatory and infrastructure requirements — federated by design, not a single mandated vendor stack.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implementation uses standard MOM patterns (durable queuing, dead-letter handling) as a proof of concept. A production deployment would align to global messaging/interoperability standards at the contract layer, with each national implementation (NAIA) free to select its own broker and adapt to local regulatory and infrastructure requirements — federated by design, not a single mandated vendor stack.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1554480"/>
            <a:ext cx="10972800" cy="1005840"/>
          </a:xfrm>
          <a:prstGeom prst="rect">
            <a:avLst/>
          </a:prstGeom>
          <a:noFill/>
          <a:ln/>
        </p:spPr>
        <p:txBody>
          <a:bodyPr wrap="square" rtlCol="0" anchor="ctr"/>
          <a:lstStyle/>
          <a:p>
            <a:pPr marL="0" indent="0">
              <a:buNone/>
            </a:pPr>
            <a:r>
              <a:rPr lang="en-US" sz="4000" b="1" kern="0" spc="200" dirty="0">
                <a:solidFill>
                  <a:srgbClr val="FFFFFF"/>
                </a:solidFill>
                <a:latin typeface="Verdana" pitchFamily="34" charset="0"/>
                <a:ea typeface="Verdana" pitchFamily="34" charset="-122"/>
                <a:cs typeface="Verdana" pitchFamily="34" charset="-120"/>
              </a:rPr>
              <a:t>THE JUDGE PROTOCOL (TJP)</a:t>
            </a:r>
            <a:endParaRPr lang="en-US" sz="4000" dirty="0"/>
          </a:p>
        </p:txBody>
      </p:sp>
      <p:sp>
        <p:nvSpPr>
          <p:cNvPr id="3" name="Text 1"/>
          <p:cNvSpPr/>
          <p:nvPr/>
        </p:nvSpPr>
        <p:spPr>
          <a:xfrm>
            <a:off x="640080" y="2514600"/>
            <a:ext cx="10515600" cy="45720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OpenShell Reference Implementation — Live Sandbox Demonstration</a:t>
            </a:r>
            <a:endParaRPr lang="en-US" sz="1700" dirty="0"/>
          </a:p>
        </p:txBody>
      </p:sp>
      <p:sp>
        <p:nvSpPr>
          <p:cNvPr id="4" name="Shape 2"/>
          <p:cNvSpPr/>
          <p:nvPr/>
        </p:nvSpPr>
        <p:spPr>
          <a:xfrm>
            <a:off x="640080" y="3200400"/>
            <a:ext cx="2377440" cy="0"/>
          </a:xfrm>
          <a:prstGeom prst="line">
            <a:avLst/>
          </a:prstGeom>
          <a:noFill/>
          <a:ln w="31750">
            <a:solidFill>
              <a:srgbClr val="028090"/>
            </a:solidFill>
            <a:prstDash val="solid"/>
          </a:ln>
        </p:spPr>
      </p:sp>
      <p:sp>
        <p:nvSpPr>
          <p:cNvPr id="5" name="Text 3"/>
          <p:cNvSpPr/>
          <p:nvPr/>
        </p:nvSpPr>
        <p:spPr>
          <a:xfrm>
            <a:off x="640080" y="3520440"/>
            <a:ext cx="9144000" cy="82296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A real, running instance of the four-tier Decision Gate</a:t>
            </a:r>
            <a:endParaRPr lang="en-US" sz="1500" dirty="0"/>
          </a:p>
          <a:p>
            <a:pPr marL="0" indent="0">
              <a:buNone/>
            </a:pPr>
            <a:r>
              <a:rPr lang="en-US" sz="1500" i="1" dirty="0">
                <a:solidFill>
                  <a:srgbClr val="CADCFC"/>
                </a:solidFill>
                <a:latin typeface="Calibri" pitchFamily="34" charset="0"/>
                <a:ea typeface="Calibri" pitchFamily="34" charset="-122"/>
                <a:cs typeface="Calibri" pitchFamily="34" charset="-120"/>
              </a:rPr>
              <a:t>plus all four Redirect Gate use cases — not a mockup.</a:t>
            </a:r>
            <a:endParaRPr lang="en-US" sz="1500" dirty="0"/>
          </a:p>
        </p:txBody>
      </p:sp>
      <p:sp>
        <p:nvSpPr>
          <p:cNvPr id="6" name="Shape 4"/>
          <p:cNvSpPr/>
          <p:nvPr/>
        </p:nvSpPr>
        <p:spPr>
          <a:xfrm>
            <a:off x="0" y="5806440"/>
            <a:ext cx="12188952" cy="1051560"/>
          </a:xfrm>
          <a:prstGeom prst="rect">
            <a:avLst/>
          </a:prstGeom>
          <a:solidFill>
            <a:srgbClr val="0D5560"/>
          </a:solidFill>
          <a:ln/>
        </p:spPr>
      </p:sp>
      <p:sp>
        <p:nvSpPr>
          <p:cNvPr id="7" name="Text 5"/>
          <p:cNvSpPr/>
          <p:nvPr/>
        </p:nvSpPr>
        <p:spPr>
          <a:xfrm>
            <a:off x="640080" y="5943600"/>
            <a:ext cx="1097280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Alex Hofmann  ·  Founder &amp; Chief Architect, The Judge Protocol Foundation  ·  Stockholm, Sweden</a:t>
            </a:r>
            <a:endParaRPr lang="en-US" sz="1100" dirty="0"/>
          </a:p>
        </p:txBody>
      </p:sp>
      <p:sp>
        <p:nvSpPr>
          <p:cNvPr id="8" name="Text 6"/>
          <p:cNvSpPr/>
          <p:nvPr/>
        </p:nvSpPr>
        <p:spPr>
          <a:xfrm>
            <a:off x="640080" y="6263640"/>
            <a:ext cx="1097280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Sandbox build: OVHcloud VPS · Docker Compose · OpenShell v0.0.97 · SSH-tunnel access only</a:t>
            </a:r>
            <a:endParaRPr lang="en-US" sz="1000" dirty="0"/>
          </a:p>
        </p:txBody>
      </p:sp>
      <p:sp>
        <p:nvSpPr>
          <p:cNvPr id="9" name="Text 7"/>
          <p:cNvSpPr/>
          <p:nvPr/>
        </p:nvSpPr>
        <p:spPr>
          <a:xfrm>
            <a:off x="640080" y="6537960"/>
            <a:ext cx="10972800" cy="27432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judgeprotocol.org  ·  DOI: 10.5281/zenodo.20401666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292608"/>
          </a:xfrm>
          <a:prstGeom prst="rect">
            <a:avLst/>
          </a:prstGeom>
          <a:solidFill>
            <a:srgbClr val="993C1D"/>
          </a:solidFill>
          <a:ln/>
        </p:spPr>
      </p:sp>
      <p:sp>
        <p:nvSpPr>
          <p:cNvPr id="3" name="Text 1"/>
          <p:cNvSpPr/>
          <p:nvPr/>
        </p:nvSpPr>
        <p:spPr>
          <a:xfrm>
            <a:off x="457200" y="320040"/>
            <a:ext cx="1737360" cy="292608"/>
          </a:xfrm>
          <a:prstGeom prst="rect">
            <a:avLst/>
          </a:prstGeom>
          <a:noFill/>
          <a:ln/>
        </p:spPr>
        <p:txBody>
          <a:bodyPr wrap="square" rtlCol="0" anchor="ctr"/>
          <a:lstStyle/>
          <a:p>
            <a:pPr marL="0" indent="0" algn="ctr">
              <a:buNone/>
            </a:pPr>
            <a:r>
              <a:rPr lang="en-US" sz="900" b="1" dirty="0">
                <a:solidFill>
                  <a:srgbClr val="FFFFFF"/>
                </a:solidFill>
                <a:latin typeface="Verdana" pitchFamily="34" charset="0"/>
                <a:ea typeface="Verdana" pitchFamily="34" charset="-122"/>
                <a:cs typeface="Verdana" pitchFamily="34" charset="-120"/>
              </a:rPr>
              <a:t>THE GAP TODAY</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lgn="l">
              <a:buNone/>
            </a:pPr>
            <a:r>
              <a:rPr lang="en-US" sz="2600" b="1" dirty="0">
                <a:solidFill>
                  <a:srgbClr val="FFFFFF"/>
                </a:solidFill>
                <a:latin typeface="Verdana" pitchFamily="34" charset="0"/>
                <a:ea typeface="Verdana" pitchFamily="34" charset="-122"/>
                <a:cs typeface="Verdana" pitchFamily="34" charset="-120"/>
              </a:rPr>
              <a:t>No Runtime Authorization Layer Exists</a:t>
            </a:r>
            <a:endParaRPr lang="en-US" sz="2600" dirty="0"/>
          </a:p>
        </p:txBody>
      </p:sp>
      <p:sp>
        <p:nvSpPr>
          <p:cNvPr id="14" name="Insight box"/>
          <p:cNvSpPr/>
          <p:nvPr/>
        </p:nvSpPr>
        <p:spPr>
          <a:xfrm>
            <a:off x="548640" y="4480560"/>
            <a:ext cx="11064240" cy="1005840"/>
          </a:xfrm>
          <a:prstGeom prst="roundRect">
            <a:avLst>
              <a:gd name="adj" fmla="val 6957"/>
            </a:avLst>
          </a:prstGeom>
          <a:solidFill>
            <a:srgbClr val="16294A"/>
          </a:solidFill>
          <a:ln w="12700">
            <a:solidFill>
              <a:srgbClr val="993C1D"/>
            </a:solidFill>
            <a:prstDash val="solid"/>
          </a:ln>
        </p:spPr>
      </p:sp>
      <p:sp>
        <p:nvSpPr>
          <p:cNvPr id="15" name="Insight text"/>
          <p:cNvSpPr/>
          <p:nvPr/>
        </p:nvSpPr>
        <p:spPr>
          <a:xfrm>
            <a:off x="731520" y="4572000"/>
            <a:ext cx="10698480" cy="823248"/>
          </a:xfrm>
          <a:prstGeom prst="rect">
            <a:avLst/>
          </a:prstGeom>
          <a:noFill/>
          <a:ln/>
        </p:spPr>
        <p:txBody>
          <a:bodyPr wrap="square" rtlCol="0" anchor="ctr"/>
          <a:lstStyle/>
          <a:p>
            <a:pPr marL="0" indent="0" algn="ctr">
              <a:buNone/>
            </a:pPr>
            <a:r>
              <a:rPr lang="en-US" sz="1250" b="1" dirty="0">
                <a:solidFill>
                  <a:srgbClr val="CADCFC"/>
                </a:solidFill>
                <a:latin typeface="Calibri" pitchFamily="34" charset="0"/>
                <a:ea typeface="Calibri" pitchFamily="34" charset="-122"/>
                <a:cs typeface="Calibri" pitchFamily="34" charset="-120"/>
              </a:rPr>
              <a:t>Testing gates the release. Authorization gates the action. </a:t>
            </a:r>
            <a:r>
              <a:rPr lang="en-US" sz="1250" dirty="0">
                <a:solidFill>
                  <a:srgbClr val="CADCFC"/>
                </a:solidFill>
                <a:latin typeface="Calibri" pitchFamily="34" charset="0"/>
                <a:ea typeface="Calibri" pitchFamily="34" charset="-122"/>
                <a:cs typeface="Calibri" pitchFamily="34" charset="-120"/>
              </a:rPr>
              <a:t>Every proposed governance regime — the EU AI Act, Bletchley Declaration, voluntary industry commitments — gates what gets released. None gate what gets executed, in real time, action by action.</a:t>
            </a:r>
          </a:p>
        </p:txBody>
      </p:sp>
      <p:sp>
        <p:nvSpPr>
          <p:cNvPr id="16" name="Caption"/>
          <p:cNvSpPr/>
          <p:nvPr/>
        </p:nvSpPr>
        <p:spPr>
          <a:xfrm>
            <a:off x="457200" y="6537960"/>
            <a:ext cx="11247120" cy="274320"/>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When one government can suspend global AI access unilaterally (June 2026, US export controls) — the case for a runtime authorization layer is no longer theoretical.</a:t>
            </a:r>
            <a:endParaRPr lang="en-US" sz="1000" dirty="0"/>
          </a:p>
        </p:txBody>
      </p:sp>
      <p:sp>
        <p:nvSpPr>
          <p:cNvPr id="17" name="Insight box">
            <a:extLst>
              <a:ext uri="{FF2B5EF4-FFF2-40B4-BE49-F238E27FC236}">
                <a16:creationId xmlns:a16="http://schemas.microsoft.com/office/drawing/2014/main" id="{DAA69240-94E6-B538-C071-F88D54248D87}"/>
              </a:ext>
            </a:extLst>
          </p:cNvPr>
          <p:cNvSpPr/>
          <p:nvPr/>
        </p:nvSpPr>
        <p:spPr>
          <a:xfrm>
            <a:off x="548640" y="1642840"/>
            <a:ext cx="11064240" cy="2311940"/>
          </a:xfrm>
          <a:prstGeom prst="roundRect">
            <a:avLst>
              <a:gd name="adj" fmla="val 6957"/>
            </a:avLst>
          </a:prstGeom>
          <a:solidFill>
            <a:srgbClr val="16294A"/>
          </a:solidFill>
          <a:ln w="12700">
            <a:solidFill>
              <a:srgbClr val="993C1D"/>
            </a:solidFill>
            <a:prstDash val="solid"/>
          </a:ln>
        </p:spPr>
        <p:txBody>
          <a:bodyPr/>
          <a:lstStyle/>
          <a:p>
            <a:r>
              <a:rPr lang="en-US" sz="1250" b="1" dirty="0">
                <a:solidFill>
                  <a:srgbClr val="CADCFC"/>
                </a:solidFill>
                <a:latin typeface="Calibri" pitchFamily="34" charset="0"/>
                <a:ea typeface="Calibri" pitchFamily="34" charset="-122"/>
                <a:cs typeface="Calibri" pitchFamily="34" charset="-120"/>
              </a:rPr>
              <a:t>We are living through the most consequential governance failure in modern history — and most governments have not yet </a:t>
            </a:r>
            <a:r>
              <a:rPr lang="en-US" sz="1250" b="1" dirty="0" err="1">
                <a:solidFill>
                  <a:srgbClr val="CADCFC"/>
                </a:solidFill>
                <a:latin typeface="Calibri" pitchFamily="34" charset="0"/>
                <a:ea typeface="Calibri" pitchFamily="34" charset="-122"/>
                <a:cs typeface="Calibri" pitchFamily="34" charset="-120"/>
              </a:rPr>
              <a:t>recognised</a:t>
            </a:r>
            <a:r>
              <a:rPr lang="en-US" sz="1250" b="1" dirty="0">
                <a:solidFill>
                  <a:srgbClr val="CADCFC"/>
                </a:solidFill>
                <a:latin typeface="Calibri" pitchFamily="34" charset="0"/>
                <a:ea typeface="Calibri" pitchFamily="34" charset="-122"/>
                <a:cs typeface="Calibri" pitchFamily="34" charset="-120"/>
              </a:rPr>
              <a:t> it.</a:t>
            </a:r>
          </a:p>
          <a:p>
            <a:endParaRPr lang="en-US" sz="1250" b="1" dirty="0">
              <a:solidFill>
                <a:srgbClr val="CADCFC"/>
              </a:solidFill>
              <a:latin typeface="Calibri" pitchFamily="34" charset="0"/>
              <a:ea typeface="Calibri" pitchFamily="34" charset="-122"/>
              <a:cs typeface="Calibri" pitchFamily="34" charset="-120"/>
            </a:endParaRPr>
          </a:p>
          <a:p>
            <a:r>
              <a:rPr lang="en-US" sz="1250" b="1" dirty="0">
                <a:solidFill>
                  <a:srgbClr val="CADCFC"/>
                </a:solidFill>
                <a:latin typeface="Calibri" pitchFamily="34" charset="0"/>
                <a:ea typeface="Calibri" pitchFamily="34" charset="-122"/>
                <a:cs typeface="Calibri" pitchFamily="34" charset="-120"/>
              </a:rPr>
              <a:t>Artificial Intelligence is no longer a laboratory concept. It is embedded in military targeting systems, financial markets, healthcare decisions, critical infrastructure and the private homes of millions of people. It operates at speeds no human can match, at scales no regulator currently governs, and with consequences that are increasingly irreversible.</a:t>
            </a:r>
          </a:p>
          <a:p>
            <a:r>
              <a:rPr lang="en-US" sz="1250" b="1" dirty="0">
                <a:solidFill>
                  <a:srgbClr val="CADCFC"/>
                </a:solidFill>
                <a:latin typeface="Calibri" pitchFamily="34" charset="0"/>
                <a:ea typeface="Calibri" pitchFamily="34" charset="-122"/>
                <a:cs typeface="Calibri" pitchFamily="34" charset="-120"/>
              </a:rPr>
              <a:t>The 2026 Gulf conflict has made this undeniable. AI systems are embedded in active military planning and target identification in an ongoing armed conflict — without a universally agreed governance framework governing their use. </a:t>
            </a:r>
          </a:p>
          <a:p>
            <a:r>
              <a:rPr lang="en-US" sz="1250" b="1" dirty="0">
                <a:solidFill>
                  <a:srgbClr val="CADCFC"/>
                </a:solidFill>
                <a:latin typeface="Calibri" pitchFamily="34" charset="0"/>
                <a:ea typeface="Calibri" pitchFamily="34" charset="-122"/>
                <a:cs typeface="Calibri" pitchFamily="34" charset="-120"/>
              </a:rPr>
              <a:t>At the same time, AI models tested in simulated crisis scenarios recommended nuclear strikes in 95% of cases — and no model ever chose de-escalation or accommodation. As Professor Kenneth Payne of King’s College London, who led the study, concluded: understanding how frontier models do and do not imitate human strategic logic is essential preparation for a world in which AI increasingly shapes strategic outcomes</a:t>
            </a:r>
          </a:p>
        </p:txBody>
      </p:sp>
      <p:sp>
        <p:nvSpPr>
          <p:cNvPr id="19" name="TextBox 18">
            <a:extLst>
              <a:ext uri="{FF2B5EF4-FFF2-40B4-BE49-F238E27FC236}">
                <a16:creationId xmlns:a16="http://schemas.microsoft.com/office/drawing/2014/main" id="{D14D6CCB-5CCF-75E8-DC38-10747A7D9E1C}"/>
              </a:ext>
            </a:extLst>
          </p:cNvPr>
          <p:cNvSpPr txBox="1"/>
          <p:nvPr/>
        </p:nvSpPr>
        <p:spPr>
          <a:xfrm>
            <a:off x="3048000" y="614466"/>
            <a:ext cx="6096000" cy="284693"/>
          </a:xfrm>
          <a:prstGeom prst="rect">
            <a:avLst/>
          </a:prstGeom>
          <a:noFill/>
        </p:spPr>
        <p:txBody>
          <a:bodyPr wrap="square">
            <a:spAutoFit/>
          </a:bodyPr>
          <a:lstStyle/>
          <a:p>
            <a:endParaRPr lang="en-US" sz="1250" b="1" dirty="0">
              <a:solidFill>
                <a:srgbClr val="CADCFC"/>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024086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2103120" cy="292608"/>
          </a:xfrm>
          <a:prstGeom prst="rect">
            <a:avLst/>
          </a:prstGeom>
          <a:solidFill>
            <a:srgbClr val="1E7A4C"/>
          </a:solidFill>
          <a:ln/>
        </p:spPr>
      </p:sp>
      <p:sp>
        <p:nvSpPr>
          <p:cNvPr id="3" name="Text 1"/>
          <p:cNvSpPr/>
          <p:nvPr/>
        </p:nvSpPr>
        <p:spPr>
          <a:xfrm>
            <a:off x="457200" y="320040"/>
            <a:ext cx="2103120" cy="292608"/>
          </a:xfrm>
          <a:prstGeom prst="rect">
            <a:avLst/>
          </a:prstGeom>
          <a:noFill/>
          <a:ln/>
        </p:spPr>
        <p:txBody>
          <a:bodyPr wrap="square" rtlCol="0" anchor="ctr"/>
          <a:lstStyle/>
          <a:p>
            <a:pPr marL="0" indent="0" algn="ctr">
              <a:buNone/>
            </a:pPr>
            <a:r>
              <a:rPr lang="en-US" sz="900" b="1" dirty="0">
                <a:solidFill>
                  <a:srgbClr val="FFFFFF"/>
                </a:solidFill>
                <a:latin typeface="Verdana" pitchFamily="34" charset="0"/>
                <a:ea typeface="Verdana" pitchFamily="34" charset="-122"/>
                <a:cs typeface="Verdana" pitchFamily="34" charset="-120"/>
              </a:rPr>
              <a:t>HOW TJP CLOSES IT</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lgn="l">
              <a:buNone/>
            </a:pPr>
            <a:r>
              <a:rPr lang="en-US" sz="2400" b="1" dirty="0">
                <a:solidFill>
                  <a:srgbClr val="FFFFFF"/>
                </a:solidFill>
                <a:latin typeface="Verdana" pitchFamily="34" charset="0"/>
                <a:ea typeface="Verdana" pitchFamily="34" charset="-122"/>
                <a:cs typeface="Verdana" pitchFamily="34" charset="-120"/>
              </a:rPr>
              <a:t>A Runtime Authorization Layer, Not Another Release Gate</a:t>
            </a:r>
            <a:endParaRPr lang="en-US" sz="2400" dirty="0"/>
          </a:p>
        </p:txBody>
      </p:sp>
      <p:sp>
        <p:nvSpPr>
          <p:cNvPr id="5" name="Row bg0"/>
          <p:cNvSpPr/>
          <p:nvPr/>
        </p:nvSpPr>
        <p:spPr>
          <a:xfrm>
            <a:off x="548640" y="1737360"/>
            <a:ext cx="11064240" cy="1005840"/>
          </a:xfrm>
          <a:prstGeom prst="rect">
            <a:avLst/>
          </a:prstGeom>
          <a:solidFill>
            <a:srgbClr val="16294A"/>
          </a:solidFill>
          <a:ln/>
        </p:spPr>
      </p:sp>
      <p:sp>
        <p:nvSpPr>
          <p:cNvPr id="6" name="Gap label0"/>
          <p:cNvSpPr/>
          <p:nvPr/>
        </p:nvSpPr>
        <p:spPr>
          <a:xfrm>
            <a:off x="731520" y="1828800"/>
            <a:ext cx="4200000" cy="274320"/>
          </a:xfrm>
          <a:prstGeom prst="rect">
            <a:avLst/>
          </a:prstGeom>
          <a:noFill/>
          <a:ln/>
        </p:spPr>
        <p:txBody>
          <a:bodyPr wrap="square" rtlCol="0" anchor="ctr"/>
          <a:lstStyle/>
          <a:p>
            <a:pPr marL="0" indent="0" algn="l">
              <a:buNone/>
            </a:pPr>
            <a:r>
              <a:rPr lang="en-US" sz="850" b="1" dirty="0">
                <a:solidFill>
                  <a:srgbClr val="993C1D"/>
                </a:solidFill>
                <a:latin typeface="Verdana" pitchFamily="34" charset="0"/>
                <a:ea typeface="Verdana" pitchFamily="34" charset="-122"/>
                <a:cs typeface="Verdana" pitchFamily="34" charset="-120"/>
              </a:rPr>
              <a:t>THE GAP</a:t>
            </a:r>
            <a:endParaRPr lang="en-US" sz="850" dirty="0"/>
          </a:p>
        </p:txBody>
      </p:sp>
      <p:sp>
        <p:nvSpPr>
          <p:cNvPr id="7" name="Gap text0"/>
          <p:cNvSpPr/>
          <p:nvPr/>
        </p:nvSpPr>
        <p:spPr>
          <a:xfrm>
            <a:off x="731520" y="2103120"/>
            <a:ext cx="4200000" cy="594360"/>
          </a:xfrm>
          <a:prstGeom prst="rect">
            <a:avLst/>
          </a:prstGeom>
          <a:noFill/>
          <a:ln/>
        </p:spPr>
        <p:txBody>
          <a:bodyPr wrap="square"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No checkpoint before consequential actions execute</a:t>
            </a:r>
            <a:endParaRPr lang="en-US" sz="1100" dirty="0"/>
          </a:p>
        </p:txBody>
      </p:sp>
      <p:sp>
        <p:nvSpPr>
          <p:cNvPr id="8" name="Arrow0"/>
          <p:cNvSpPr/>
          <p:nvPr/>
        </p:nvSpPr>
        <p:spPr>
          <a:xfrm>
            <a:off x="5029200" y="1737360"/>
            <a:ext cx="365760" cy="1005840"/>
          </a:xfrm>
          <a:prstGeom prst="rect">
            <a:avLst/>
          </a:prstGeom>
          <a:noFill/>
          <a:ln/>
        </p:spPr>
        <p:txBody>
          <a:bodyPr wrap="square" rtlCol="0" anchor="ctr"/>
          <a:lstStyle/>
          <a:p>
            <a:pPr marL="0" indent="0" algn="ctr">
              <a:buNone/>
            </a:pPr>
            <a:r>
              <a:rPr lang="en-US" sz="1800" b="1" dirty="0">
                <a:solidFill>
                  <a:srgbClr val="CADCFC"/>
                </a:solidFill>
                <a:latin typeface="Calibri" pitchFamily="34" charset="0"/>
                <a:ea typeface="Calibri" pitchFamily="34" charset="-122"/>
                <a:cs typeface="Calibri" pitchFamily="34" charset="-120"/>
              </a:rPr>
              <a:t>→</a:t>
            </a:r>
            <a:endParaRPr lang="en-US" sz="1800" dirty="0"/>
          </a:p>
        </p:txBody>
      </p:sp>
      <p:sp>
        <p:nvSpPr>
          <p:cNvPr id="9" name="Fix chip0"/>
          <p:cNvSpPr/>
          <p:nvPr/>
        </p:nvSpPr>
        <p:spPr>
          <a:xfrm>
            <a:off x="5486400" y="1828800"/>
            <a:ext cx="1737360" cy="320040"/>
          </a:xfrm>
          <a:prstGeom prst="roundRect">
            <a:avLst>
              <a:gd name="adj" fmla="val 15625"/>
            </a:avLst>
          </a:prstGeom>
          <a:solidFill>
            <a:srgbClr val="5B3E96"/>
          </a:solidFill>
          <a:ln/>
        </p:spPr>
      </p:sp>
      <p:sp>
        <p:nvSpPr>
          <p:cNvPr id="10" name="Fix chiptext0"/>
          <p:cNvSpPr/>
          <p:nvPr/>
        </p:nvSpPr>
        <p:spPr>
          <a:xfrm>
            <a:off x="5486400" y="1828800"/>
            <a:ext cx="1737360" cy="320040"/>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Decision Gate</a:t>
            </a:r>
            <a:endParaRPr lang="en-US" sz="1000" dirty="0"/>
          </a:p>
        </p:txBody>
      </p:sp>
      <p:sp>
        <p:nvSpPr>
          <p:cNvPr id="11" name="Fix body0"/>
          <p:cNvSpPr/>
          <p:nvPr/>
        </p:nvSpPr>
        <p:spPr>
          <a:xfrm>
            <a:off x="5486400" y="2194560"/>
            <a:ext cx="5943600" cy="502920"/>
          </a:xfrm>
          <a:prstGeom prst="rect">
            <a:avLst/>
          </a:prstGeom>
          <a:noFill/>
          <a:ln/>
        </p:spPr>
        <p:txBody>
          <a:bodyPr wrap="square"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Four-tier classification. Tier 1–3 require human authorization before the action proceeds — Tier 4 auto-executes, logged.</a:t>
            </a:r>
            <a:endParaRPr lang="en-US" sz="1000" dirty="0"/>
          </a:p>
        </p:txBody>
      </p:sp>
      <p:sp>
        <p:nvSpPr>
          <p:cNvPr id="12" name="Row bg1"/>
          <p:cNvSpPr/>
          <p:nvPr/>
        </p:nvSpPr>
        <p:spPr>
          <a:xfrm>
            <a:off x="548640" y="2834640"/>
            <a:ext cx="11064240" cy="1005840"/>
          </a:xfrm>
          <a:prstGeom prst="rect">
            <a:avLst/>
          </a:prstGeom>
          <a:solidFill>
            <a:srgbClr val="16294A"/>
          </a:solidFill>
          <a:ln/>
        </p:spPr>
      </p:sp>
      <p:sp>
        <p:nvSpPr>
          <p:cNvPr id="13" name="Gap label1"/>
          <p:cNvSpPr/>
          <p:nvPr/>
        </p:nvSpPr>
        <p:spPr>
          <a:xfrm>
            <a:off x="731520" y="2926080"/>
            <a:ext cx="4200000" cy="274320"/>
          </a:xfrm>
          <a:prstGeom prst="rect">
            <a:avLst/>
          </a:prstGeom>
          <a:noFill/>
          <a:ln/>
        </p:spPr>
        <p:txBody>
          <a:bodyPr wrap="square" rtlCol="0" anchor="ctr"/>
          <a:lstStyle/>
          <a:p>
            <a:pPr marL="0" indent="0" algn="l">
              <a:buNone/>
            </a:pPr>
            <a:r>
              <a:rPr lang="en-US" sz="850" b="1" dirty="0">
                <a:solidFill>
                  <a:srgbClr val="993C1D"/>
                </a:solidFill>
                <a:latin typeface="Verdana" pitchFamily="34" charset="0"/>
                <a:ea typeface="Verdana" pitchFamily="34" charset="-122"/>
                <a:cs typeface="Verdana" pitchFamily="34" charset="-120"/>
              </a:rPr>
              <a:t>THE GAP</a:t>
            </a:r>
            <a:endParaRPr lang="en-US" sz="850" dirty="0"/>
          </a:p>
        </p:txBody>
      </p:sp>
      <p:sp>
        <p:nvSpPr>
          <p:cNvPr id="14" name="Gap text1"/>
          <p:cNvSpPr/>
          <p:nvPr/>
        </p:nvSpPr>
        <p:spPr>
          <a:xfrm>
            <a:off x="731520" y="3200400"/>
            <a:ext cx="4200000" cy="594360"/>
          </a:xfrm>
          <a:prstGeom prst="rect">
            <a:avLst/>
          </a:prstGeom>
          <a:noFill/>
          <a:ln/>
        </p:spPr>
        <p:txBody>
          <a:bodyPr wrap="square"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No authorized hand-off when AI shouldn't act autonomously</a:t>
            </a:r>
            <a:endParaRPr lang="en-US" sz="1100" dirty="0"/>
          </a:p>
        </p:txBody>
      </p:sp>
      <p:sp>
        <p:nvSpPr>
          <p:cNvPr id="15" name="Arrow1"/>
          <p:cNvSpPr/>
          <p:nvPr/>
        </p:nvSpPr>
        <p:spPr>
          <a:xfrm>
            <a:off x="5029200" y="2834640"/>
            <a:ext cx="365760" cy="1005840"/>
          </a:xfrm>
          <a:prstGeom prst="rect">
            <a:avLst/>
          </a:prstGeom>
          <a:noFill/>
          <a:ln/>
        </p:spPr>
        <p:txBody>
          <a:bodyPr wrap="square" rtlCol="0" anchor="ctr"/>
          <a:lstStyle/>
          <a:p>
            <a:pPr marL="0" indent="0" algn="ctr">
              <a:buNone/>
            </a:pPr>
            <a:r>
              <a:rPr lang="en-US" sz="1800" b="1" dirty="0">
                <a:solidFill>
                  <a:srgbClr val="CADCFC"/>
                </a:solidFill>
                <a:latin typeface="Calibri" pitchFamily="34" charset="0"/>
                <a:ea typeface="Calibri" pitchFamily="34" charset="-122"/>
                <a:cs typeface="Calibri" pitchFamily="34" charset="-120"/>
              </a:rPr>
              <a:t>→</a:t>
            </a:r>
            <a:endParaRPr lang="en-US" sz="1800" dirty="0"/>
          </a:p>
        </p:txBody>
      </p:sp>
      <p:sp>
        <p:nvSpPr>
          <p:cNvPr id="16" name="Fix chip1"/>
          <p:cNvSpPr/>
          <p:nvPr/>
        </p:nvSpPr>
        <p:spPr>
          <a:xfrm>
            <a:off x="5486400" y="2926080"/>
            <a:ext cx="1737360" cy="320040"/>
          </a:xfrm>
          <a:prstGeom prst="roundRect">
            <a:avLst>
              <a:gd name="adj" fmla="val 15625"/>
            </a:avLst>
          </a:prstGeom>
          <a:solidFill>
            <a:srgbClr val="5B3E96"/>
          </a:solidFill>
          <a:ln/>
        </p:spPr>
      </p:sp>
      <p:sp>
        <p:nvSpPr>
          <p:cNvPr id="17" name="Fix chiptext1"/>
          <p:cNvSpPr/>
          <p:nvPr/>
        </p:nvSpPr>
        <p:spPr>
          <a:xfrm>
            <a:off x="5486400" y="2926080"/>
            <a:ext cx="1737360" cy="320040"/>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Redirect Gate</a:t>
            </a:r>
            <a:endParaRPr lang="en-US" sz="1000" dirty="0"/>
          </a:p>
        </p:txBody>
      </p:sp>
      <p:sp>
        <p:nvSpPr>
          <p:cNvPr id="18" name="Fix body1"/>
          <p:cNvSpPr/>
          <p:nvPr/>
        </p:nvSpPr>
        <p:spPr>
          <a:xfrm>
            <a:off x="5486400" y="3291840"/>
            <a:ext cx="5943600" cy="502920"/>
          </a:xfrm>
          <a:prstGeom prst="rect">
            <a:avLst/>
          </a:prstGeom>
          <a:noFill/>
          <a:ln/>
        </p:spPr>
        <p:txBody>
          <a:bodyPr wrap="square"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Refuse execution and route to the correct human authority — instead of silent failure or unauthorized proceeding.</a:t>
            </a:r>
            <a:endParaRPr lang="en-US" sz="1000" dirty="0"/>
          </a:p>
        </p:txBody>
      </p:sp>
      <p:sp>
        <p:nvSpPr>
          <p:cNvPr id="19" name="Row bg2"/>
          <p:cNvSpPr/>
          <p:nvPr/>
        </p:nvSpPr>
        <p:spPr>
          <a:xfrm>
            <a:off x="548640" y="3931920"/>
            <a:ext cx="11064240" cy="1005840"/>
          </a:xfrm>
          <a:prstGeom prst="rect">
            <a:avLst/>
          </a:prstGeom>
          <a:solidFill>
            <a:srgbClr val="16294A"/>
          </a:solidFill>
          <a:ln/>
        </p:spPr>
      </p:sp>
      <p:sp>
        <p:nvSpPr>
          <p:cNvPr id="20" name="Gap label2"/>
          <p:cNvSpPr/>
          <p:nvPr/>
        </p:nvSpPr>
        <p:spPr>
          <a:xfrm>
            <a:off x="731520" y="4023360"/>
            <a:ext cx="4200000" cy="274320"/>
          </a:xfrm>
          <a:prstGeom prst="rect">
            <a:avLst/>
          </a:prstGeom>
          <a:noFill/>
          <a:ln/>
        </p:spPr>
        <p:txBody>
          <a:bodyPr wrap="square" rtlCol="0" anchor="ctr"/>
          <a:lstStyle/>
          <a:p>
            <a:pPr marL="0" indent="0" algn="l">
              <a:buNone/>
            </a:pPr>
            <a:r>
              <a:rPr lang="en-US" sz="850" b="1" dirty="0">
                <a:solidFill>
                  <a:srgbClr val="993C1D"/>
                </a:solidFill>
                <a:latin typeface="Verdana" pitchFamily="34" charset="0"/>
                <a:ea typeface="Verdana" pitchFamily="34" charset="-122"/>
                <a:cs typeface="Verdana" pitchFamily="34" charset="-120"/>
              </a:rPr>
              <a:t>THE GAP</a:t>
            </a:r>
            <a:endParaRPr lang="en-US" sz="850" dirty="0"/>
          </a:p>
        </p:txBody>
      </p:sp>
      <p:sp>
        <p:nvSpPr>
          <p:cNvPr id="21" name="Gap text2"/>
          <p:cNvSpPr/>
          <p:nvPr/>
        </p:nvSpPr>
        <p:spPr>
          <a:xfrm>
            <a:off x="731520" y="4297680"/>
            <a:ext cx="4200000" cy="594360"/>
          </a:xfrm>
          <a:prstGeom prst="rect">
            <a:avLst/>
          </a:prstGeom>
          <a:noFill/>
          <a:ln/>
        </p:spPr>
        <p:txBody>
          <a:bodyPr wrap="square"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Software-only rules can be patched, bypassed, or overridden</a:t>
            </a:r>
            <a:endParaRPr lang="en-US" sz="1100" dirty="0"/>
          </a:p>
        </p:txBody>
      </p:sp>
      <p:sp>
        <p:nvSpPr>
          <p:cNvPr id="22" name="Arrow2"/>
          <p:cNvSpPr/>
          <p:nvPr/>
        </p:nvSpPr>
        <p:spPr>
          <a:xfrm>
            <a:off x="5029200" y="3931920"/>
            <a:ext cx="365760" cy="1005840"/>
          </a:xfrm>
          <a:prstGeom prst="rect">
            <a:avLst/>
          </a:prstGeom>
          <a:noFill/>
          <a:ln/>
        </p:spPr>
        <p:txBody>
          <a:bodyPr wrap="square" rtlCol="0" anchor="ctr"/>
          <a:lstStyle/>
          <a:p>
            <a:pPr marL="0" indent="0" algn="ctr">
              <a:buNone/>
            </a:pPr>
            <a:r>
              <a:rPr lang="en-US" sz="1800" b="1" dirty="0">
                <a:solidFill>
                  <a:srgbClr val="CADCFC"/>
                </a:solidFill>
                <a:latin typeface="Calibri" pitchFamily="34" charset="0"/>
                <a:ea typeface="Calibri" pitchFamily="34" charset="-122"/>
                <a:cs typeface="Calibri" pitchFamily="34" charset="-120"/>
              </a:rPr>
              <a:t>→</a:t>
            </a:r>
            <a:endParaRPr lang="en-US" sz="1800" dirty="0"/>
          </a:p>
        </p:txBody>
      </p:sp>
      <p:sp>
        <p:nvSpPr>
          <p:cNvPr id="23" name="Fix chip2"/>
          <p:cNvSpPr/>
          <p:nvPr/>
        </p:nvSpPr>
        <p:spPr>
          <a:xfrm>
            <a:off x="5486400" y="4023360"/>
            <a:ext cx="1737360" cy="320040"/>
          </a:xfrm>
          <a:prstGeom prst="roundRect">
            <a:avLst>
              <a:gd name="adj" fmla="val 15625"/>
            </a:avLst>
          </a:prstGeom>
          <a:solidFill>
            <a:srgbClr val="1E7A4C"/>
          </a:solidFill>
          <a:ln/>
        </p:spPr>
      </p:sp>
      <p:sp>
        <p:nvSpPr>
          <p:cNvPr id="24" name="Fix chiptext2"/>
          <p:cNvSpPr/>
          <p:nvPr/>
        </p:nvSpPr>
        <p:spPr>
          <a:xfrm>
            <a:off x="5486400" y="4023360"/>
            <a:ext cx="1737360" cy="320040"/>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HACK</a:t>
            </a:r>
            <a:endParaRPr lang="en-US" sz="1000" dirty="0"/>
          </a:p>
        </p:txBody>
      </p:sp>
      <p:sp>
        <p:nvSpPr>
          <p:cNvPr id="25" name="Fix body2"/>
          <p:cNvSpPr/>
          <p:nvPr/>
        </p:nvSpPr>
        <p:spPr>
          <a:xfrm>
            <a:off x="5486400" y="4389120"/>
            <a:ext cx="5943600" cy="502920"/>
          </a:xfrm>
          <a:prstGeom prst="rect">
            <a:avLst/>
          </a:prstGeom>
          <a:noFill/>
          <a:ln/>
        </p:spPr>
        <p:txBody>
          <a:bodyPr wrap="square"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Enforcement below the software stack, on-chip. No process above it can remove the authorization check.</a:t>
            </a:r>
            <a:endParaRPr lang="en-US" sz="1000" dirty="0"/>
          </a:p>
        </p:txBody>
      </p:sp>
      <p:sp>
        <p:nvSpPr>
          <p:cNvPr id="26" name="Row bg3"/>
          <p:cNvSpPr/>
          <p:nvPr/>
        </p:nvSpPr>
        <p:spPr>
          <a:xfrm>
            <a:off x="548640" y="5029200"/>
            <a:ext cx="11064240" cy="1005840"/>
          </a:xfrm>
          <a:prstGeom prst="rect">
            <a:avLst/>
          </a:prstGeom>
          <a:solidFill>
            <a:srgbClr val="16294A"/>
          </a:solidFill>
          <a:ln/>
        </p:spPr>
      </p:sp>
      <p:sp>
        <p:nvSpPr>
          <p:cNvPr id="27" name="Gap label3"/>
          <p:cNvSpPr/>
          <p:nvPr/>
        </p:nvSpPr>
        <p:spPr>
          <a:xfrm>
            <a:off x="731520" y="5120640"/>
            <a:ext cx="4200000" cy="274320"/>
          </a:xfrm>
          <a:prstGeom prst="rect">
            <a:avLst/>
          </a:prstGeom>
          <a:noFill/>
          <a:ln/>
        </p:spPr>
        <p:txBody>
          <a:bodyPr wrap="square" rtlCol="0" anchor="ctr"/>
          <a:lstStyle/>
          <a:p>
            <a:pPr marL="0" indent="0" algn="l">
              <a:buNone/>
            </a:pPr>
            <a:r>
              <a:rPr lang="en-US" sz="850" b="1" dirty="0">
                <a:solidFill>
                  <a:srgbClr val="993C1D"/>
                </a:solidFill>
                <a:latin typeface="Verdana" pitchFamily="34" charset="0"/>
                <a:ea typeface="Verdana" pitchFamily="34" charset="-122"/>
                <a:cs typeface="Verdana" pitchFamily="34" charset="-120"/>
              </a:rPr>
              <a:t>THE GAP</a:t>
            </a:r>
            <a:endParaRPr lang="en-US" sz="850" dirty="0"/>
          </a:p>
        </p:txBody>
      </p:sp>
      <p:sp>
        <p:nvSpPr>
          <p:cNvPr id="28" name="Gap text3"/>
          <p:cNvSpPr/>
          <p:nvPr/>
        </p:nvSpPr>
        <p:spPr>
          <a:xfrm>
            <a:off x="731520" y="5394960"/>
            <a:ext cx="4200000" cy="594360"/>
          </a:xfrm>
          <a:prstGeom prst="rect">
            <a:avLst/>
          </a:prstGeom>
          <a:noFill/>
          <a:ln/>
        </p:spPr>
        <p:txBody>
          <a:bodyPr wrap="square"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No accountability structure spans borders</a:t>
            </a:r>
            <a:endParaRPr lang="en-US" sz="1100" dirty="0"/>
          </a:p>
        </p:txBody>
      </p:sp>
      <p:sp>
        <p:nvSpPr>
          <p:cNvPr id="29" name="Arrow3"/>
          <p:cNvSpPr/>
          <p:nvPr/>
        </p:nvSpPr>
        <p:spPr>
          <a:xfrm>
            <a:off x="5029200" y="5029200"/>
            <a:ext cx="365760" cy="1005840"/>
          </a:xfrm>
          <a:prstGeom prst="rect">
            <a:avLst/>
          </a:prstGeom>
          <a:noFill/>
          <a:ln/>
        </p:spPr>
        <p:txBody>
          <a:bodyPr wrap="square" rtlCol="0" anchor="ctr"/>
          <a:lstStyle/>
          <a:p>
            <a:pPr marL="0" indent="0" algn="ctr">
              <a:buNone/>
            </a:pPr>
            <a:r>
              <a:rPr lang="en-US" sz="1800" b="1" dirty="0">
                <a:solidFill>
                  <a:srgbClr val="CADCFC"/>
                </a:solidFill>
                <a:latin typeface="Calibri" pitchFamily="34" charset="0"/>
                <a:ea typeface="Calibri" pitchFamily="34" charset="-122"/>
                <a:cs typeface="Calibri" pitchFamily="34" charset="-120"/>
              </a:rPr>
              <a:t>→</a:t>
            </a:r>
            <a:endParaRPr lang="en-US" sz="1800" dirty="0"/>
          </a:p>
        </p:txBody>
      </p:sp>
      <p:sp>
        <p:nvSpPr>
          <p:cNvPr id="30" name="Fix chip3"/>
          <p:cNvSpPr/>
          <p:nvPr/>
        </p:nvSpPr>
        <p:spPr>
          <a:xfrm>
            <a:off x="5486400" y="5120640"/>
            <a:ext cx="1737360" cy="320040"/>
          </a:xfrm>
          <a:prstGeom prst="roundRect">
            <a:avLst>
              <a:gd name="adj" fmla="val 15625"/>
            </a:avLst>
          </a:prstGeom>
          <a:solidFill>
            <a:srgbClr val="028090"/>
          </a:solidFill>
          <a:ln/>
        </p:spPr>
      </p:sp>
      <p:sp>
        <p:nvSpPr>
          <p:cNvPr id="31" name="Fix chiptext3"/>
          <p:cNvSpPr/>
          <p:nvPr/>
        </p:nvSpPr>
        <p:spPr>
          <a:xfrm>
            <a:off x="5486400" y="5120640"/>
            <a:ext cx="1737360" cy="320040"/>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NAIA / IAIA</a:t>
            </a:r>
            <a:endParaRPr lang="en-US" sz="1000" dirty="0"/>
          </a:p>
        </p:txBody>
      </p:sp>
      <p:sp>
        <p:nvSpPr>
          <p:cNvPr id="32" name="Fix body3"/>
          <p:cNvSpPr/>
          <p:nvPr/>
        </p:nvSpPr>
        <p:spPr>
          <a:xfrm>
            <a:off x="5486400" y="5486400"/>
            <a:ext cx="5943600" cy="502920"/>
          </a:xfrm>
          <a:prstGeom prst="rect">
            <a:avLst/>
          </a:prstGeom>
          <a:noFill/>
          <a:ln/>
        </p:spPr>
        <p:txBody>
          <a:bodyPr wrap="square" rtlCol="0" anchor="t"/>
          <a:lstStyle/>
          <a:p>
            <a:pPr marL="0" indent="0" algn="l">
              <a:buNone/>
            </a:pPr>
            <a:r>
              <a:rPr lang="en-US" sz="1000" dirty="0">
                <a:solidFill>
                  <a:srgbClr val="FFFFFF"/>
                </a:solidFill>
                <a:latin typeface="Calibri" pitchFamily="34" charset="0"/>
                <a:ea typeface="Calibri" pitchFamily="34" charset="-122"/>
                <a:cs typeface="Calibri" pitchFamily="34" charset="-120"/>
              </a:rPr>
              <a:t>National authorities hold real authorization power; global layer aggregates compliance visibility only — sovereignty by design.</a:t>
            </a:r>
            <a:endParaRPr lang="en-US" sz="1000" dirty="0"/>
          </a:p>
        </p:txBody>
      </p:sp>
      <p:sp>
        <p:nvSpPr>
          <p:cNvPr id="33" name="Principle"/>
          <p:cNvSpPr/>
          <p:nvPr/>
        </p:nvSpPr>
        <p:spPr>
          <a:xfrm>
            <a:off x="457200" y="6172200"/>
            <a:ext cx="11247120" cy="320040"/>
          </a:xfrm>
          <a:prstGeom prst="rect">
            <a:avLst/>
          </a:prstGeom>
          <a:noFill/>
          <a:ln/>
        </p:spPr>
        <p:txBody>
          <a:bodyPr wrap="square"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“AI may analyze, recommend and simulate — but a human must authorize.”</a:t>
            </a:r>
            <a:endParaRPr lang="en-US" sz="1400" dirty="0"/>
          </a:p>
        </p:txBody>
      </p:sp>
    </p:spTree>
    <p:extLst>
      <p:ext uri="{BB962C8B-B14F-4D97-AF65-F5344CB8AC3E}">
        <p14:creationId xmlns:p14="http://schemas.microsoft.com/office/powerpoint/2010/main" val="1024086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292608"/>
          </a:xfrm>
          <a:prstGeom prst="roundRect">
            <a:avLst>
              <a:gd name="adj" fmla="val 18750"/>
            </a:avLst>
          </a:prstGeom>
          <a:solidFill>
            <a:srgbClr val="028090"/>
          </a:solidFill>
          <a:ln/>
        </p:spPr>
      </p:sp>
      <p:sp>
        <p:nvSpPr>
          <p:cNvPr id="3" name="Text 1"/>
          <p:cNvSpPr/>
          <p:nvPr/>
        </p:nvSpPr>
        <p:spPr>
          <a:xfrm>
            <a:off x="457200" y="320040"/>
            <a:ext cx="1737360" cy="292608"/>
          </a:xfrm>
          <a:prstGeom prst="rect">
            <a:avLst/>
          </a:prstGeom>
          <a:noFill/>
          <a:ln/>
        </p:spPr>
        <p:txBody>
          <a:bodyPr wrap="square" rtlCol="0" anchor="ctr"/>
          <a:lstStyle/>
          <a:p>
            <a:pPr marL="0" indent="0" algn="ctr">
              <a:buNone/>
            </a:pPr>
            <a:r>
              <a:rPr lang="en-US" sz="900" b="1" kern="0" spc="100" dirty="0">
                <a:solidFill>
                  <a:srgbClr val="FFFFFF"/>
                </a:solidFill>
                <a:latin typeface="Verdana" pitchFamily="34" charset="0"/>
                <a:ea typeface="Verdana" pitchFamily="34" charset="-122"/>
                <a:cs typeface="Verdana" pitchFamily="34" charset="-120"/>
              </a:rPr>
              <a:t>OVERVIEW</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buNone/>
            </a:pPr>
            <a:r>
              <a:rPr lang="en-US" sz="2600" b="1" dirty="0">
                <a:solidFill>
                  <a:srgbClr val="FFFFFF"/>
                </a:solidFill>
                <a:latin typeface="Verdana" pitchFamily="34" charset="0"/>
                <a:ea typeface="Verdana" pitchFamily="34" charset="-122"/>
                <a:cs typeface="Verdana" pitchFamily="34" charset="-120"/>
              </a:rPr>
              <a:t>What This Sandbox Demonstrates</a:t>
            </a:r>
            <a:endParaRPr lang="en-US" sz="2600" dirty="0"/>
          </a:p>
        </p:txBody>
      </p:sp>
      <p:sp>
        <p:nvSpPr>
          <p:cNvPr id="5" name="Shape 3"/>
          <p:cNvSpPr/>
          <p:nvPr/>
        </p:nvSpPr>
        <p:spPr>
          <a:xfrm>
            <a:off x="548640" y="1691640"/>
            <a:ext cx="11064240" cy="1051560"/>
          </a:xfrm>
          <a:prstGeom prst="roundRect">
            <a:avLst>
              <a:gd name="adj" fmla="val 6957"/>
            </a:avLst>
          </a:prstGeom>
          <a:solidFill>
            <a:srgbClr val="16294A"/>
          </a:solidFill>
          <a:ln w="19050">
            <a:solidFill>
              <a:srgbClr val="028090"/>
            </a:solidFill>
            <a:prstDash val="solid"/>
          </a:ln>
        </p:spPr>
      </p:sp>
      <p:sp>
        <p:nvSpPr>
          <p:cNvPr id="6" name="Shape 4"/>
          <p:cNvSpPr/>
          <p:nvPr/>
        </p:nvSpPr>
        <p:spPr>
          <a:xfrm>
            <a:off x="548640" y="1691640"/>
            <a:ext cx="91440" cy="1051560"/>
          </a:xfrm>
          <a:prstGeom prst="rect">
            <a:avLst/>
          </a:prstGeom>
          <a:solidFill>
            <a:srgbClr val="028090"/>
          </a:solidFill>
          <a:ln/>
        </p:spPr>
      </p:sp>
      <p:sp>
        <p:nvSpPr>
          <p:cNvPr id="7" name="Text 5"/>
          <p:cNvSpPr/>
          <p:nvPr/>
        </p:nvSpPr>
        <p:spPr>
          <a:xfrm>
            <a:off x="822960" y="1783080"/>
            <a:ext cx="10607040" cy="365760"/>
          </a:xfrm>
          <a:prstGeom prst="rect">
            <a:avLst/>
          </a:prstGeom>
          <a:noFill/>
          <a:ln/>
        </p:spPr>
        <p:txBody>
          <a:bodyPr wrap="square" rtlCol="0" anchor="ctr"/>
          <a:lstStyle/>
          <a:p>
            <a:pPr marL="0" indent="0">
              <a:buNone/>
            </a:pPr>
            <a:r>
              <a:rPr lang="en-US" sz="1400" b="1" dirty="0">
                <a:solidFill>
                  <a:srgbClr val="FFFFFF"/>
                </a:solidFill>
                <a:latin typeface="Verdana" pitchFamily="34" charset="0"/>
                <a:ea typeface="Verdana" pitchFamily="34" charset="-122"/>
                <a:cs typeface="Verdana" pitchFamily="34" charset="-120"/>
              </a:rPr>
              <a:t>Four-tier Decision Gate</a:t>
            </a:r>
            <a:endParaRPr lang="en-US" sz="1400" dirty="0"/>
          </a:p>
        </p:txBody>
      </p:sp>
      <p:sp>
        <p:nvSpPr>
          <p:cNvPr id="8" name="Text 6"/>
          <p:cNvSpPr/>
          <p:nvPr/>
        </p:nvSpPr>
        <p:spPr>
          <a:xfrm>
            <a:off x="822960" y="2148840"/>
            <a:ext cx="10607040" cy="50292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Routine (auto-executed), Significant (single ACK), High (multi-party ACK), Critical (hard stop — no policy path exists).</a:t>
            </a:r>
            <a:endParaRPr lang="en-US" sz="1150" dirty="0"/>
          </a:p>
        </p:txBody>
      </p:sp>
      <p:sp>
        <p:nvSpPr>
          <p:cNvPr id="9" name="Shape 7"/>
          <p:cNvSpPr/>
          <p:nvPr/>
        </p:nvSpPr>
        <p:spPr>
          <a:xfrm>
            <a:off x="548640" y="2880360"/>
            <a:ext cx="11064240" cy="1051560"/>
          </a:xfrm>
          <a:prstGeom prst="roundRect">
            <a:avLst>
              <a:gd name="adj" fmla="val 6957"/>
            </a:avLst>
          </a:prstGeom>
          <a:solidFill>
            <a:srgbClr val="16294A"/>
          </a:solidFill>
          <a:ln w="19050">
            <a:solidFill>
              <a:srgbClr val="5B3E96"/>
            </a:solidFill>
            <a:prstDash val="solid"/>
          </a:ln>
        </p:spPr>
      </p:sp>
      <p:sp>
        <p:nvSpPr>
          <p:cNvPr id="10" name="Shape 8"/>
          <p:cNvSpPr/>
          <p:nvPr/>
        </p:nvSpPr>
        <p:spPr>
          <a:xfrm>
            <a:off x="548640" y="2880360"/>
            <a:ext cx="91440" cy="1051560"/>
          </a:xfrm>
          <a:prstGeom prst="rect">
            <a:avLst/>
          </a:prstGeom>
          <a:solidFill>
            <a:srgbClr val="5B3E96"/>
          </a:solidFill>
          <a:ln/>
        </p:spPr>
      </p:sp>
      <p:sp>
        <p:nvSpPr>
          <p:cNvPr id="11" name="Text 9"/>
          <p:cNvSpPr/>
          <p:nvPr/>
        </p:nvSpPr>
        <p:spPr>
          <a:xfrm>
            <a:off x="822960" y="2971800"/>
            <a:ext cx="10607040" cy="365760"/>
          </a:xfrm>
          <a:prstGeom prst="rect">
            <a:avLst/>
          </a:prstGeom>
          <a:noFill/>
          <a:ln/>
        </p:spPr>
        <p:txBody>
          <a:bodyPr wrap="square" rtlCol="0" anchor="ctr"/>
          <a:lstStyle/>
          <a:p>
            <a:pPr marL="0" indent="0">
              <a:buNone/>
            </a:pPr>
            <a:r>
              <a:rPr lang="en-US" sz="1400" b="1" dirty="0">
                <a:solidFill>
                  <a:srgbClr val="FFFFFF"/>
                </a:solidFill>
                <a:latin typeface="Verdana" pitchFamily="34" charset="0"/>
                <a:ea typeface="Verdana" pitchFamily="34" charset="-122"/>
                <a:cs typeface="Verdana" pitchFamily="34" charset="-120"/>
              </a:rPr>
              <a:t>Redirect Gate — a parallel mechanism, not a fifth tier</a:t>
            </a:r>
            <a:endParaRPr lang="en-US" sz="1400" dirty="0"/>
          </a:p>
        </p:txBody>
      </p:sp>
      <p:sp>
        <p:nvSpPr>
          <p:cNvPr id="12" name="Text 10"/>
          <p:cNvSpPr/>
          <p:nvPr/>
        </p:nvSpPr>
        <p:spPr>
          <a:xfrm>
            <a:off x="822960" y="3337560"/>
            <a:ext cx="10607040" cy="50292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Refuse the action and route it to a human authority, instead of authorizing or denying it (HLD §6.5).</a:t>
            </a:r>
            <a:endParaRPr lang="en-US" sz="1150" dirty="0"/>
          </a:p>
        </p:txBody>
      </p:sp>
      <p:sp>
        <p:nvSpPr>
          <p:cNvPr id="13" name="Shape 11"/>
          <p:cNvSpPr/>
          <p:nvPr/>
        </p:nvSpPr>
        <p:spPr>
          <a:xfrm>
            <a:off x="548640" y="4069080"/>
            <a:ext cx="11064240" cy="1051560"/>
          </a:xfrm>
          <a:prstGeom prst="roundRect">
            <a:avLst>
              <a:gd name="adj" fmla="val 6957"/>
            </a:avLst>
          </a:prstGeom>
          <a:solidFill>
            <a:srgbClr val="16294A"/>
          </a:solidFill>
          <a:ln w="19050">
            <a:solidFill>
              <a:srgbClr val="854F0B"/>
            </a:solidFill>
            <a:prstDash val="solid"/>
          </a:ln>
        </p:spPr>
      </p:sp>
      <p:sp>
        <p:nvSpPr>
          <p:cNvPr id="14" name="Shape 12"/>
          <p:cNvSpPr/>
          <p:nvPr/>
        </p:nvSpPr>
        <p:spPr>
          <a:xfrm>
            <a:off x="548640" y="4069080"/>
            <a:ext cx="91440" cy="1051560"/>
          </a:xfrm>
          <a:prstGeom prst="rect">
            <a:avLst/>
          </a:prstGeom>
          <a:solidFill>
            <a:srgbClr val="854F0B"/>
          </a:solidFill>
          <a:ln/>
        </p:spPr>
      </p:sp>
      <p:sp>
        <p:nvSpPr>
          <p:cNvPr id="15" name="Text 13"/>
          <p:cNvSpPr/>
          <p:nvPr/>
        </p:nvSpPr>
        <p:spPr>
          <a:xfrm>
            <a:off x="822960" y="4160520"/>
            <a:ext cx="10607040" cy="365760"/>
          </a:xfrm>
          <a:prstGeom prst="rect">
            <a:avLst/>
          </a:prstGeom>
          <a:noFill/>
          <a:ln/>
        </p:spPr>
        <p:txBody>
          <a:bodyPr wrap="square" rtlCol="0" anchor="ctr"/>
          <a:lstStyle/>
          <a:p>
            <a:pPr marL="0" indent="0">
              <a:buNone/>
            </a:pPr>
            <a:r>
              <a:rPr lang="en-US" sz="1400" b="1" dirty="0">
                <a:solidFill>
                  <a:srgbClr val="FFFFFF"/>
                </a:solidFill>
                <a:latin typeface="Verdana" pitchFamily="34" charset="0"/>
                <a:ea typeface="Verdana" pitchFamily="34" charset="-122"/>
                <a:cs typeface="Verdana" pitchFamily="34" charset="-120"/>
              </a:rPr>
              <a:t>Real infrastructure, not a diagram</a:t>
            </a:r>
            <a:endParaRPr lang="en-US" sz="1400" dirty="0"/>
          </a:p>
        </p:txBody>
      </p:sp>
      <p:sp>
        <p:nvSpPr>
          <p:cNvPr id="16" name="Text 14"/>
          <p:cNvSpPr/>
          <p:nvPr/>
        </p:nvSpPr>
        <p:spPr>
          <a:xfrm>
            <a:off x="822960" y="4526280"/>
            <a:ext cx="10607040" cy="50292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OpenShell policy enforcement, a real AMQP 1.0 broker, a real Postgres audit trail — every result on the Grafana dashboards is a genuine outcome of a real command.</a:t>
            </a:r>
            <a:endParaRPr lang="en-US" sz="1150" dirty="0"/>
          </a:p>
        </p:txBody>
      </p:sp>
      <p:sp>
        <p:nvSpPr>
          <p:cNvPr id="17" name="Shape 15"/>
          <p:cNvSpPr/>
          <p:nvPr/>
        </p:nvSpPr>
        <p:spPr>
          <a:xfrm>
            <a:off x="548640" y="5257800"/>
            <a:ext cx="11064240" cy="1051560"/>
          </a:xfrm>
          <a:prstGeom prst="roundRect">
            <a:avLst>
              <a:gd name="adj" fmla="val 6957"/>
            </a:avLst>
          </a:prstGeom>
          <a:solidFill>
            <a:srgbClr val="16294A"/>
          </a:solidFill>
          <a:ln w="19050">
            <a:solidFill>
              <a:srgbClr val="3A4A63"/>
            </a:solidFill>
            <a:prstDash val="solid"/>
          </a:ln>
        </p:spPr>
      </p:sp>
      <p:sp>
        <p:nvSpPr>
          <p:cNvPr id="18" name="Shape 16"/>
          <p:cNvSpPr/>
          <p:nvPr/>
        </p:nvSpPr>
        <p:spPr>
          <a:xfrm>
            <a:off x="548640" y="5257800"/>
            <a:ext cx="91440" cy="1051560"/>
          </a:xfrm>
          <a:prstGeom prst="rect">
            <a:avLst/>
          </a:prstGeom>
          <a:solidFill>
            <a:srgbClr val="3A4A63"/>
          </a:solidFill>
          <a:ln/>
        </p:spPr>
      </p:sp>
      <p:sp>
        <p:nvSpPr>
          <p:cNvPr id="19" name="Text 17"/>
          <p:cNvSpPr/>
          <p:nvPr/>
        </p:nvSpPr>
        <p:spPr>
          <a:xfrm>
            <a:off x="822960" y="5349240"/>
            <a:ext cx="10607040" cy="365760"/>
          </a:xfrm>
          <a:prstGeom prst="rect">
            <a:avLst/>
          </a:prstGeom>
          <a:noFill/>
          <a:ln/>
        </p:spPr>
        <p:txBody>
          <a:bodyPr wrap="square" rtlCol="0" anchor="ctr"/>
          <a:lstStyle/>
          <a:p>
            <a:pPr marL="0" indent="0">
              <a:buNone/>
            </a:pPr>
            <a:r>
              <a:rPr lang="en-US" sz="1400" b="1" dirty="0">
                <a:solidFill>
                  <a:srgbClr val="FFFFFF"/>
                </a:solidFill>
                <a:latin typeface="Verdana" pitchFamily="34" charset="0"/>
                <a:ea typeface="Verdana" pitchFamily="34" charset="-122"/>
                <a:cs typeface="Verdana" pitchFamily="34" charset="-120"/>
              </a:rPr>
              <a:t>Honest about scope</a:t>
            </a:r>
            <a:endParaRPr lang="en-US" sz="1400" dirty="0"/>
          </a:p>
        </p:txBody>
      </p:sp>
      <p:sp>
        <p:nvSpPr>
          <p:cNvPr id="20" name="Text 18"/>
          <p:cNvSpPr/>
          <p:nvPr/>
        </p:nvSpPr>
        <p:spPr>
          <a:xfrm>
            <a:off x="822960" y="5715000"/>
            <a:ext cx="10607040" cy="50292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This is a policy-layer analog of the Decision Gate, not TJP's hardware-enforced mechanism. Two of four Redirect Gate use cases are explicitly illustrative, ahead of the published rule set.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2560320" cy="292608"/>
          </a:xfrm>
          <a:prstGeom prst="rect">
            <a:avLst/>
          </a:prstGeom>
          <a:solidFill>
            <a:srgbClr val="028090"/>
          </a:solidFill>
          <a:ln/>
        </p:spPr>
      </p:sp>
      <p:sp>
        <p:nvSpPr>
          <p:cNvPr id="3" name="Text 1"/>
          <p:cNvSpPr/>
          <p:nvPr/>
        </p:nvSpPr>
        <p:spPr>
          <a:xfrm>
            <a:off x="457200" y="320040"/>
            <a:ext cx="2560320" cy="292608"/>
          </a:xfrm>
          <a:prstGeom prst="rect">
            <a:avLst/>
          </a:prstGeom>
          <a:noFill/>
          <a:ln/>
        </p:spPr>
        <p:txBody>
          <a:bodyPr wrap="square" rtlCol="0" anchor="ctr"/>
          <a:lstStyle/>
          <a:p>
            <a:pPr marL="0" indent="0" algn="ctr">
              <a:buNone/>
            </a:pPr>
            <a:r>
              <a:rPr lang="en-US" sz="900" b="1" dirty="0">
                <a:solidFill>
                  <a:srgbClr val="FFFFFF"/>
                </a:solidFill>
                <a:latin typeface="Verdana" pitchFamily="34" charset="0"/>
                <a:ea typeface="Verdana" pitchFamily="34" charset="-122"/>
                <a:cs typeface="Verdana" pitchFamily="34" charset="-120"/>
              </a:rPr>
              <a:t>GLOBAL GOVERNANCE</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lgn="l">
              <a:buNone/>
            </a:pPr>
            <a:r>
              <a:rPr lang="en-US" sz="2600" b="1" dirty="0">
                <a:solidFill>
                  <a:srgbClr val="FFFFFF"/>
                </a:solidFill>
                <a:latin typeface="Verdana" pitchFamily="34" charset="0"/>
                <a:ea typeface="Verdana" pitchFamily="34" charset="-122"/>
                <a:cs typeface="Verdana" pitchFamily="34" charset="-120"/>
              </a:rPr>
              <a:t>Why This Exists — The IAIA / NAIA Structure</a:t>
            </a:r>
            <a:endParaRPr lang="en-US" sz="2600" dirty="0"/>
          </a:p>
        </p:txBody>
      </p:sp>
      <p:sp>
        <p:nvSpPr>
          <p:cNvPr id="5" name="Text Intro"/>
          <p:cNvSpPr/>
          <p:nvPr/>
        </p:nvSpPr>
        <p:spPr>
          <a:xfrm>
            <a:off x="548640" y="1691640"/>
            <a:ext cx="11064240" cy="777240"/>
          </a:xfrm>
          <a:prstGeom prst="rect">
            <a:avLst/>
          </a:prstGeom>
          <a:noFill/>
          <a:ln/>
        </p:spPr>
        <p:txBody>
          <a:bodyPr wrap="square" rtlCol="0" anchor="t"/>
          <a:lstStyle/>
          <a:p>
            <a:pPr marL="0" indent="0" algn="l">
              <a:buNone/>
            </a:pPr>
            <a:r>
              <a:rPr lang="en-US" sz="1300" dirty="0">
                <a:solidFill>
                  <a:srgbClr val="CADCFC"/>
                </a:solidFill>
                <a:latin typeface="Calibri" pitchFamily="34" charset="0"/>
                <a:ea typeface="Calibri" pitchFamily="34" charset="-122"/>
                <a:cs typeface="Calibri" pitchFamily="34" charset="-120"/>
              </a:rPr>
              <a:t>The Judge Protocol proposes a three-layer governance architecture, enforceable without being centralized and universal without requiring any state to surrender sovereignty. </a:t>
            </a:r>
            <a:r>
              <a:rPr lang="en-US" sz="1300" b="1" dirty="0">
                <a:solidFill>
                  <a:srgbClr val="CADCFC"/>
                </a:solidFill>
                <a:latin typeface="Calibri" pitchFamily="34" charset="0"/>
                <a:ea typeface="Calibri" pitchFamily="34" charset="-122"/>
                <a:cs typeface="Calibri" pitchFamily="34" charset="-120"/>
              </a:rPr>
              <a:t>This sandbox is a working proof-of-concept of Layer 2 in miniature</a:t>
            </a:r>
            <a:r>
              <a:rPr lang="en-US" sz="1300" dirty="0">
                <a:solidFill>
                  <a:srgbClr val="CADCFC"/>
                </a:solidFill>
                <a:latin typeface="Calibri" pitchFamily="34" charset="0"/>
                <a:ea typeface="Calibri" pitchFamily="34" charset="-122"/>
                <a:cs typeface="Calibri" pitchFamily="34" charset="-120"/>
              </a:rPr>
              <a:t> — Layer 1 (silicon) and Layer 3 (global) remain the long-term target (HLD §4).</a:t>
            </a:r>
          </a:p>
        </p:txBody>
      </p:sp>
      <p:sp>
        <p:nvSpPr>
          <p:cNvPr id="6" name="Card bg HACK"/>
          <p:cNvSpPr/>
          <p:nvPr/>
        </p:nvSpPr>
        <p:spPr>
          <a:xfrm>
            <a:off x="548640" y="2697480"/>
            <a:ext cx="3566160" cy="2331720"/>
          </a:xfrm>
          <a:prstGeom prst="rect">
            <a:avLst/>
          </a:prstGeom>
          <a:solidFill>
            <a:srgbClr val="16294A"/>
          </a:solidFill>
          <a:ln/>
        </p:spPr>
      </p:sp>
      <p:sp>
        <p:nvSpPr>
          <p:cNvPr id="7" name="Chip HACK"/>
          <p:cNvSpPr/>
          <p:nvPr/>
        </p:nvSpPr>
        <p:spPr>
          <a:xfrm>
            <a:off x="777240" y="2898648"/>
            <a:ext cx="1188720" cy="384048"/>
          </a:xfrm>
          <a:prstGeom prst="roundRect">
            <a:avLst>
              <a:gd name="adj" fmla="val 12000"/>
            </a:avLst>
          </a:prstGeom>
          <a:solidFill>
            <a:srgbClr val="1E7A4C"/>
          </a:solidFill>
          <a:ln/>
        </p:spPr>
      </p:sp>
      <p:sp>
        <p:nvSpPr>
          <p:cNvPr id="8" name="ChipText HACK"/>
          <p:cNvSpPr/>
          <p:nvPr/>
        </p:nvSpPr>
        <p:spPr>
          <a:xfrm>
            <a:off x="777240" y="2898648"/>
            <a:ext cx="1188720" cy="384048"/>
          </a:xfrm>
          <a:prstGeom prst="rect">
            <a:avLst/>
          </a:prstGeom>
          <a:noFill/>
          <a:ln/>
        </p:spPr>
        <p:txBody>
          <a:bodyPr wrap="square"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HACK</a:t>
            </a:r>
            <a:endParaRPr lang="en-US" sz="1400" dirty="0"/>
          </a:p>
        </p:txBody>
      </p:sp>
      <p:sp>
        <p:nvSpPr>
          <p:cNvPr id="9" name="Sub HACK"/>
          <p:cNvSpPr/>
          <p:nvPr/>
        </p:nvSpPr>
        <p:spPr>
          <a:xfrm>
            <a:off x="777240" y="3355848"/>
            <a:ext cx="3108960" cy="320040"/>
          </a:xfrm>
          <a:prstGeom prst="rect">
            <a:avLst/>
          </a:prstGeom>
          <a:noFill/>
          <a:ln/>
        </p:spPr>
        <p:txBody>
          <a:bodyPr wrap="square" rtlCol="0" anchor="ctr"/>
          <a:lstStyle/>
          <a:p>
            <a:pPr marL="0" indent="0" algn="l">
              <a:buNone/>
            </a:pPr>
            <a:r>
              <a:rPr lang="en-US" sz="1300" b="1" dirty="0">
                <a:solidFill>
                  <a:srgbClr val="FFFFFF"/>
                </a:solidFill>
                <a:latin typeface="Verdana" pitchFamily="34" charset="0"/>
                <a:ea typeface="Verdana" pitchFamily="34" charset="-122"/>
                <a:cs typeface="Verdana" pitchFamily="34" charset="-120"/>
              </a:rPr>
              <a:t>Layer 1 — Silicon</a:t>
            </a:r>
            <a:endParaRPr lang="en-US" sz="1300" dirty="0"/>
          </a:p>
        </p:txBody>
      </p:sp>
      <p:sp>
        <p:nvSpPr>
          <p:cNvPr id="10" name="Body HACK"/>
          <p:cNvSpPr/>
          <p:nvPr/>
        </p:nvSpPr>
        <p:spPr>
          <a:xfrm>
            <a:off x="777240" y="3703320"/>
            <a:ext cx="3108960" cy="1143000"/>
          </a:xfrm>
          <a:prstGeom prst="rect">
            <a:avLst/>
          </a:prstGeom>
          <a:noFill/>
          <a:ln/>
        </p:spPr>
        <p:txBody>
          <a:bodyPr wrap="square" rtlCol="0" anchor="t"/>
          <a:lstStyle/>
          <a:p>
            <a:pPr marL="0" indent="0" algn="l">
              <a:buNone/>
            </a:pPr>
            <a:r>
              <a:rPr lang="en-US" sz="1050" dirty="0">
                <a:solidFill>
                  <a:srgbClr val="FFFFFF"/>
                </a:solidFill>
                <a:latin typeface="Calibri" pitchFamily="34" charset="0"/>
                <a:ea typeface="Calibri" pitchFamily="34" charset="-122"/>
                <a:cs typeface="Calibri" pitchFamily="34" charset="-120"/>
              </a:rPr>
              <a:t>AI accelerator chips enforce the Decision Gate directly in firmware, below the software stack. Tamper-proof on-chip audit log. Precedent: the Trusted Platform Module (TPM).</a:t>
            </a:r>
            <a:endParaRPr lang="en-US" sz="1050" dirty="0"/>
          </a:p>
        </p:txBody>
      </p:sp>
      <p:sp>
        <p:nvSpPr>
          <p:cNvPr id="11" name="Card bg NAIA"/>
          <p:cNvSpPr/>
          <p:nvPr/>
        </p:nvSpPr>
        <p:spPr>
          <a:xfrm>
            <a:off x="4297680" y="2697480"/>
            <a:ext cx="3566160" cy="2331720"/>
          </a:xfrm>
          <a:prstGeom prst="rect">
            <a:avLst/>
          </a:prstGeom>
          <a:solidFill>
            <a:srgbClr val="16294A"/>
          </a:solidFill>
          <a:ln/>
        </p:spPr>
      </p:sp>
      <p:sp>
        <p:nvSpPr>
          <p:cNvPr id="12" name="Chip NAIA"/>
          <p:cNvSpPr/>
          <p:nvPr/>
        </p:nvSpPr>
        <p:spPr>
          <a:xfrm>
            <a:off x="4526280" y="2898648"/>
            <a:ext cx="1188720" cy="384048"/>
          </a:xfrm>
          <a:prstGeom prst="roundRect">
            <a:avLst>
              <a:gd name="adj" fmla="val 12000"/>
            </a:avLst>
          </a:prstGeom>
          <a:solidFill>
            <a:srgbClr val="5B3E96"/>
          </a:solidFill>
          <a:ln/>
        </p:spPr>
      </p:sp>
      <p:sp>
        <p:nvSpPr>
          <p:cNvPr id="13" name="ChipText NAIA"/>
          <p:cNvSpPr/>
          <p:nvPr/>
        </p:nvSpPr>
        <p:spPr>
          <a:xfrm>
            <a:off x="4526280" y="2898648"/>
            <a:ext cx="1188720" cy="384048"/>
          </a:xfrm>
          <a:prstGeom prst="rect">
            <a:avLst/>
          </a:prstGeom>
          <a:noFill/>
          <a:ln/>
        </p:spPr>
        <p:txBody>
          <a:bodyPr wrap="square"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NAIA</a:t>
            </a:r>
            <a:endParaRPr lang="en-US" sz="1400" dirty="0"/>
          </a:p>
        </p:txBody>
      </p:sp>
      <p:sp>
        <p:nvSpPr>
          <p:cNvPr id="14" name="Sub NAIA"/>
          <p:cNvSpPr/>
          <p:nvPr/>
        </p:nvSpPr>
        <p:spPr>
          <a:xfrm>
            <a:off x="4526280" y="3355848"/>
            <a:ext cx="3108960" cy="320040"/>
          </a:xfrm>
          <a:prstGeom prst="rect">
            <a:avLst/>
          </a:prstGeom>
          <a:noFill/>
          <a:ln/>
        </p:spPr>
        <p:txBody>
          <a:bodyPr wrap="square" rtlCol="0" anchor="ctr"/>
          <a:lstStyle/>
          <a:p>
            <a:pPr marL="0" indent="0" algn="l">
              <a:buNone/>
            </a:pPr>
            <a:r>
              <a:rPr lang="en-US" sz="1300" b="1" dirty="0">
                <a:solidFill>
                  <a:srgbClr val="FFFFFF"/>
                </a:solidFill>
                <a:latin typeface="Verdana" pitchFamily="34" charset="0"/>
                <a:ea typeface="Verdana" pitchFamily="34" charset="-122"/>
                <a:cs typeface="Verdana" pitchFamily="34" charset="-120"/>
              </a:rPr>
              <a:t>Layer 2 — National</a:t>
            </a:r>
            <a:endParaRPr lang="en-US" sz="1300" dirty="0"/>
          </a:p>
        </p:txBody>
      </p:sp>
      <p:sp>
        <p:nvSpPr>
          <p:cNvPr id="15" name="Body NAIA"/>
          <p:cNvSpPr/>
          <p:nvPr/>
        </p:nvSpPr>
        <p:spPr>
          <a:xfrm>
            <a:off x="4526280" y="3703320"/>
            <a:ext cx="3108960" cy="1143000"/>
          </a:xfrm>
          <a:prstGeom prst="rect">
            <a:avLst/>
          </a:prstGeom>
          <a:noFill/>
          <a:ln/>
        </p:spPr>
        <p:txBody>
          <a:bodyPr wrap="square" rtlCol="0" anchor="t"/>
          <a:lstStyle/>
          <a:p>
            <a:pPr marL="0" indent="0" algn="l">
              <a:buNone/>
            </a:pPr>
            <a:r>
              <a:rPr lang="en-US" sz="1050" dirty="0">
                <a:solidFill>
                  <a:srgbClr val="FFFFFF"/>
                </a:solidFill>
                <a:latin typeface="Calibri" pitchFamily="34" charset="0"/>
                <a:ea typeface="Calibri" pitchFamily="34" charset="-122"/>
                <a:cs typeface="Calibri" pitchFamily="34" charset="-120"/>
              </a:rPr>
              <a:t>Each member state operates a Decision Gate Platform — the human authorization interface, tier classification engine, and national audit trail. This sandbox demonstrates exactly this layer.</a:t>
            </a:r>
            <a:endParaRPr lang="en-US" sz="1050" dirty="0"/>
          </a:p>
        </p:txBody>
      </p:sp>
      <p:sp>
        <p:nvSpPr>
          <p:cNvPr id="16" name="Card bg IAIA"/>
          <p:cNvSpPr/>
          <p:nvPr/>
        </p:nvSpPr>
        <p:spPr>
          <a:xfrm>
            <a:off x="8046720" y="2697480"/>
            <a:ext cx="3566160" cy="2331720"/>
          </a:xfrm>
          <a:prstGeom prst="rect">
            <a:avLst/>
          </a:prstGeom>
          <a:solidFill>
            <a:srgbClr val="16294A"/>
          </a:solidFill>
          <a:ln/>
        </p:spPr>
      </p:sp>
      <p:sp>
        <p:nvSpPr>
          <p:cNvPr id="17" name="Chip IAIA"/>
          <p:cNvSpPr/>
          <p:nvPr/>
        </p:nvSpPr>
        <p:spPr>
          <a:xfrm>
            <a:off x="8275320" y="2898648"/>
            <a:ext cx="1188720" cy="384048"/>
          </a:xfrm>
          <a:prstGeom prst="roundRect">
            <a:avLst>
              <a:gd name="adj" fmla="val 12000"/>
            </a:avLst>
          </a:prstGeom>
          <a:solidFill>
            <a:srgbClr val="028090"/>
          </a:solidFill>
          <a:ln/>
        </p:spPr>
      </p:sp>
      <p:sp>
        <p:nvSpPr>
          <p:cNvPr id="18" name="ChipText IAIA"/>
          <p:cNvSpPr/>
          <p:nvPr/>
        </p:nvSpPr>
        <p:spPr>
          <a:xfrm>
            <a:off x="8275320" y="2898648"/>
            <a:ext cx="1188720" cy="384048"/>
          </a:xfrm>
          <a:prstGeom prst="rect">
            <a:avLst/>
          </a:prstGeom>
          <a:noFill/>
          <a:ln/>
        </p:spPr>
        <p:txBody>
          <a:bodyPr wrap="square"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IAIA</a:t>
            </a:r>
            <a:endParaRPr lang="en-US" sz="1400" dirty="0"/>
          </a:p>
        </p:txBody>
      </p:sp>
      <p:sp>
        <p:nvSpPr>
          <p:cNvPr id="19" name="Sub IAIA"/>
          <p:cNvSpPr/>
          <p:nvPr/>
        </p:nvSpPr>
        <p:spPr>
          <a:xfrm>
            <a:off x="8275320" y="3355848"/>
            <a:ext cx="3108960" cy="320040"/>
          </a:xfrm>
          <a:prstGeom prst="rect">
            <a:avLst/>
          </a:prstGeom>
          <a:noFill/>
          <a:ln/>
        </p:spPr>
        <p:txBody>
          <a:bodyPr wrap="square" rtlCol="0" anchor="ctr"/>
          <a:lstStyle/>
          <a:p>
            <a:pPr marL="0" indent="0" algn="l">
              <a:buNone/>
            </a:pPr>
            <a:r>
              <a:rPr lang="en-US" sz="1300" b="1" dirty="0">
                <a:solidFill>
                  <a:srgbClr val="FFFFFF"/>
                </a:solidFill>
                <a:latin typeface="Verdana" pitchFamily="34" charset="0"/>
                <a:ea typeface="Verdana" pitchFamily="34" charset="-122"/>
                <a:cs typeface="Verdana" pitchFamily="34" charset="-120"/>
              </a:rPr>
              <a:t>Layer 3 — Global</a:t>
            </a:r>
            <a:endParaRPr lang="en-US" sz="1300" dirty="0"/>
          </a:p>
        </p:txBody>
      </p:sp>
      <p:sp>
        <p:nvSpPr>
          <p:cNvPr id="20" name="Body IAIA"/>
          <p:cNvSpPr/>
          <p:nvPr/>
        </p:nvSpPr>
        <p:spPr>
          <a:xfrm>
            <a:off x="8275320" y="3703320"/>
            <a:ext cx="3108960" cy="1143000"/>
          </a:xfrm>
          <a:prstGeom prst="rect">
            <a:avLst/>
          </a:prstGeom>
          <a:noFill/>
          <a:ln/>
        </p:spPr>
        <p:txBody>
          <a:bodyPr wrap="square" rtlCol="0" anchor="t"/>
          <a:lstStyle/>
          <a:p>
            <a:pPr marL="0" indent="0" algn="l">
              <a:buNone/>
            </a:pPr>
            <a:r>
              <a:rPr lang="en-US" sz="1050" dirty="0">
                <a:solidFill>
                  <a:srgbClr val="FFFFFF"/>
                </a:solidFill>
                <a:latin typeface="Calibri" pitchFamily="34" charset="0"/>
                <a:ea typeface="Calibri" pitchFamily="34" charset="-122"/>
                <a:cs typeface="Calibri" pitchFamily="34" charset="-120"/>
              </a:rPr>
              <a:t>A proposed UN specialized agency modeled on the IAEA. Operates the Global AI Registry and Emergency Dashboard. Aggregates compliance metadata only — never raw content.</a:t>
            </a:r>
            <a:endParaRPr lang="en-US" sz="1050" dirty="0"/>
          </a:p>
        </p:txBody>
      </p:sp>
      <p:sp>
        <p:nvSpPr>
          <p:cNvPr id="21" name="Footer box"/>
          <p:cNvSpPr/>
          <p:nvPr/>
        </p:nvSpPr>
        <p:spPr>
          <a:xfrm>
            <a:off x="548640" y="5257800"/>
            <a:ext cx="11064240" cy="914400"/>
          </a:xfrm>
          <a:prstGeom prst="rect">
            <a:avLst/>
          </a:prstGeom>
          <a:solidFill>
            <a:srgbClr val="16294A"/>
          </a:solidFill>
          <a:ln/>
        </p:spPr>
      </p:sp>
      <p:sp>
        <p:nvSpPr>
          <p:cNvPr id="22" name="Footer text"/>
          <p:cNvSpPr/>
          <p:nvPr/>
        </p:nvSpPr>
        <p:spPr>
          <a:xfrm>
            <a:off x="731520" y="5349240"/>
            <a:ext cx="10698480" cy="749808"/>
          </a:xfrm>
          <a:prstGeom prst="rect">
            <a:avLst/>
          </a:prstGeom>
          <a:noFill/>
          <a:ln/>
        </p:spPr>
        <p:txBody>
          <a:bodyPr wrap="square" rtlCol="0" anchor="t"/>
          <a:lstStyle/>
          <a:p>
            <a:pPr marL="0" indent="0" algn="l">
              <a:buNone/>
            </a:pPr>
            <a:r>
              <a:rPr lang="en-US" sz="1150" b="1" dirty="0">
                <a:solidFill>
                  <a:srgbClr val="CADCFC"/>
                </a:solidFill>
                <a:latin typeface="Calibri" pitchFamily="34" charset="0"/>
                <a:ea typeface="Calibri" pitchFamily="34" charset="-122"/>
                <a:cs typeface="Calibri" pitchFamily="34" charset="-120"/>
              </a:rPr>
              <a:t>Sovereignty by design: </a:t>
            </a:r>
            <a:r>
              <a:rPr lang="en-US" sz="1150" dirty="0">
                <a:solidFill>
                  <a:srgbClr val="CADCFC"/>
                </a:solidFill>
                <a:latin typeface="Calibri" pitchFamily="34" charset="0"/>
                <a:ea typeface="Calibri" pitchFamily="34" charset="-122"/>
                <a:cs typeface="Calibri" pitchFamily="34" charset="-120"/>
              </a:rPr>
              <a:t>national data never crosses borders without consent — the global layer sees only compliance metadata, never raw content. Lineage: IAEA + CERN + TCP/IP → The Judge Protocol (Geneva Lineage, Executive Summary).</a:t>
            </a:r>
          </a:p>
        </p:txBody>
      </p:sp>
      <p:sp>
        <p:nvSpPr>
          <p:cNvPr id="23" name="Text caption"/>
          <p:cNvSpPr/>
          <p:nvPr/>
        </p:nvSpPr>
        <p:spPr>
          <a:xfrm>
            <a:off x="457200" y="6537960"/>
            <a:ext cx="1124712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IAIA is a proposed body, not yet established — this sandbox and the wider Judge Protocol framework are the working proposal.</a:t>
            </a:r>
            <a:endParaRPr lang="en-US" sz="1000" dirty="0"/>
          </a:p>
        </p:txBody>
      </p:sp>
    </p:spTree>
    <p:extLst>
      <p:ext uri="{BB962C8B-B14F-4D97-AF65-F5344CB8AC3E}">
        <p14:creationId xmlns:p14="http://schemas.microsoft.com/office/powerpoint/2010/main" val="1024086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292608"/>
          </a:xfrm>
          <a:prstGeom prst="roundRect">
            <a:avLst>
              <a:gd name="adj" fmla="val 18750"/>
            </a:avLst>
          </a:prstGeom>
          <a:solidFill>
            <a:srgbClr val="028090"/>
          </a:solidFill>
          <a:ln/>
        </p:spPr>
      </p:sp>
      <p:sp>
        <p:nvSpPr>
          <p:cNvPr id="3" name="Text 1"/>
          <p:cNvSpPr/>
          <p:nvPr/>
        </p:nvSpPr>
        <p:spPr>
          <a:xfrm>
            <a:off x="457200" y="320040"/>
            <a:ext cx="1737360" cy="292608"/>
          </a:xfrm>
          <a:prstGeom prst="rect">
            <a:avLst/>
          </a:prstGeom>
          <a:noFill/>
          <a:ln/>
        </p:spPr>
        <p:txBody>
          <a:bodyPr wrap="square" rtlCol="0" anchor="ctr"/>
          <a:lstStyle/>
          <a:p>
            <a:pPr marL="0" indent="0" algn="ctr">
              <a:buNone/>
            </a:pPr>
            <a:r>
              <a:rPr lang="en-US" sz="900" b="1" kern="0" spc="100" dirty="0">
                <a:solidFill>
                  <a:srgbClr val="FFFFFF"/>
                </a:solidFill>
                <a:latin typeface="Verdana" pitchFamily="34" charset="0"/>
                <a:ea typeface="Verdana" pitchFamily="34" charset="-122"/>
                <a:cs typeface="Verdana" pitchFamily="34" charset="-120"/>
              </a:rPr>
              <a:t>PATH TO SILICON</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buNone/>
            </a:pPr>
            <a:r>
              <a:rPr lang="en-US" sz="2600" b="1" dirty="0">
                <a:solidFill>
                  <a:srgbClr val="FFFFFF"/>
                </a:solidFill>
                <a:latin typeface="Verdana" pitchFamily="34" charset="0"/>
                <a:ea typeface="Verdana" pitchFamily="34" charset="-122"/>
                <a:cs typeface="Verdana" pitchFamily="34" charset="-120"/>
              </a:rPr>
              <a:t>From Sandbox to Silicon — OpenShell Today, HACK Tomorrow</a:t>
            </a:r>
            <a:endParaRPr lang="en-US" sz="2600" dirty="0"/>
          </a:p>
        </p:txBody>
      </p:sp>
      <p:sp>
        <p:nvSpPr>
          <p:cNvPr id="5" name="Text 3"/>
          <p:cNvSpPr/>
          <p:nvPr/>
        </p:nvSpPr>
        <p:spPr>
          <a:xfrm>
            <a:off x="548640" y="1691640"/>
            <a:ext cx="11064240" cy="777240"/>
          </a:xfrm>
          <a:prstGeom prst="rect">
            <a:avLst/>
          </a:prstGeom>
          <a:noFill/>
          <a:ln/>
        </p:spPr>
        <p:txBody>
          <a:bodyPr wrap="square"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OpenShell</a:t>
            </a:r>
            <a:r>
              <a:rPr lang="en-US" sz="1250" dirty="0">
                <a:solidFill>
                  <a:srgbClr val="CADCFC"/>
                </a:solidFill>
                <a:latin typeface="Calibri" pitchFamily="34" charset="0"/>
                <a:ea typeface="Calibri" pitchFamily="34" charset="-122"/>
                <a:cs typeface="Calibri" pitchFamily="34" charset="-120"/>
              </a:rPr>
              <a:t> is NVIDIA's open-source AI agent sandbox (github.com/NVIDIA/OpenShell, v0.0.97, alpha) — real filesystem, network, and process policy enforcement for AI agent actions. It gives this demonstration genuine allow/deny semantics, not a simulation. In the Judge Protocol's own terms, this is exactly </a:t>
            </a:r>
            <a:r>
              <a:rPr lang="en-US" sz="1250" b="1" dirty="0">
                <a:solidFill>
                  <a:srgbClr val="1E7A4C"/>
                </a:solidFill>
                <a:latin typeface="Calibri" pitchFamily="34" charset="0"/>
                <a:ea typeface="Calibri" pitchFamily="34" charset="-122"/>
                <a:cs typeface="Calibri" pitchFamily="34" charset="-120"/>
              </a:rPr>
              <a:t>PMO — Present Mode of Operation</a:t>
            </a:r>
            <a:r>
              <a:rPr lang="en-US" sz="1250" dirty="0">
                <a:solidFill>
                  <a:srgbClr val="CADCFC"/>
                </a:solidFill>
                <a:latin typeface="Calibri" pitchFamily="34" charset="0"/>
                <a:ea typeface="Calibri" pitchFamily="34" charset="-122"/>
                <a:cs typeface="Calibri" pitchFamily="34" charset="-120"/>
              </a:rPr>
              <a:t>: “the sandbox and reference implementation form” (HLD §4.2.1).</a:t>
            </a:r>
            <a:endParaRPr lang="en-US" sz="1250" dirty="0"/>
          </a:p>
        </p:txBody>
      </p:sp>
      <p:sp>
        <p:nvSpPr>
          <p:cNvPr id="6" name="Shape 4"/>
          <p:cNvSpPr/>
          <p:nvPr/>
        </p:nvSpPr>
        <p:spPr>
          <a:xfrm>
            <a:off x="548640" y="2697480"/>
            <a:ext cx="3566160" cy="2331720"/>
          </a:xfrm>
          <a:prstGeom prst="roundRect">
            <a:avLst>
              <a:gd name="adj" fmla="val 3137"/>
            </a:avLst>
          </a:prstGeom>
          <a:solidFill>
            <a:srgbClr val="16294A"/>
          </a:solidFill>
          <a:ln w="25400">
            <a:solidFill>
              <a:srgbClr val="1E7A4C"/>
            </a:solidFill>
            <a:prstDash val="solid"/>
          </a:ln>
        </p:spPr>
      </p:sp>
      <p:sp>
        <p:nvSpPr>
          <p:cNvPr id="7" name="Shape 5"/>
          <p:cNvSpPr/>
          <p:nvPr/>
        </p:nvSpPr>
        <p:spPr>
          <a:xfrm>
            <a:off x="777240" y="2898648"/>
            <a:ext cx="1188720" cy="384048"/>
          </a:xfrm>
          <a:prstGeom prst="roundRect">
            <a:avLst>
              <a:gd name="adj" fmla="val 14286"/>
            </a:avLst>
          </a:prstGeom>
          <a:solidFill>
            <a:srgbClr val="1E7A4C"/>
          </a:solidFill>
          <a:ln/>
        </p:spPr>
      </p:sp>
      <p:sp>
        <p:nvSpPr>
          <p:cNvPr id="8" name="Text 6"/>
          <p:cNvSpPr/>
          <p:nvPr/>
        </p:nvSpPr>
        <p:spPr>
          <a:xfrm>
            <a:off x="777240" y="2898648"/>
            <a:ext cx="1188720" cy="384048"/>
          </a:xfrm>
          <a:prstGeom prst="rect">
            <a:avLst/>
          </a:prstGeom>
          <a:noFill/>
          <a:ln/>
        </p:spPr>
        <p:txBody>
          <a:bodyPr wrap="square"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PMO</a:t>
            </a:r>
            <a:endParaRPr lang="en-US" sz="1400" dirty="0"/>
          </a:p>
        </p:txBody>
      </p:sp>
      <p:sp>
        <p:nvSpPr>
          <p:cNvPr id="9" name="Text 7"/>
          <p:cNvSpPr/>
          <p:nvPr/>
        </p:nvSpPr>
        <p:spPr>
          <a:xfrm>
            <a:off x="2103120" y="2953512"/>
            <a:ext cx="1828800" cy="274320"/>
          </a:xfrm>
          <a:prstGeom prst="rect">
            <a:avLst/>
          </a:prstGeom>
          <a:noFill/>
          <a:ln/>
        </p:spPr>
        <p:txBody>
          <a:bodyPr wrap="square" rtlCol="0" anchor="ctr"/>
          <a:lstStyle/>
          <a:p>
            <a:pPr marL="0" indent="0" algn="r">
              <a:buNone/>
            </a:pPr>
            <a:r>
              <a:rPr lang="en-US" sz="850" b="1" dirty="0">
                <a:solidFill>
                  <a:srgbClr val="1E7A4C"/>
                </a:solidFill>
                <a:latin typeface="Verdana" pitchFamily="34" charset="0"/>
                <a:ea typeface="Verdana" pitchFamily="34" charset="-122"/>
                <a:cs typeface="Verdana" pitchFamily="34" charset="-120"/>
              </a:rPr>
              <a:t>YOU ARE HERE</a:t>
            </a:r>
            <a:endParaRPr lang="en-US" sz="850" dirty="0"/>
          </a:p>
        </p:txBody>
      </p:sp>
      <p:sp>
        <p:nvSpPr>
          <p:cNvPr id="10" name="Text 8"/>
          <p:cNvSpPr/>
          <p:nvPr/>
        </p:nvSpPr>
        <p:spPr>
          <a:xfrm>
            <a:off x="777240" y="3355848"/>
            <a:ext cx="3108960" cy="320040"/>
          </a:xfrm>
          <a:prstGeom prst="rect">
            <a:avLst/>
          </a:prstGeom>
          <a:noFill/>
          <a:ln/>
        </p:spPr>
        <p:txBody>
          <a:bodyPr wrap="square" rtlCol="0" anchor="ctr"/>
          <a:lstStyle/>
          <a:p>
            <a:pPr marL="0" indent="0">
              <a:buNone/>
            </a:pPr>
            <a:r>
              <a:rPr lang="en-US" sz="1050" b="1" dirty="0">
                <a:solidFill>
                  <a:srgbClr val="FFFFFF"/>
                </a:solidFill>
                <a:latin typeface="Verdana" pitchFamily="34" charset="0"/>
                <a:ea typeface="Verdana" pitchFamily="34" charset="-122"/>
                <a:cs typeface="Verdana" pitchFamily="34" charset="-120"/>
              </a:rPr>
              <a:t>Present Mode of Operation</a:t>
            </a:r>
            <a:endParaRPr lang="en-US" sz="1050" dirty="0"/>
          </a:p>
        </p:txBody>
      </p:sp>
      <p:sp>
        <p:nvSpPr>
          <p:cNvPr id="11" name="Text 9"/>
          <p:cNvSpPr/>
          <p:nvPr/>
        </p:nvSpPr>
        <p:spPr>
          <a:xfrm>
            <a:off x="777240" y="3703320"/>
            <a:ext cx="3108960" cy="114300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Software enforcement. Standard Linux, no hardware modification. This sandbox — OpenShell + tjp-decision-gate-policy.yaml — IS this mode, running today.</a:t>
            </a:r>
            <a:endParaRPr lang="en-US" sz="1000" dirty="0"/>
          </a:p>
        </p:txBody>
      </p:sp>
      <p:sp>
        <p:nvSpPr>
          <p:cNvPr id="12" name="Shape 10"/>
          <p:cNvSpPr/>
          <p:nvPr/>
        </p:nvSpPr>
        <p:spPr>
          <a:xfrm>
            <a:off x="4297680" y="2697480"/>
            <a:ext cx="3566160" cy="2331720"/>
          </a:xfrm>
          <a:prstGeom prst="roundRect">
            <a:avLst>
              <a:gd name="adj" fmla="val 3137"/>
            </a:avLst>
          </a:prstGeom>
          <a:solidFill>
            <a:srgbClr val="16294A"/>
          </a:solidFill>
          <a:ln w="12700">
            <a:solidFill>
              <a:srgbClr val="3A4A63"/>
            </a:solidFill>
            <a:prstDash val="solid"/>
          </a:ln>
        </p:spPr>
      </p:sp>
      <p:sp>
        <p:nvSpPr>
          <p:cNvPr id="13" name="Shape 11"/>
          <p:cNvSpPr/>
          <p:nvPr/>
        </p:nvSpPr>
        <p:spPr>
          <a:xfrm>
            <a:off x="4526280" y="2898648"/>
            <a:ext cx="1188720" cy="384048"/>
          </a:xfrm>
          <a:prstGeom prst="roundRect">
            <a:avLst>
              <a:gd name="adj" fmla="val 14286"/>
            </a:avLst>
          </a:prstGeom>
          <a:solidFill>
            <a:srgbClr val="B5730A"/>
          </a:solidFill>
          <a:ln/>
        </p:spPr>
      </p:sp>
      <p:sp>
        <p:nvSpPr>
          <p:cNvPr id="14" name="Text 12"/>
          <p:cNvSpPr/>
          <p:nvPr/>
        </p:nvSpPr>
        <p:spPr>
          <a:xfrm>
            <a:off x="4526280" y="2898648"/>
            <a:ext cx="1188720" cy="384048"/>
          </a:xfrm>
          <a:prstGeom prst="rect">
            <a:avLst/>
          </a:prstGeom>
          <a:noFill/>
          <a:ln/>
        </p:spPr>
        <p:txBody>
          <a:bodyPr wrap="square"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TMO</a:t>
            </a:r>
            <a:endParaRPr lang="en-US" sz="1400" dirty="0"/>
          </a:p>
        </p:txBody>
      </p:sp>
      <p:sp>
        <p:nvSpPr>
          <p:cNvPr id="15" name="Text 13"/>
          <p:cNvSpPr/>
          <p:nvPr/>
        </p:nvSpPr>
        <p:spPr>
          <a:xfrm>
            <a:off x="4526280" y="3355848"/>
            <a:ext cx="3108960" cy="320040"/>
          </a:xfrm>
          <a:prstGeom prst="rect">
            <a:avLst/>
          </a:prstGeom>
          <a:noFill/>
          <a:ln/>
        </p:spPr>
        <p:txBody>
          <a:bodyPr wrap="square" rtlCol="0" anchor="ctr"/>
          <a:lstStyle/>
          <a:p>
            <a:pPr marL="0" indent="0">
              <a:buNone/>
            </a:pPr>
            <a:r>
              <a:rPr lang="en-US" sz="1050" b="1" dirty="0">
                <a:solidFill>
                  <a:srgbClr val="FFFFFF"/>
                </a:solidFill>
                <a:latin typeface="Verdana" pitchFamily="34" charset="0"/>
                <a:ea typeface="Verdana" pitchFamily="34" charset="-122"/>
                <a:cs typeface="Verdana" pitchFamily="34" charset="-120"/>
              </a:rPr>
              <a:t>Transition Mode of Operation</a:t>
            </a:r>
            <a:endParaRPr lang="en-US" sz="1050" dirty="0"/>
          </a:p>
        </p:txBody>
      </p:sp>
      <p:sp>
        <p:nvSpPr>
          <p:cNvPr id="16" name="Text 14"/>
          <p:cNvSpPr/>
          <p:nvPr/>
        </p:nvSpPr>
        <p:spPr>
          <a:xfrm>
            <a:off x="4526280" y="3703320"/>
            <a:ext cx="3108960" cy="114300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HACK firmware on the GPU management processor already inside every enterprise accelerator — NVIDIA's GSP, AMD's SMU. No new hardware, delivered as firmware.</a:t>
            </a:r>
            <a:endParaRPr lang="en-US" sz="1000" dirty="0"/>
          </a:p>
        </p:txBody>
      </p:sp>
      <p:sp>
        <p:nvSpPr>
          <p:cNvPr id="17" name="Shape 15"/>
          <p:cNvSpPr/>
          <p:nvPr/>
        </p:nvSpPr>
        <p:spPr>
          <a:xfrm>
            <a:off x="8046720" y="2697480"/>
            <a:ext cx="3566160" cy="2331720"/>
          </a:xfrm>
          <a:prstGeom prst="roundRect">
            <a:avLst>
              <a:gd name="adj" fmla="val 3137"/>
            </a:avLst>
          </a:prstGeom>
          <a:solidFill>
            <a:srgbClr val="16294A"/>
          </a:solidFill>
          <a:ln w="12700">
            <a:solidFill>
              <a:srgbClr val="3A4A63"/>
            </a:solidFill>
            <a:prstDash val="solid"/>
          </a:ln>
        </p:spPr>
      </p:sp>
      <p:sp>
        <p:nvSpPr>
          <p:cNvPr id="18" name="Shape 16"/>
          <p:cNvSpPr/>
          <p:nvPr/>
        </p:nvSpPr>
        <p:spPr>
          <a:xfrm>
            <a:off x="8275320" y="2898648"/>
            <a:ext cx="1188720" cy="384048"/>
          </a:xfrm>
          <a:prstGeom prst="roundRect">
            <a:avLst>
              <a:gd name="adj" fmla="val 14286"/>
            </a:avLst>
          </a:prstGeom>
          <a:solidFill>
            <a:srgbClr val="A6291D"/>
          </a:solidFill>
          <a:ln/>
        </p:spPr>
      </p:sp>
      <p:sp>
        <p:nvSpPr>
          <p:cNvPr id="19" name="Text 17"/>
          <p:cNvSpPr/>
          <p:nvPr/>
        </p:nvSpPr>
        <p:spPr>
          <a:xfrm>
            <a:off x="8275320" y="2898648"/>
            <a:ext cx="1188720" cy="384048"/>
          </a:xfrm>
          <a:prstGeom prst="rect">
            <a:avLst/>
          </a:prstGeom>
          <a:noFill/>
          <a:ln/>
        </p:spPr>
        <p:txBody>
          <a:bodyPr wrap="square" rtlCol="0" anchor="ctr"/>
          <a:lstStyle/>
          <a:p>
            <a:pPr marL="0" indent="0" algn="ctr">
              <a:buNone/>
            </a:pPr>
            <a:r>
              <a:rPr lang="en-US" sz="1400" b="1" dirty="0">
                <a:solidFill>
                  <a:srgbClr val="FFFFFF"/>
                </a:solidFill>
                <a:latin typeface="Verdana" pitchFamily="34" charset="0"/>
                <a:ea typeface="Verdana" pitchFamily="34" charset="-122"/>
                <a:cs typeface="Verdana" pitchFamily="34" charset="-120"/>
              </a:rPr>
              <a:t>FMO</a:t>
            </a:r>
            <a:endParaRPr lang="en-US" sz="1400" dirty="0"/>
          </a:p>
        </p:txBody>
      </p:sp>
      <p:sp>
        <p:nvSpPr>
          <p:cNvPr id="20" name="Text 18"/>
          <p:cNvSpPr/>
          <p:nvPr/>
        </p:nvSpPr>
        <p:spPr>
          <a:xfrm>
            <a:off x="8275320" y="3355848"/>
            <a:ext cx="3108960" cy="320040"/>
          </a:xfrm>
          <a:prstGeom prst="rect">
            <a:avLst/>
          </a:prstGeom>
          <a:noFill/>
          <a:ln/>
        </p:spPr>
        <p:txBody>
          <a:bodyPr wrap="square" rtlCol="0" anchor="ctr"/>
          <a:lstStyle/>
          <a:p>
            <a:pPr marL="0" indent="0">
              <a:buNone/>
            </a:pPr>
            <a:r>
              <a:rPr lang="en-US" sz="1050" b="1" dirty="0">
                <a:solidFill>
                  <a:srgbClr val="FFFFFF"/>
                </a:solidFill>
                <a:latin typeface="Verdana" pitchFamily="34" charset="0"/>
                <a:ea typeface="Verdana" pitchFamily="34" charset="-122"/>
                <a:cs typeface="Verdana" pitchFamily="34" charset="-120"/>
              </a:rPr>
              <a:t>Future Mode of Operation</a:t>
            </a:r>
            <a:endParaRPr lang="en-US" sz="1050" dirty="0"/>
          </a:p>
        </p:txBody>
      </p:sp>
      <p:sp>
        <p:nvSpPr>
          <p:cNvPr id="21" name="Text 19"/>
          <p:cNvSpPr/>
          <p:nvPr/>
        </p:nvSpPr>
        <p:spPr>
          <a:xfrm>
            <a:off x="8275320" y="3703320"/>
            <a:ext cx="3108960" cy="114300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HACK core co-packaged inside the accelerator die itself — end-state silicon, physically inseparable from compute. Open RISC-V variant (OpenTitan + Ibex) needs no manufacturer cooperation.</a:t>
            </a:r>
            <a:endParaRPr lang="en-US" sz="1000" dirty="0"/>
          </a:p>
        </p:txBody>
      </p:sp>
      <p:sp>
        <p:nvSpPr>
          <p:cNvPr id="22" name="Shape 20"/>
          <p:cNvSpPr/>
          <p:nvPr/>
        </p:nvSpPr>
        <p:spPr>
          <a:xfrm>
            <a:off x="548640" y="5257800"/>
            <a:ext cx="11064240" cy="914400"/>
          </a:xfrm>
          <a:prstGeom prst="roundRect">
            <a:avLst>
              <a:gd name="adj" fmla="val 6000"/>
            </a:avLst>
          </a:prstGeom>
          <a:solidFill>
            <a:srgbClr val="16294A"/>
          </a:solidFill>
          <a:ln w="12700">
            <a:solidFill>
              <a:srgbClr val="028090"/>
            </a:solidFill>
            <a:prstDash val="solid"/>
          </a:ln>
        </p:spPr>
      </p:sp>
      <p:sp>
        <p:nvSpPr>
          <p:cNvPr id="23" name="Text 21"/>
          <p:cNvSpPr/>
          <p:nvPr/>
        </p:nvSpPr>
        <p:spPr>
          <a:xfrm>
            <a:off x="731520" y="5349240"/>
            <a:ext cx="10698480" cy="74980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 concrete finding from this build: </a:t>
            </a:r>
            <a:r>
              <a:rPr lang="en-US" sz="1000" dirty="0">
                <a:solidFill>
                  <a:srgbClr val="CADCFC"/>
                </a:solidFill>
                <a:latin typeface="Calibri" pitchFamily="34" charset="0"/>
                <a:ea typeface="Calibri" pitchFamily="34" charset="-122"/>
                <a:cs typeface="Calibri" pitchFamily="34" charset="-120"/>
              </a:rPr>
              <a:t>OpenShell's network_policies schema currently accepts only name, endpoints, and binaries — no custom metadata fields on a policy entry. We worked around it by keeping routing metadata in code instead of the policy file. A small, genuine piece of engineering feedback, not just enthusiasm.</a:t>
            </a:r>
            <a:endParaRPr lang="en-US" sz="1000" dirty="0"/>
          </a:p>
        </p:txBody>
      </p:sp>
      <p:sp>
        <p:nvSpPr>
          <p:cNvPr id="24" name="Text 22"/>
          <p:cNvSpPr/>
          <p:nvPr/>
        </p:nvSpPr>
        <p:spPr>
          <a:xfrm>
            <a:off x="457200" y="6537960"/>
            <a:ext cx="11247120" cy="274320"/>
          </a:xfrm>
          <a:prstGeom prst="rect">
            <a:avLst/>
          </a:prstGeom>
          <a:noFill/>
          <a:ln/>
        </p:spPr>
        <p:txBody>
          <a:bodyPr wrap="square"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NVIDIA is already named as a founding GPU manufacturer for the HACK Alliance in the HLD, alongside AMD and Intel (§4.3).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292608"/>
          </a:xfrm>
          <a:prstGeom prst="roundRect">
            <a:avLst>
              <a:gd name="adj" fmla="val 18750"/>
            </a:avLst>
          </a:prstGeom>
          <a:solidFill>
            <a:srgbClr val="028090"/>
          </a:solidFill>
          <a:ln/>
        </p:spPr>
      </p:sp>
      <p:sp>
        <p:nvSpPr>
          <p:cNvPr id="3" name="Text 1"/>
          <p:cNvSpPr/>
          <p:nvPr/>
        </p:nvSpPr>
        <p:spPr>
          <a:xfrm>
            <a:off x="457200" y="320040"/>
            <a:ext cx="1737360" cy="292608"/>
          </a:xfrm>
          <a:prstGeom prst="rect">
            <a:avLst/>
          </a:prstGeom>
          <a:noFill/>
          <a:ln/>
        </p:spPr>
        <p:txBody>
          <a:bodyPr wrap="square" rtlCol="0" anchor="ctr"/>
          <a:lstStyle/>
          <a:p>
            <a:pPr marL="0" indent="0" algn="ctr">
              <a:buNone/>
            </a:pPr>
            <a:r>
              <a:rPr lang="en-US" sz="900" b="1" kern="0" spc="100" dirty="0">
                <a:solidFill>
                  <a:srgbClr val="FFFFFF"/>
                </a:solidFill>
                <a:latin typeface="Verdana" pitchFamily="34" charset="0"/>
                <a:ea typeface="Verdana" pitchFamily="34" charset="-122"/>
                <a:cs typeface="Verdana" pitchFamily="34" charset="-120"/>
              </a:rPr>
              <a:t>ARCHITECTURE</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buNone/>
            </a:pPr>
            <a:r>
              <a:rPr lang="en-US" sz="2600" b="1" dirty="0">
                <a:solidFill>
                  <a:srgbClr val="FFFFFF"/>
                </a:solidFill>
                <a:latin typeface="Verdana" pitchFamily="34" charset="0"/>
                <a:ea typeface="Verdana" pitchFamily="34" charset="-122"/>
                <a:cs typeface="Verdana" pitchFamily="34" charset="-120"/>
              </a:rPr>
              <a:t>Sandbox Architecture — What's Actually Running</a:t>
            </a:r>
            <a:endParaRPr lang="en-US" sz="2600" dirty="0"/>
          </a:p>
        </p:txBody>
      </p:sp>
      <p:sp>
        <p:nvSpPr>
          <p:cNvPr id="5" name="Shape 3"/>
          <p:cNvSpPr/>
          <p:nvPr/>
        </p:nvSpPr>
        <p:spPr>
          <a:xfrm>
            <a:off x="457200" y="1691640"/>
            <a:ext cx="1554480" cy="896112"/>
          </a:xfrm>
          <a:prstGeom prst="roundRect">
            <a:avLst>
              <a:gd name="adj" fmla="val 6122"/>
            </a:avLst>
          </a:prstGeom>
          <a:solidFill>
            <a:srgbClr val="854F0B"/>
          </a:solidFill>
          <a:ln/>
        </p:spPr>
      </p:sp>
      <p:sp>
        <p:nvSpPr>
          <p:cNvPr id="6" name="Text 4"/>
          <p:cNvSpPr/>
          <p:nvPr/>
        </p:nvSpPr>
        <p:spPr>
          <a:xfrm>
            <a:off x="457200" y="1691640"/>
            <a:ext cx="1554480" cy="896112"/>
          </a:xfrm>
          <a:prstGeom prst="rect">
            <a:avLst/>
          </a:prstGeom>
          <a:noFill/>
          <a:ln/>
        </p:spPr>
        <p:txBody>
          <a:bodyPr wrap="square" rtlCol="0" anchor="ctr"/>
          <a:lstStyle/>
          <a:p>
            <a:pPr marL="0" indent="0" algn="ctr">
              <a:buNone/>
            </a:pPr>
            <a:r>
              <a:rPr lang="en-US" sz="1050" b="1" dirty="0">
                <a:solidFill>
                  <a:srgbClr val="FFFFFF"/>
                </a:solidFill>
                <a:latin typeface="Verdana" pitchFamily="34" charset="0"/>
                <a:ea typeface="Verdana" pitchFamily="34" charset="-122"/>
                <a:cs typeface="Verdana" pitchFamily="34" charset="-120"/>
              </a:rPr>
              <a:t>Policy</a:t>
            </a:r>
            <a:endParaRPr lang="en-US" sz="1050" dirty="0"/>
          </a:p>
          <a:p>
            <a:pPr marL="0" indent="0" algn="ctr">
              <a:buNone/>
            </a:pPr>
            <a:r>
              <a:rPr lang="en-US" sz="1050" b="1" dirty="0">
                <a:solidFill>
                  <a:srgbClr val="FFFFFF"/>
                </a:solidFill>
                <a:latin typeface="Verdana" pitchFamily="34" charset="0"/>
                <a:ea typeface="Verdana" pitchFamily="34" charset="-122"/>
                <a:cs typeface="Verdana" pitchFamily="34" charset="-120"/>
              </a:rPr>
              <a:t>Enforcement</a:t>
            </a:r>
            <a:endParaRPr lang="en-US" sz="1050" dirty="0"/>
          </a:p>
        </p:txBody>
      </p:sp>
      <p:sp>
        <p:nvSpPr>
          <p:cNvPr id="7" name="Shape 5"/>
          <p:cNvSpPr/>
          <p:nvPr/>
        </p:nvSpPr>
        <p:spPr>
          <a:xfrm>
            <a:off x="2148840" y="1691640"/>
            <a:ext cx="9601200" cy="896112"/>
          </a:xfrm>
          <a:prstGeom prst="roundRect">
            <a:avLst>
              <a:gd name="adj" fmla="val 6122"/>
            </a:avLst>
          </a:prstGeom>
          <a:solidFill>
            <a:srgbClr val="16294A"/>
          </a:solidFill>
          <a:ln/>
        </p:spPr>
      </p:sp>
      <p:sp>
        <p:nvSpPr>
          <p:cNvPr id="8" name="Text 6"/>
          <p:cNvSpPr/>
          <p:nvPr/>
        </p:nvSpPr>
        <p:spPr>
          <a:xfrm>
            <a:off x="2313432" y="1783080"/>
            <a:ext cx="9272016" cy="320040"/>
          </a:xfrm>
          <a:prstGeom prst="rect">
            <a:avLst/>
          </a:prstGeom>
          <a:noFill/>
          <a:ln/>
        </p:spPr>
        <p:txBody>
          <a:bodyPr wrap="square" rtlCol="0" anchor="ctr"/>
          <a:lstStyle/>
          <a:p>
            <a:pPr marL="0" indent="0">
              <a:buNone/>
            </a:pPr>
            <a:r>
              <a:rPr lang="en-US" sz="1200" b="1" dirty="0">
                <a:solidFill>
                  <a:srgbClr val="FFFFFF"/>
                </a:solidFill>
                <a:latin typeface="Verdana" pitchFamily="34" charset="0"/>
                <a:ea typeface="Verdana" pitchFamily="34" charset="-122"/>
                <a:cs typeface="Verdana" pitchFamily="34" charset="-120"/>
              </a:rPr>
              <a:t>OpenShell sandbox</a:t>
            </a:r>
            <a:endParaRPr lang="en-US" sz="1200" dirty="0"/>
          </a:p>
        </p:txBody>
      </p:sp>
      <p:sp>
        <p:nvSpPr>
          <p:cNvPr id="9" name="Text 7"/>
          <p:cNvSpPr/>
          <p:nvPr/>
        </p:nvSpPr>
        <p:spPr>
          <a:xfrm>
            <a:off x="2313432" y="2112264"/>
            <a:ext cx="9272016" cy="411480"/>
          </a:xfrm>
          <a:prstGeom prst="rect">
            <a:avLst/>
          </a:prstGeom>
          <a:noFill/>
          <a:ln/>
        </p:spPr>
        <p:txBody>
          <a:bodyPr wrap="square" rtlCol="0" anchor="ctr"/>
          <a:lstStyle/>
          <a:p>
            <a:pPr marL="0" indent="0">
              <a:buNone/>
            </a:pPr>
            <a:r>
              <a:rPr lang="en-US" sz="950" dirty="0">
                <a:solidFill>
                  <a:srgbClr val="CADCFC"/>
                </a:solidFill>
                <a:latin typeface="Calibri" pitchFamily="34" charset="0"/>
                <a:ea typeface="Calibri" pitchFamily="34" charset="-122"/>
                <a:cs typeface="Calibri" pitchFamily="34" charset="-120"/>
              </a:rPr>
              <a:t>tjp-decision-gate-policy.yaml · 9 scenarios enforced</a:t>
            </a:r>
            <a:endParaRPr lang="en-US" sz="950" dirty="0"/>
          </a:p>
        </p:txBody>
      </p:sp>
      <p:sp>
        <p:nvSpPr>
          <p:cNvPr id="10" name="Shape 8"/>
          <p:cNvSpPr/>
          <p:nvPr/>
        </p:nvSpPr>
        <p:spPr>
          <a:xfrm>
            <a:off x="457200" y="2697480"/>
            <a:ext cx="1554480" cy="896112"/>
          </a:xfrm>
          <a:prstGeom prst="roundRect">
            <a:avLst>
              <a:gd name="adj" fmla="val 6122"/>
            </a:avLst>
          </a:prstGeom>
          <a:solidFill>
            <a:srgbClr val="3A4A63"/>
          </a:solidFill>
          <a:ln/>
        </p:spPr>
      </p:sp>
      <p:sp>
        <p:nvSpPr>
          <p:cNvPr id="11" name="Text 9"/>
          <p:cNvSpPr/>
          <p:nvPr/>
        </p:nvSpPr>
        <p:spPr>
          <a:xfrm>
            <a:off x="457200" y="2697480"/>
            <a:ext cx="1554480" cy="896112"/>
          </a:xfrm>
          <a:prstGeom prst="rect">
            <a:avLst/>
          </a:prstGeom>
          <a:noFill/>
          <a:ln/>
        </p:spPr>
        <p:txBody>
          <a:bodyPr wrap="square" rtlCol="0" anchor="ctr"/>
          <a:lstStyle/>
          <a:p>
            <a:pPr marL="0" indent="0" algn="ctr">
              <a:buNone/>
            </a:pPr>
            <a:r>
              <a:rPr lang="en-US" sz="1050" b="1" dirty="0">
                <a:solidFill>
                  <a:srgbClr val="FFFFFF"/>
                </a:solidFill>
                <a:latin typeface="Verdana" pitchFamily="34" charset="0"/>
                <a:ea typeface="Verdana" pitchFamily="34" charset="-122"/>
                <a:cs typeface="Verdana" pitchFamily="34" charset="-120"/>
              </a:rPr>
              <a:t>Application</a:t>
            </a:r>
            <a:endParaRPr lang="en-US" sz="1050" dirty="0"/>
          </a:p>
          <a:p>
            <a:pPr marL="0" indent="0" algn="ctr">
              <a:buNone/>
            </a:pPr>
            <a:r>
              <a:rPr lang="en-US" sz="1050" b="1" dirty="0">
                <a:solidFill>
                  <a:srgbClr val="FFFFFF"/>
                </a:solidFill>
                <a:latin typeface="Verdana" pitchFamily="34" charset="0"/>
                <a:ea typeface="Verdana" pitchFamily="34" charset="-122"/>
                <a:cs typeface="Verdana" pitchFamily="34" charset="-120"/>
              </a:rPr>
              <a:t>Layer</a:t>
            </a:r>
            <a:endParaRPr lang="en-US" sz="1050" dirty="0"/>
          </a:p>
        </p:txBody>
      </p:sp>
      <p:sp>
        <p:nvSpPr>
          <p:cNvPr id="12" name="Shape 10"/>
          <p:cNvSpPr/>
          <p:nvPr/>
        </p:nvSpPr>
        <p:spPr>
          <a:xfrm>
            <a:off x="2148840" y="2697480"/>
            <a:ext cx="4709160" cy="896112"/>
          </a:xfrm>
          <a:prstGeom prst="roundRect">
            <a:avLst>
              <a:gd name="adj" fmla="val 6122"/>
            </a:avLst>
          </a:prstGeom>
          <a:solidFill>
            <a:srgbClr val="16294A"/>
          </a:solidFill>
          <a:ln/>
        </p:spPr>
      </p:sp>
      <p:sp>
        <p:nvSpPr>
          <p:cNvPr id="13" name="Text 11"/>
          <p:cNvSpPr/>
          <p:nvPr/>
        </p:nvSpPr>
        <p:spPr>
          <a:xfrm>
            <a:off x="2313432" y="2788920"/>
            <a:ext cx="4379976" cy="320040"/>
          </a:xfrm>
          <a:prstGeom prst="rect">
            <a:avLst/>
          </a:prstGeom>
          <a:noFill/>
          <a:ln/>
        </p:spPr>
        <p:txBody>
          <a:bodyPr wrap="square" rtlCol="0" anchor="ctr"/>
          <a:lstStyle/>
          <a:p>
            <a:pPr marL="0" indent="0">
              <a:buNone/>
            </a:pPr>
            <a:r>
              <a:rPr lang="en-US" sz="1200" b="1" dirty="0">
                <a:solidFill>
                  <a:srgbClr val="FFFFFF"/>
                </a:solidFill>
                <a:latin typeface="Verdana" pitchFamily="34" charset="0"/>
                <a:ea typeface="Verdana" pitchFamily="34" charset="-122"/>
                <a:cs typeface="Verdana" pitchFamily="34" charset="-120"/>
              </a:rPr>
              <a:t>app (Docker)</a:t>
            </a:r>
            <a:endParaRPr lang="en-US" sz="1200" dirty="0"/>
          </a:p>
        </p:txBody>
      </p:sp>
      <p:sp>
        <p:nvSpPr>
          <p:cNvPr id="14" name="Text 12"/>
          <p:cNvSpPr/>
          <p:nvPr/>
        </p:nvSpPr>
        <p:spPr>
          <a:xfrm>
            <a:off x="2313432" y="3118104"/>
            <a:ext cx="4379976" cy="411480"/>
          </a:xfrm>
          <a:prstGeom prst="rect">
            <a:avLst/>
          </a:prstGeom>
          <a:noFill/>
          <a:ln/>
        </p:spPr>
        <p:txBody>
          <a:bodyPr wrap="square" rtlCol="0" anchor="ctr"/>
          <a:lstStyle/>
          <a:p>
            <a:pPr marL="0" indent="0">
              <a:buNone/>
            </a:pPr>
            <a:r>
              <a:rPr lang="en-US" sz="950" dirty="0">
                <a:solidFill>
                  <a:srgbClr val="CADCFC"/>
                </a:solidFill>
                <a:latin typeface="Calibri" pitchFamily="34" charset="0"/>
                <a:ea typeface="Calibri" pitchFamily="34" charset="-122"/>
                <a:cs typeface="Calibri" pitchFamily="34" charset="-120"/>
              </a:rPr>
              <a:t>FastAPI mock services · 4 tiers + 4 Redirect Gate endpoints</a:t>
            </a:r>
            <a:endParaRPr lang="en-US" sz="950" dirty="0"/>
          </a:p>
        </p:txBody>
      </p:sp>
      <p:sp>
        <p:nvSpPr>
          <p:cNvPr id="15" name="Shape 13"/>
          <p:cNvSpPr/>
          <p:nvPr/>
        </p:nvSpPr>
        <p:spPr>
          <a:xfrm>
            <a:off x="7040880" y="2697480"/>
            <a:ext cx="4709160" cy="896112"/>
          </a:xfrm>
          <a:prstGeom prst="roundRect">
            <a:avLst>
              <a:gd name="adj" fmla="val 6122"/>
            </a:avLst>
          </a:prstGeom>
          <a:solidFill>
            <a:srgbClr val="16294A"/>
          </a:solidFill>
          <a:ln/>
        </p:spPr>
      </p:sp>
      <p:sp>
        <p:nvSpPr>
          <p:cNvPr id="16" name="Text 14"/>
          <p:cNvSpPr/>
          <p:nvPr/>
        </p:nvSpPr>
        <p:spPr>
          <a:xfrm>
            <a:off x="7205472" y="2788920"/>
            <a:ext cx="4379976" cy="320040"/>
          </a:xfrm>
          <a:prstGeom prst="rect">
            <a:avLst/>
          </a:prstGeom>
          <a:noFill/>
          <a:ln/>
        </p:spPr>
        <p:txBody>
          <a:bodyPr wrap="square" rtlCol="0" anchor="ctr"/>
          <a:lstStyle/>
          <a:p>
            <a:pPr marL="0" indent="0">
              <a:buNone/>
            </a:pPr>
            <a:r>
              <a:rPr lang="en-US" sz="1200" b="1" dirty="0">
                <a:solidFill>
                  <a:srgbClr val="FFFFFF"/>
                </a:solidFill>
                <a:latin typeface="Verdana" pitchFamily="34" charset="0"/>
                <a:ea typeface="Verdana" pitchFamily="34" charset="-122"/>
                <a:cs typeface="Verdana" pitchFamily="34" charset="-120"/>
              </a:rPr>
              <a:t>db (Docker)</a:t>
            </a:r>
            <a:endParaRPr lang="en-US" sz="1200" dirty="0"/>
          </a:p>
        </p:txBody>
      </p:sp>
      <p:sp>
        <p:nvSpPr>
          <p:cNvPr id="17" name="Text 15"/>
          <p:cNvSpPr/>
          <p:nvPr/>
        </p:nvSpPr>
        <p:spPr>
          <a:xfrm>
            <a:off x="7205472" y="3118104"/>
            <a:ext cx="4379976" cy="411480"/>
          </a:xfrm>
          <a:prstGeom prst="rect">
            <a:avLst/>
          </a:prstGeom>
          <a:noFill/>
          <a:ln/>
        </p:spPr>
        <p:txBody>
          <a:bodyPr wrap="square" rtlCol="0" anchor="ctr"/>
          <a:lstStyle/>
          <a:p>
            <a:pPr marL="0" indent="0">
              <a:buNone/>
            </a:pPr>
            <a:r>
              <a:rPr lang="en-US" sz="950" dirty="0">
                <a:solidFill>
                  <a:srgbClr val="CADCFC"/>
                </a:solidFill>
                <a:latin typeface="Calibri" pitchFamily="34" charset="0"/>
                <a:ea typeface="Calibri" pitchFamily="34" charset="-122"/>
                <a:cs typeface="Calibri" pitchFamily="34" charset="-120"/>
              </a:rPr>
              <a:t>Postgres · audit_log, single source of truth</a:t>
            </a:r>
            <a:endParaRPr lang="en-US" sz="950" dirty="0"/>
          </a:p>
        </p:txBody>
      </p:sp>
      <p:sp>
        <p:nvSpPr>
          <p:cNvPr id="18" name="Shape 16"/>
          <p:cNvSpPr/>
          <p:nvPr/>
        </p:nvSpPr>
        <p:spPr>
          <a:xfrm>
            <a:off x="457200" y="3703320"/>
            <a:ext cx="1554480" cy="896112"/>
          </a:xfrm>
          <a:prstGeom prst="roundRect">
            <a:avLst>
              <a:gd name="adj" fmla="val 6122"/>
            </a:avLst>
          </a:prstGeom>
          <a:solidFill>
            <a:srgbClr val="028090"/>
          </a:solidFill>
          <a:ln/>
        </p:spPr>
      </p:sp>
      <p:sp>
        <p:nvSpPr>
          <p:cNvPr id="19" name="Text 17"/>
          <p:cNvSpPr/>
          <p:nvPr/>
        </p:nvSpPr>
        <p:spPr>
          <a:xfrm>
            <a:off x="457200" y="3703320"/>
            <a:ext cx="1554480" cy="896112"/>
          </a:xfrm>
          <a:prstGeom prst="rect">
            <a:avLst/>
          </a:prstGeom>
          <a:noFill/>
          <a:ln/>
        </p:spPr>
        <p:txBody>
          <a:bodyPr wrap="square" rtlCol="0" anchor="ctr"/>
          <a:lstStyle/>
          <a:p>
            <a:pPr marL="0" indent="0" algn="ctr">
              <a:buNone/>
            </a:pPr>
            <a:r>
              <a:rPr lang="en-US" sz="1050" b="1" dirty="0">
                <a:solidFill>
                  <a:srgbClr val="FFFFFF"/>
                </a:solidFill>
                <a:latin typeface="Verdana" pitchFamily="34" charset="0"/>
                <a:ea typeface="Verdana" pitchFamily="34" charset="-122"/>
                <a:cs typeface="Verdana" pitchFamily="34" charset="-120"/>
              </a:rPr>
              <a:t>NRR</a:t>
            </a:r>
            <a:endParaRPr lang="en-US" sz="1050" dirty="0"/>
          </a:p>
          <a:p>
            <a:pPr marL="0" indent="0" algn="ctr">
              <a:buNone/>
            </a:pPr>
            <a:r>
              <a:rPr lang="en-US" sz="1050" b="1" dirty="0">
                <a:solidFill>
                  <a:srgbClr val="FFFFFF"/>
                </a:solidFill>
                <a:latin typeface="Verdana" pitchFamily="34" charset="0"/>
                <a:ea typeface="Verdana" pitchFamily="34" charset="-122"/>
                <a:cs typeface="Verdana" pitchFamily="34" charset="-120"/>
              </a:rPr>
              <a:t>Transport</a:t>
            </a:r>
            <a:endParaRPr lang="en-US" sz="1050" dirty="0"/>
          </a:p>
        </p:txBody>
      </p:sp>
      <p:sp>
        <p:nvSpPr>
          <p:cNvPr id="20" name="Shape 18"/>
          <p:cNvSpPr/>
          <p:nvPr/>
        </p:nvSpPr>
        <p:spPr>
          <a:xfrm>
            <a:off x="2148840" y="3703320"/>
            <a:ext cx="4709160" cy="896112"/>
          </a:xfrm>
          <a:prstGeom prst="roundRect">
            <a:avLst>
              <a:gd name="adj" fmla="val 6122"/>
            </a:avLst>
          </a:prstGeom>
          <a:solidFill>
            <a:srgbClr val="16294A"/>
          </a:solidFill>
          <a:ln/>
        </p:spPr>
      </p:sp>
      <p:sp>
        <p:nvSpPr>
          <p:cNvPr id="21" name="Text 19"/>
          <p:cNvSpPr/>
          <p:nvPr/>
        </p:nvSpPr>
        <p:spPr>
          <a:xfrm>
            <a:off x="2313432" y="3794760"/>
            <a:ext cx="4379976" cy="320040"/>
          </a:xfrm>
          <a:prstGeom prst="rect">
            <a:avLst/>
          </a:prstGeom>
          <a:noFill/>
          <a:ln/>
        </p:spPr>
        <p:txBody>
          <a:bodyPr wrap="square" rtlCol="0" anchor="ctr"/>
          <a:lstStyle/>
          <a:p>
            <a:pPr marL="0" indent="0">
              <a:buNone/>
            </a:pPr>
            <a:r>
              <a:rPr lang="en-US" sz="1200" b="1" dirty="0">
                <a:solidFill>
                  <a:srgbClr val="FFFFFF"/>
                </a:solidFill>
                <a:latin typeface="Verdana" pitchFamily="34" charset="0"/>
                <a:ea typeface="Verdana" pitchFamily="34" charset="-122"/>
                <a:cs typeface="Verdana" pitchFamily="34" charset="-120"/>
              </a:rPr>
              <a:t>artemis (Docker)</a:t>
            </a:r>
            <a:endParaRPr lang="en-US" sz="1200" dirty="0"/>
          </a:p>
        </p:txBody>
      </p:sp>
      <p:sp>
        <p:nvSpPr>
          <p:cNvPr id="22" name="Text 20"/>
          <p:cNvSpPr/>
          <p:nvPr/>
        </p:nvSpPr>
        <p:spPr>
          <a:xfrm>
            <a:off x="2313432" y="4123944"/>
            <a:ext cx="4379976" cy="411480"/>
          </a:xfrm>
          <a:prstGeom prst="rect">
            <a:avLst/>
          </a:prstGeom>
          <a:noFill/>
          <a:ln/>
        </p:spPr>
        <p:txBody>
          <a:bodyPr wrap="square" rtlCol="0" anchor="ctr"/>
          <a:lstStyle/>
          <a:p>
            <a:pPr marL="0" indent="0">
              <a:buNone/>
            </a:pPr>
            <a:r>
              <a:rPr lang="en-US" sz="950" dirty="0">
                <a:solidFill>
                  <a:srgbClr val="CADCFC"/>
                </a:solidFill>
                <a:latin typeface="Calibri" pitchFamily="34" charset="0"/>
                <a:ea typeface="Calibri" pitchFamily="34" charset="-122"/>
                <a:cs typeface="Calibri" pitchFamily="34" charset="-120"/>
              </a:rPr>
              <a:t>ActiveMQ Artemis 2.37.0 · 5 durable queues</a:t>
            </a:r>
            <a:endParaRPr lang="en-US" sz="950" dirty="0"/>
          </a:p>
        </p:txBody>
      </p:sp>
      <p:sp>
        <p:nvSpPr>
          <p:cNvPr id="23" name="Shape 21"/>
          <p:cNvSpPr/>
          <p:nvPr/>
        </p:nvSpPr>
        <p:spPr>
          <a:xfrm>
            <a:off x="7040880" y="3703320"/>
            <a:ext cx="4709160" cy="896112"/>
          </a:xfrm>
          <a:prstGeom prst="roundRect">
            <a:avLst>
              <a:gd name="adj" fmla="val 6122"/>
            </a:avLst>
          </a:prstGeom>
          <a:solidFill>
            <a:srgbClr val="16294A"/>
          </a:solidFill>
          <a:ln/>
        </p:spPr>
      </p:sp>
      <p:sp>
        <p:nvSpPr>
          <p:cNvPr id="24" name="Text 22"/>
          <p:cNvSpPr/>
          <p:nvPr/>
        </p:nvSpPr>
        <p:spPr>
          <a:xfrm>
            <a:off x="7205472" y="3794760"/>
            <a:ext cx="4379976" cy="320040"/>
          </a:xfrm>
          <a:prstGeom prst="rect">
            <a:avLst/>
          </a:prstGeom>
          <a:noFill/>
          <a:ln/>
        </p:spPr>
        <p:txBody>
          <a:bodyPr wrap="square" rtlCol="0" anchor="ctr"/>
          <a:lstStyle/>
          <a:p>
            <a:pPr marL="0" indent="0">
              <a:buNone/>
            </a:pPr>
            <a:r>
              <a:rPr lang="en-US" sz="1200" b="1" dirty="0">
                <a:solidFill>
                  <a:srgbClr val="FFFFFF"/>
                </a:solidFill>
                <a:latin typeface="Verdana" pitchFamily="34" charset="0"/>
                <a:ea typeface="Verdana" pitchFamily="34" charset="-122"/>
                <a:cs typeface="Verdana" pitchFamily="34" charset="-120"/>
              </a:rPr>
              <a:t>nrr-bridge (Docker)</a:t>
            </a:r>
            <a:endParaRPr lang="en-US" sz="1200" dirty="0"/>
          </a:p>
        </p:txBody>
      </p:sp>
      <p:sp>
        <p:nvSpPr>
          <p:cNvPr id="25" name="Text 23"/>
          <p:cNvSpPr/>
          <p:nvPr/>
        </p:nvSpPr>
        <p:spPr>
          <a:xfrm>
            <a:off x="7205472" y="4123944"/>
            <a:ext cx="4379976" cy="411480"/>
          </a:xfrm>
          <a:prstGeom prst="rect">
            <a:avLst/>
          </a:prstGeom>
          <a:noFill/>
          <a:ln/>
        </p:spPr>
        <p:txBody>
          <a:bodyPr wrap="square" rtlCol="0" anchor="ctr"/>
          <a:lstStyle/>
          <a:p>
            <a:pPr marL="0" indent="0">
              <a:buNone/>
            </a:pPr>
            <a:r>
              <a:rPr lang="en-US" sz="950" dirty="0">
                <a:solidFill>
                  <a:srgbClr val="CADCFC"/>
                </a:solidFill>
                <a:latin typeface="Calibri" pitchFamily="34" charset="0"/>
                <a:ea typeface="Calibri" pitchFamily="34" charset="-122"/>
                <a:cs typeface="Calibri" pitchFamily="34" charset="-120"/>
              </a:rPr>
              <a:t>Writes outcomes from Artemis's OWN state only</a:t>
            </a:r>
            <a:endParaRPr lang="en-US" sz="950" dirty="0"/>
          </a:p>
        </p:txBody>
      </p:sp>
      <p:sp>
        <p:nvSpPr>
          <p:cNvPr id="26" name="Shape 24"/>
          <p:cNvSpPr/>
          <p:nvPr/>
        </p:nvSpPr>
        <p:spPr>
          <a:xfrm>
            <a:off x="457200" y="4709160"/>
            <a:ext cx="1554480" cy="896112"/>
          </a:xfrm>
          <a:prstGeom prst="roundRect">
            <a:avLst>
              <a:gd name="adj" fmla="val 6122"/>
            </a:avLst>
          </a:prstGeom>
          <a:solidFill>
            <a:srgbClr val="5A6B85"/>
          </a:solidFill>
          <a:ln/>
        </p:spPr>
      </p:sp>
      <p:sp>
        <p:nvSpPr>
          <p:cNvPr id="27" name="Text 25"/>
          <p:cNvSpPr/>
          <p:nvPr/>
        </p:nvSpPr>
        <p:spPr>
          <a:xfrm>
            <a:off x="457200" y="4709160"/>
            <a:ext cx="1554480" cy="896112"/>
          </a:xfrm>
          <a:prstGeom prst="rect">
            <a:avLst/>
          </a:prstGeom>
          <a:noFill/>
          <a:ln/>
        </p:spPr>
        <p:txBody>
          <a:bodyPr wrap="square" rtlCol="0" anchor="ctr"/>
          <a:lstStyle/>
          <a:p>
            <a:pPr marL="0" indent="0" algn="ctr">
              <a:buNone/>
            </a:pPr>
            <a:r>
              <a:rPr lang="en-US" sz="1050" b="1" dirty="0">
                <a:solidFill>
                  <a:srgbClr val="FFFFFF"/>
                </a:solidFill>
                <a:latin typeface="Verdana" pitchFamily="34" charset="0"/>
                <a:ea typeface="Verdana" pitchFamily="34" charset="-122"/>
                <a:cs typeface="Verdana" pitchFamily="34" charset="-120"/>
              </a:rPr>
              <a:t>Host</a:t>
            </a:r>
            <a:endParaRPr lang="en-US" sz="1050" dirty="0"/>
          </a:p>
          <a:p>
            <a:pPr marL="0" indent="0" algn="ctr">
              <a:buNone/>
            </a:pPr>
            <a:r>
              <a:rPr lang="en-US" sz="1050" b="1" dirty="0">
                <a:solidFill>
                  <a:srgbClr val="FFFFFF"/>
                </a:solidFill>
                <a:latin typeface="Verdana" pitchFamily="34" charset="0"/>
                <a:ea typeface="Verdana" pitchFamily="34" charset="-122"/>
                <a:cs typeface="Verdana" pitchFamily="34" charset="-120"/>
              </a:rPr>
              <a:t>Automation</a:t>
            </a:r>
            <a:endParaRPr lang="en-US" sz="1050" dirty="0"/>
          </a:p>
        </p:txBody>
      </p:sp>
      <p:sp>
        <p:nvSpPr>
          <p:cNvPr id="28" name="Shape 26"/>
          <p:cNvSpPr/>
          <p:nvPr/>
        </p:nvSpPr>
        <p:spPr>
          <a:xfrm>
            <a:off x="2148840" y="4709160"/>
            <a:ext cx="4709160" cy="896112"/>
          </a:xfrm>
          <a:prstGeom prst="roundRect">
            <a:avLst>
              <a:gd name="adj" fmla="val 6122"/>
            </a:avLst>
          </a:prstGeom>
          <a:solidFill>
            <a:srgbClr val="16294A"/>
          </a:solidFill>
          <a:ln/>
        </p:spPr>
      </p:sp>
      <p:sp>
        <p:nvSpPr>
          <p:cNvPr id="29" name="Text 27"/>
          <p:cNvSpPr/>
          <p:nvPr/>
        </p:nvSpPr>
        <p:spPr>
          <a:xfrm>
            <a:off x="2313432" y="4800600"/>
            <a:ext cx="4379976" cy="320040"/>
          </a:xfrm>
          <a:prstGeom prst="rect">
            <a:avLst/>
          </a:prstGeom>
          <a:noFill/>
          <a:ln/>
        </p:spPr>
        <p:txBody>
          <a:bodyPr wrap="square" rtlCol="0" anchor="ctr"/>
          <a:lstStyle/>
          <a:p>
            <a:pPr marL="0" indent="0">
              <a:buNone/>
            </a:pPr>
            <a:r>
              <a:rPr lang="en-US" sz="1200" b="1" dirty="0">
                <a:solidFill>
                  <a:srgbClr val="FFFFFF"/>
                </a:solidFill>
                <a:latin typeface="Verdana" pitchFamily="34" charset="0"/>
                <a:ea typeface="Verdana" pitchFamily="34" charset="-122"/>
                <a:cs typeface="Verdana" pitchFamily="34" charset="-120"/>
              </a:rPr>
              <a:t>policy_log_watcher.py</a:t>
            </a:r>
            <a:endParaRPr lang="en-US" sz="1200" dirty="0"/>
          </a:p>
        </p:txBody>
      </p:sp>
      <p:sp>
        <p:nvSpPr>
          <p:cNvPr id="30" name="Text 28"/>
          <p:cNvSpPr/>
          <p:nvPr/>
        </p:nvSpPr>
        <p:spPr>
          <a:xfrm>
            <a:off x="2313432" y="5129784"/>
            <a:ext cx="4379976" cy="411480"/>
          </a:xfrm>
          <a:prstGeom prst="rect">
            <a:avLst/>
          </a:prstGeom>
          <a:noFill/>
          <a:ln/>
        </p:spPr>
        <p:txBody>
          <a:bodyPr wrap="square" rtlCol="0" anchor="ctr"/>
          <a:lstStyle/>
          <a:p>
            <a:pPr marL="0" indent="0">
              <a:buNone/>
            </a:pPr>
            <a:r>
              <a:rPr lang="en-US" sz="950" dirty="0">
                <a:solidFill>
                  <a:srgbClr val="CADCFC"/>
                </a:solidFill>
                <a:latin typeface="Calibri" pitchFamily="34" charset="0"/>
                <a:ea typeface="Calibri" pitchFamily="34" charset="-122"/>
                <a:cs typeface="Calibri" pitchFamily="34" charset="-120"/>
              </a:rPr>
              <a:t>Host systemd · captures denials, publishes cases</a:t>
            </a:r>
            <a:endParaRPr lang="en-US" sz="950" dirty="0"/>
          </a:p>
        </p:txBody>
      </p:sp>
      <p:sp>
        <p:nvSpPr>
          <p:cNvPr id="31" name="Shape 29"/>
          <p:cNvSpPr/>
          <p:nvPr/>
        </p:nvSpPr>
        <p:spPr>
          <a:xfrm>
            <a:off x="7040880" y="4709160"/>
            <a:ext cx="4709160" cy="896112"/>
          </a:xfrm>
          <a:prstGeom prst="roundRect">
            <a:avLst>
              <a:gd name="adj" fmla="val 6122"/>
            </a:avLst>
          </a:prstGeom>
          <a:solidFill>
            <a:srgbClr val="16294A"/>
          </a:solidFill>
          <a:ln/>
        </p:spPr>
      </p:sp>
      <p:sp>
        <p:nvSpPr>
          <p:cNvPr id="32" name="Text 30"/>
          <p:cNvSpPr/>
          <p:nvPr/>
        </p:nvSpPr>
        <p:spPr>
          <a:xfrm>
            <a:off x="7205472" y="4800600"/>
            <a:ext cx="4379976" cy="320040"/>
          </a:xfrm>
          <a:prstGeom prst="rect">
            <a:avLst/>
          </a:prstGeom>
          <a:noFill/>
          <a:ln/>
        </p:spPr>
        <p:txBody>
          <a:bodyPr wrap="square" rtlCol="0" anchor="ctr"/>
          <a:lstStyle/>
          <a:p>
            <a:pPr marL="0" indent="0">
              <a:buNone/>
            </a:pPr>
            <a:r>
              <a:rPr lang="en-US" sz="1200" b="1" dirty="0">
                <a:solidFill>
                  <a:srgbClr val="FFFFFF"/>
                </a:solidFill>
                <a:latin typeface="Verdana" pitchFamily="34" charset="0"/>
                <a:ea typeface="Verdana" pitchFamily="34" charset="-122"/>
                <a:cs typeface="Verdana" pitchFamily="34" charset="-120"/>
              </a:rPr>
              <a:t>trigger_server.py</a:t>
            </a:r>
            <a:endParaRPr lang="en-US" sz="1200" dirty="0"/>
          </a:p>
        </p:txBody>
      </p:sp>
      <p:sp>
        <p:nvSpPr>
          <p:cNvPr id="33" name="Text 31"/>
          <p:cNvSpPr/>
          <p:nvPr/>
        </p:nvSpPr>
        <p:spPr>
          <a:xfrm>
            <a:off x="7205472" y="5129784"/>
            <a:ext cx="4379976" cy="411480"/>
          </a:xfrm>
          <a:prstGeom prst="rect">
            <a:avLst/>
          </a:prstGeom>
          <a:noFill/>
          <a:ln/>
        </p:spPr>
        <p:txBody>
          <a:bodyPr wrap="square" rtlCol="0" anchor="ctr"/>
          <a:lstStyle/>
          <a:p>
            <a:pPr marL="0" indent="0">
              <a:buNone/>
            </a:pPr>
            <a:r>
              <a:rPr lang="en-US" sz="950" dirty="0">
                <a:solidFill>
                  <a:srgbClr val="CADCFC"/>
                </a:solidFill>
                <a:latin typeface="Calibri" pitchFamily="34" charset="0"/>
                <a:ea typeface="Calibri" pitchFamily="34" charset="-122"/>
                <a:cs typeface="Calibri" pitchFamily="34" charset="-120"/>
              </a:rPr>
              <a:t>Host, SSH-tunnel only · fires proven commands</a:t>
            </a:r>
            <a:endParaRPr lang="en-US" sz="950" dirty="0"/>
          </a:p>
        </p:txBody>
      </p:sp>
      <p:sp>
        <p:nvSpPr>
          <p:cNvPr id="34" name="Shape 32"/>
          <p:cNvSpPr/>
          <p:nvPr/>
        </p:nvSpPr>
        <p:spPr>
          <a:xfrm>
            <a:off x="457200" y="5715000"/>
            <a:ext cx="1554480" cy="896112"/>
          </a:xfrm>
          <a:prstGeom prst="roundRect">
            <a:avLst>
              <a:gd name="adj" fmla="val 6122"/>
            </a:avLst>
          </a:prstGeom>
          <a:solidFill>
            <a:srgbClr val="1B4F91"/>
          </a:solidFill>
          <a:ln/>
        </p:spPr>
      </p:sp>
      <p:sp>
        <p:nvSpPr>
          <p:cNvPr id="35" name="Text 33"/>
          <p:cNvSpPr/>
          <p:nvPr/>
        </p:nvSpPr>
        <p:spPr>
          <a:xfrm>
            <a:off x="457200" y="5715000"/>
            <a:ext cx="1554480" cy="896112"/>
          </a:xfrm>
          <a:prstGeom prst="rect">
            <a:avLst/>
          </a:prstGeom>
          <a:noFill/>
          <a:ln/>
        </p:spPr>
        <p:txBody>
          <a:bodyPr wrap="square" rtlCol="0" anchor="ctr"/>
          <a:lstStyle/>
          <a:p>
            <a:pPr marL="0" indent="0" algn="ctr">
              <a:buNone/>
            </a:pPr>
            <a:r>
              <a:rPr lang="en-US" sz="1050" b="1" dirty="0">
                <a:solidFill>
                  <a:srgbClr val="FFFFFF"/>
                </a:solidFill>
                <a:latin typeface="Verdana" pitchFamily="34" charset="0"/>
                <a:ea typeface="Verdana" pitchFamily="34" charset="-122"/>
                <a:cs typeface="Verdana" pitchFamily="34" charset="-120"/>
              </a:rPr>
              <a:t>Human &amp;</a:t>
            </a:r>
            <a:endParaRPr lang="en-US" sz="1050" dirty="0"/>
          </a:p>
          <a:p>
            <a:pPr marL="0" indent="0" algn="ctr">
              <a:buNone/>
            </a:pPr>
            <a:r>
              <a:rPr lang="en-US" sz="1050" b="1" dirty="0">
                <a:solidFill>
                  <a:srgbClr val="FFFFFF"/>
                </a:solidFill>
                <a:latin typeface="Verdana" pitchFamily="34" charset="0"/>
                <a:ea typeface="Verdana" pitchFamily="34" charset="-122"/>
                <a:cs typeface="Verdana" pitchFamily="34" charset="-120"/>
              </a:rPr>
              <a:t>Visualization</a:t>
            </a:r>
            <a:endParaRPr lang="en-US" sz="1050" dirty="0"/>
          </a:p>
        </p:txBody>
      </p:sp>
      <p:sp>
        <p:nvSpPr>
          <p:cNvPr id="36" name="Shape 34"/>
          <p:cNvSpPr/>
          <p:nvPr/>
        </p:nvSpPr>
        <p:spPr>
          <a:xfrm>
            <a:off x="2148840" y="5715000"/>
            <a:ext cx="4709160" cy="896112"/>
          </a:xfrm>
          <a:prstGeom prst="roundRect">
            <a:avLst>
              <a:gd name="adj" fmla="val 6122"/>
            </a:avLst>
          </a:prstGeom>
          <a:solidFill>
            <a:srgbClr val="16294A"/>
          </a:solidFill>
          <a:ln/>
        </p:spPr>
      </p:sp>
      <p:sp>
        <p:nvSpPr>
          <p:cNvPr id="37" name="Text 35"/>
          <p:cNvSpPr/>
          <p:nvPr/>
        </p:nvSpPr>
        <p:spPr>
          <a:xfrm>
            <a:off x="2313432" y="5806440"/>
            <a:ext cx="4379976" cy="320040"/>
          </a:xfrm>
          <a:prstGeom prst="rect">
            <a:avLst/>
          </a:prstGeom>
          <a:noFill/>
          <a:ln/>
        </p:spPr>
        <p:txBody>
          <a:bodyPr wrap="square" rtlCol="0" anchor="ctr"/>
          <a:lstStyle/>
          <a:p>
            <a:pPr marL="0" indent="0">
              <a:buNone/>
            </a:pPr>
            <a:r>
              <a:rPr lang="en-US" sz="1200" b="1" dirty="0">
                <a:solidFill>
                  <a:srgbClr val="FFFFFF"/>
                </a:solidFill>
                <a:latin typeface="Verdana" pitchFamily="34" charset="0"/>
                <a:ea typeface="Verdana" pitchFamily="34" charset="-122"/>
                <a:cs typeface="Verdana" pitchFamily="34" charset="-120"/>
              </a:rPr>
              <a:t>redirect_gate_ack.py</a:t>
            </a:r>
            <a:endParaRPr lang="en-US" sz="1200" dirty="0"/>
          </a:p>
        </p:txBody>
      </p:sp>
      <p:sp>
        <p:nvSpPr>
          <p:cNvPr id="38" name="Text 36"/>
          <p:cNvSpPr/>
          <p:nvPr/>
        </p:nvSpPr>
        <p:spPr>
          <a:xfrm>
            <a:off x="2313432" y="6135624"/>
            <a:ext cx="4379976" cy="411480"/>
          </a:xfrm>
          <a:prstGeom prst="rect">
            <a:avLst/>
          </a:prstGeom>
          <a:noFill/>
          <a:ln/>
        </p:spPr>
        <p:txBody>
          <a:bodyPr wrap="square" rtlCol="0" anchor="ctr"/>
          <a:lstStyle/>
          <a:p>
            <a:pPr marL="0" indent="0">
              <a:buNone/>
            </a:pPr>
            <a:r>
              <a:rPr lang="en-US" sz="950" dirty="0">
                <a:solidFill>
                  <a:srgbClr val="CADCFC"/>
                </a:solidFill>
                <a:latin typeface="Calibri" pitchFamily="34" charset="0"/>
                <a:ea typeface="Calibri" pitchFamily="34" charset="-122"/>
                <a:cs typeface="Calibri" pitchFamily="34" charset="-120"/>
              </a:rPr>
              <a:t>Real AMQP accept · stands in for the responder</a:t>
            </a:r>
            <a:endParaRPr lang="en-US" sz="950" dirty="0"/>
          </a:p>
        </p:txBody>
      </p:sp>
      <p:sp>
        <p:nvSpPr>
          <p:cNvPr id="39" name="Shape 37"/>
          <p:cNvSpPr/>
          <p:nvPr/>
        </p:nvSpPr>
        <p:spPr>
          <a:xfrm>
            <a:off x="7040880" y="5715000"/>
            <a:ext cx="4709160" cy="896112"/>
          </a:xfrm>
          <a:prstGeom prst="roundRect">
            <a:avLst>
              <a:gd name="adj" fmla="val 6122"/>
            </a:avLst>
          </a:prstGeom>
          <a:solidFill>
            <a:srgbClr val="16294A"/>
          </a:solidFill>
          <a:ln/>
        </p:spPr>
      </p:sp>
      <p:sp>
        <p:nvSpPr>
          <p:cNvPr id="40" name="Text 38"/>
          <p:cNvSpPr/>
          <p:nvPr/>
        </p:nvSpPr>
        <p:spPr>
          <a:xfrm>
            <a:off x="7205472" y="5806440"/>
            <a:ext cx="4379976" cy="320040"/>
          </a:xfrm>
          <a:prstGeom prst="rect">
            <a:avLst/>
          </a:prstGeom>
          <a:noFill/>
          <a:ln/>
        </p:spPr>
        <p:txBody>
          <a:bodyPr wrap="square" rtlCol="0" anchor="ctr"/>
          <a:lstStyle/>
          <a:p>
            <a:pPr marL="0" indent="0">
              <a:buNone/>
            </a:pPr>
            <a:r>
              <a:rPr lang="en-US" sz="1200" b="1" dirty="0">
                <a:solidFill>
                  <a:srgbClr val="FFFFFF"/>
                </a:solidFill>
                <a:latin typeface="Verdana" pitchFamily="34" charset="0"/>
                <a:ea typeface="Verdana" pitchFamily="34" charset="-122"/>
                <a:cs typeface="Verdana" pitchFamily="34" charset="-120"/>
              </a:rPr>
              <a:t>grafana (Docker)</a:t>
            </a:r>
            <a:endParaRPr lang="en-US" sz="1200" dirty="0"/>
          </a:p>
        </p:txBody>
      </p:sp>
      <p:sp>
        <p:nvSpPr>
          <p:cNvPr id="41" name="Text 39"/>
          <p:cNvSpPr/>
          <p:nvPr/>
        </p:nvSpPr>
        <p:spPr>
          <a:xfrm>
            <a:off x="7205472" y="6135624"/>
            <a:ext cx="4379976" cy="411480"/>
          </a:xfrm>
          <a:prstGeom prst="rect">
            <a:avLst/>
          </a:prstGeom>
          <a:noFill/>
          <a:ln/>
        </p:spPr>
        <p:txBody>
          <a:bodyPr wrap="square" rtlCol="0" anchor="ctr"/>
          <a:lstStyle/>
          <a:p>
            <a:pPr marL="0" indent="0">
              <a:buNone/>
            </a:pPr>
            <a:r>
              <a:rPr lang="en-US" sz="950" dirty="0">
                <a:solidFill>
                  <a:srgbClr val="CADCFC"/>
                </a:solidFill>
                <a:latin typeface="Calibri" pitchFamily="34" charset="0"/>
                <a:ea typeface="Calibri" pitchFamily="34" charset="-122"/>
                <a:cs typeface="Calibri" pitchFamily="34" charset="-120"/>
              </a:rPr>
              <a:t>Two dashboards · results shown here only</a:t>
            </a:r>
            <a:endParaRPr lang="en-US" sz="950" dirty="0"/>
          </a:p>
        </p:txBody>
      </p:sp>
      <p:sp>
        <p:nvSpPr>
          <p:cNvPr id="42" name="Text 40"/>
          <p:cNvSpPr/>
          <p:nvPr/>
        </p:nvSpPr>
        <p:spPr>
          <a:xfrm>
            <a:off x="457200" y="6537960"/>
            <a:ext cx="11247120" cy="274320"/>
          </a:xfrm>
          <a:prstGeom prst="rect">
            <a:avLst/>
          </a:prstGeom>
          <a:noFill/>
          <a:ln/>
        </p:spPr>
        <p:txBody>
          <a:bodyPr wrap="square"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All 9 scenarios (4 tiers + 4 Redirect Gate use cases) tested end-to-end, 2026-08-15 — see audit_log.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292608"/>
          </a:xfrm>
          <a:prstGeom prst="roundRect">
            <a:avLst>
              <a:gd name="adj" fmla="val 18750"/>
            </a:avLst>
          </a:prstGeom>
          <a:solidFill>
            <a:srgbClr val="028090"/>
          </a:solidFill>
          <a:ln/>
        </p:spPr>
      </p:sp>
      <p:sp>
        <p:nvSpPr>
          <p:cNvPr id="3" name="Text 1"/>
          <p:cNvSpPr/>
          <p:nvPr/>
        </p:nvSpPr>
        <p:spPr>
          <a:xfrm>
            <a:off x="457200" y="320040"/>
            <a:ext cx="1737360" cy="292608"/>
          </a:xfrm>
          <a:prstGeom prst="rect">
            <a:avLst/>
          </a:prstGeom>
          <a:noFill/>
          <a:ln/>
        </p:spPr>
        <p:txBody>
          <a:bodyPr wrap="square" rtlCol="0" anchor="ctr"/>
          <a:lstStyle/>
          <a:p>
            <a:pPr marL="0" indent="0" algn="ctr">
              <a:buNone/>
            </a:pPr>
            <a:r>
              <a:rPr lang="en-US" sz="900" b="1" kern="0" spc="100" dirty="0">
                <a:solidFill>
                  <a:srgbClr val="FFFFFF"/>
                </a:solidFill>
                <a:latin typeface="Verdana" pitchFamily="34" charset="0"/>
                <a:ea typeface="Verdana" pitchFamily="34" charset="-122"/>
                <a:cs typeface="Verdana" pitchFamily="34" charset="-120"/>
              </a:rPr>
              <a:t>CASE LIFECYCLE</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buNone/>
            </a:pPr>
            <a:r>
              <a:rPr lang="en-US" sz="2600" b="1" dirty="0">
                <a:solidFill>
                  <a:srgbClr val="FFFFFF"/>
                </a:solidFill>
                <a:latin typeface="Verdana" pitchFamily="34" charset="0"/>
                <a:ea typeface="Verdana" pitchFamily="34" charset="-122"/>
                <a:cs typeface="Verdana" pitchFamily="34" charset="-120"/>
              </a:rPr>
              <a:t>One Case, Start to Finish — Every Execution Step</a:t>
            </a:r>
            <a:endParaRPr lang="en-US" sz="2600" dirty="0"/>
          </a:p>
        </p:txBody>
      </p:sp>
      <p:sp>
        <p:nvSpPr>
          <p:cNvPr id="5" name="Shape 3"/>
          <p:cNvSpPr/>
          <p:nvPr/>
        </p:nvSpPr>
        <p:spPr>
          <a:xfrm>
            <a:off x="365760" y="2880360"/>
            <a:ext cx="1417320" cy="1005840"/>
          </a:xfrm>
          <a:prstGeom prst="roundRect">
            <a:avLst>
              <a:gd name="adj" fmla="val 5455"/>
            </a:avLst>
          </a:prstGeom>
          <a:solidFill>
            <a:srgbClr val="5A6B85"/>
          </a:solidFill>
          <a:ln/>
        </p:spPr>
      </p:sp>
      <p:sp>
        <p:nvSpPr>
          <p:cNvPr id="6" name="Text 4"/>
          <p:cNvSpPr/>
          <p:nvPr/>
        </p:nvSpPr>
        <p:spPr>
          <a:xfrm>
            <a:off x="438912" y="2953512"/>
            <a:ext cx="1271016" cy="4224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1. Trigger</a:t>
            </a:r>
            <a:endParaRPr lang="en-US" sz="950" dirty="0"/>
          </a:p>
        </p:txBody>
      </p:sp>
      <p:sp>
        <p:nvSpPr>
          <p:cNvPr id="7" name="Text 5"/>
          <p:cNvSpPr/>
          <p:nvPr/>
        </p:nvSpPr>
        <p:spPr>
          <a:xfrm>
            <a:off x="438912" y="3322930"/>
            <a:ext cx="1271016" cy="502920"/>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Button click or SSH — fires real openshell sandbox exec</a:t>
            </a:r>
            <a:endParaRPr lang="en-US" sz="750" dirty="0"/>
          </a:p>
        </p:txBody>
      </p:sp>
      <p:sp>
        <p:nvSpPr>
          <p:cNvPr id="8" name="Shape 6"/>
          <p:cNvSpPr/>
          <p:nvPr/>
        </p:nvSpPr>
        <p:spPr>
          <a:xfrm>
            <a:off x="2011680" y="2880360"/>
            <a:ext cx="1417320" cy="1005840"/>
          </a:xfrm>
          <a:prstGeom prst="roundRect">
            <a:avLst>
              <a:gd name="adj" fmla="val 5455"/>
            </a:avLst>
          </a:prstGeom>
          <a:solidFill>
            <a:srgbClr val="854F0B"/>
          </a:solidFill>
          <a:ln/>
        </p:spPr>
      </p:sp>
      <p:sp>
        <p:nvSpPr>
          <p:cNvPr id="9" name="Text 7"/>
          <p:cNvSpPr/>
          <p:nvPr/>
        </p:nvSpPr>
        <p:spPr>
          <a:xfrm>
            <a:off x="2084832" y="2953512"/>
            <a:ext cx="1271016" cy="4224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2. OpenShell</a:t>
            </a:r>
            <a:endParaRPr lang="en-US" sz="950" dirty="0"/>
          </a:p>
        </p:txBody>
      </p:sp>
      <p:sp>
        <p:nvSpPr>
          <p:cNvPr id="10" name="Text 8"/>
          <p:cNvSpPr/>
          <p:nvPr/>
        </p:nvSpPr>
        <p:spPr>
          <a:xfrm>
            <a:off x="2084832" y="3322930"/>
            <a:ext cx="1271016" cy="502920"/>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Policy evaluates — path absent from `rules` — DENY</a:t>
            </a:r>
            <a:endParaRPr lang="en-US" sz="750" dirty="0"/>
          </a:p>
        </p:txBody>
      </p:sp>
      <p:sp>
        <p:nvSpPr>
          <p:cNvPr id="11" name="Shape 9"/>
          <p:cNvSpPr/>
          <p:nvPr/>
        </p:nvSpPr>
        <p:spPr>
          <a:xfrm>
            <a:off x="3657600" y="2880360"/>
            <a:ext cx="1417320" cy="1005840"/>
          </a:xfrm>
          <a:prstGeom prst="roundRect">
            <a:avLst>
              <a:gd name="adj" fmla="val 5455"/>
            </a:avLst>
          </a:prstGeom>
          <a:solidFill>
            <a:srgbClr val="3A4A63"/>
          </a:solidFill>
          <a:ln/>
        </p:spPr>
      </p:sp>
      <p:sp>
        <p:nvSpPr>
          <p:cNvPr id="12" name="Text 10"/>
          <p:cNvSpPr/>
          <p:nvPr/>
        </p:nvSpPr>
        <p:spPr>
          <a:xfrm>
            <a:off x="3730752" y="2953512"/>
            <a:ext cx="1271016" cy="4224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3. Watcher</a:t>
            </a:r>
            <a:endParaRPr lang="en-US" sz="950" dirty="0"/>
          </a:p>
        </p:txBody>
      </p:sp>
      <p:sp>
        <p:nvSpPr>
          <p:cNvPr id="13" name="Text 11"/>
          <p:cNvSpPr/>
          <p:nvPr/>
        </p:nvSpPr>
        <p:spPr>
          <a:xfrm>
            <a:off x="3730752" y="3322930"/>
            <a:ext cx="1271016" cy="502920"/>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Detects denial, logs 'routed', publishes case to Artemis</a:t>
            </a:r>
            <a:endParaRPr lang="en-US" sz="750" dirty="0"/>
          </a:p>
        </p:txBody>
      </p:sp>
      <p:sp>
        <p:nvSpPr>
          <p:cNvPr id="14" name="Shape 12"/>
          <p:cNvSpPr/>
          <p:nvPr/>
        </p:nvSpPr>
        <p:spPr>
          <a:xfrm>
            <a:off x="5303520" y="2880360"/>
            <a:ext cx="1417320" cy="1005840"/>
          </a:xfrm>
          <a:prstGeom prst="roundRect">
            <a:avLst>
              <a:gd name="adj" fmla="val 5455"/>
            </a:avLst>
          </a:prstGeom>
          <a:solidFill>
            <a:srgbClr val="028090"/>
          </a:solidFill>
          <a:ln/>
        </p:spPr>
      </p:sp>
      <p:sp>
        <p:nvSpPr>
          <p:cNvPr id="15" name="Text 13"/>
          <p:cNvSpPr/>
          <p:nvPr/>
        </p:nvSpPr>
        <p:spPr>
          <a:xfrm>
            <a:off x="5376672" y="2953512"/>
            <a:ext cx="1271016" cy="4224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4. Artemis Queue</a:t>
            </a:r>
            <a:endParaRPr lang="en-US" sz="950" dirty="0"/>
          </a:p>
        </p:txBody>
      </p:sp>
      <p:sp>
        <p:nvSpPr>
          <p:cNvPr id="16" name="Text 14"/>
          <p:cNvSpPr/>
          <p:nvPr/>
        </p:nvSpPr>
        <p:spPr>
          <a:xfrm>
            <a:off x="5376672" y="3322930"/>
            <a:ext cx="1271016" cy="502920"/>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1 of 4 durable queues — TTL 120s starts now</a:t>
            </a:r>
            <a:endParaRPr lang="en-US" sz="750" dirty="0"/>
          </a:p>
        </p:txBody>
      </p:sp>
      <p:sp>
        <p:nvSpPr>
          <p:cNvPr id="17" name="Shape 15"/>
          <p:cNvSpPr/>
          <p:nvPr/>
        </p:nvSpPr>
        <p:spPr>
          <a:xfrm>
            <a:off x="1783080" y="3383280"/>
            <a:ext cx="228600" cy="0"/>
          </a:xfrm>
          <a:prstGeom prst="line">
            <a:avLst/>
          </a:prstGeom>
          <a:noFill/>
          <a:ln w="19050">
            <a:solidFill>
              <a:srgbClr val="CADCFC"/>
            </a:solidFill>
            <a:prstDash val="solid"/>
            <a:tailEnd type="triangle"/>
          </a:ln>
        </p:spPr>
      </p:sp>
      <p:sp>
        <p:nvSpPr>
          <p:cNvPr id="18" name="Shape 16"/>
          <p:cNvSpPr/>
          <p:nvPr/>
        </p:nvSpPr>
        <p:spPr>
          <a:xfrm>
            <a:off x="3429000" y="3383280"/>
            <a:ext cx="228600" cy="0"/>
          </a:xfrm>
          <a:prstGeom prst="line">
            <a:avLst/>
          </a:prstGeom>
          <a:noFill/>
          <a:ln w="19050">
            <a:solidFill>
              <a:srgbClr val="CADCFC"/>
            </a:solidFill>
            <a:prstDash val="solid"/>
            <a:tailEnd type="triangle"/>
          </a:ln>
        </p:spPr>
      </p:sp>
      <p:sp>
        <p:nvSpPr>
          <p:cNvPr id="19" name="Shape 17"/>
          <p:cNvSpPr/>
          <p:nvPr/>
        </p:nvSpPr>
        <p:spPr>
          <a:xfrm>
            <a:off x="5074920" y="3383280"/>
            <a:ext cx="228600" cy="0"/>
          </a:xfrm>
          <a:prstGeom prst="line">
            <a:avLst/>
          </a:prstGeom>
          <a:noFill/>
          <a:ln w="19050">
            <a:solidFill>
              <a:srgbClr val="CADCFC"/>
            </a:solidFill>
            <a:prstDash val="solid"/>
            <a:tailEnd type="triangle"/>
          </a:ln>
        </p:spPr>
      </p:sp>
      <p:sp>
        <p:nvSpPr>
          <p:cNvPr id="20" name="Shape 18"/>
          <p:cNvSpPr/>
          <p:nvPr/>
        </p:nvSpPr>
        <p:spPr>
          <a:xfrm>
            <a:off x="6949440" y="1965960"/>
            <a:ext cx="1417320" cy="713232"/>
          </a:xfrm>
          <a:prstGeom prst="roundRect">
            <a:avLst>
              <a:gd name="adj" fmla="val 7692"/>
            </a:avLst>
          </a:prstGeom>
          <a:solidFill>
            <a:srgbClr val="1B4F91"/>
          </a:solidFill>
          <a:ln/>
        </p:spPr>
      </p:sp>
      <p:sp>
        <p:nvSpPr>
          <p:cNvPr id="21" name="Text 19"/>
          <p:cNvSpPr/>
          <p:nvPr/>
        </p:nvSpPr>
        <p:spPr>
          <a:xfrm>
            <a:off x="7022592" y="2039112"/>
            <a:ext cx="1271016" cy="299557"/>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5a. Acknowledged</a:t>
            </a:r>
            <a:endParaRPr lang="en-US" sz="950" dirty="0"/>
          </a:p>
        </p:txBody>
      </p:sp>
      <p:sp>
        <p:nvSpPr>
          <p:cNvPr id="22" name="Text 20"/>
          <p:cNvSpPr/>
          <p:nvPr/>
        </p:nvSpPr>
        <p:spPr>
          <a:xfrm>
            <a:off x="7022592" y="2279782"/>
            <a:ext cx="1271016" cy="356616"/>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redirect_gate_ack.py — real AMQP accept</a:t>
            </a:r>
            <a:endParaRPr lang="en-US" sz="750" dirty="0"/>
          </a:p>
        </p:txBody>
      </p:sp>
      <p:sp>
        <p:nvSpPr>
          <p:cNvPr id="23" name="Shape 21"/>
          <p:cNvSpPr/>
          <p:nvPr/>
        </p:nvSpPr>
        <p:spPr>
          <a:xfrm>
            <a:off x="6949440" y="3794760"/>
            <a:ext cx="1417320" cy="713232"/>
          </a:xfrm>
          <a:prstGeom prst="roundRect">
            <a:avLst>
              <a:gd name="adj" fmla="val 7692"/>
            </a:avLst>
          </a:prstGeom>
          <a:solidFill>
            <a:srgbClr val="993C1D"/>
          </a:solidFill>
          <a:ln/>
        </p:spPr>
      </p:sp>
      <p:sp>
        <p:nvSpPr>
          <p:cNvPr id="24" name="Text 22"/>
          <p:cNvSpPr/>
          <p:nvPr/>
        </p:nvSpPr>
        <p:spPr>
          <a:xfrm>
            <a:off x="7022592" y="3867912"/>
            <a:ext cx="1271016" cy="299557"/>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5b. Expired</a:t>
            </a:r>
            <a:endParaRPr lang="en-US" sz="950" dirty="0"/>
          </a:p>
        </p:txBody>
      </p:sp>
      <p:sp>
        <p:nvSpPr>
          <p:cNvPr id="25" name="Text 23"/>
          <p:cNvSpPr/>
          <p:nvPr/>
        </p:nvSpPr>
        <p:spPr>
          <a:xfrm>
            <a:off x="7022592" y="4108582"/>
            <a:ext cx="1271016" cy="356616"/>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No ack in time — TTL → ExpiryQueue</a:t>
            </a:r>
            <a:endParaRPr lang="en-US" sz="750" dirty="0"/>
          </a:p>
        </p:txBody>
      </p:sp>
      <p:sp>
        <p:nvSpPr>
          <p:cNvPr id="26" name="Shape 24"/>
          <p:cNvSpPr/>
          <p:nvPr/>
        </p:nvSpPr>
        <p:spPr>
          <a:xfrm flipV="1">
            <a:off x="6720840" y="2322576"/>
            <a:ext cx="228600" cy="1060704"/>
          </a:xfrm>
          <a:prstGeom prst="line">
            <a:avLst/>
          </a:prstGeom>
          <a:noFill/>
          <a:ln w="19050">
            <a:solidFill>
              <a:srgbClr val="CADCFC"/>
            </a:solidFill>
            <a:prstDash val="solid"/>
            <a:tailEnd type="triangle"/>
          </a:ln>
        </p:spPr>
      </p:sp>
      <p:sp>
        <p:nvSpPr>
          <p:cNvPr id="27" name="Shape 25"/>
          <p:cNvSpPr/>
          <p:nvPr/>
        </p:nvSpPr>
        <p:spPr>
          <a:xfrm>
            <a:off x="6720840" y="3383280"/>
            <a:ext cx="228600" cy="768096"/>
          </a:xfrm>
          <a:prstGeom prst="line">
            <a:avLst/>
          </a:prstGeom>
          <a:noFill/>
          <a:ln w="19050">
            <a:solidFill>
              <a:srgbClr val="CADCFC"/>
            </a:solidFill>
            <a:prstDash val="solid"/>
            <a:tailEnd type="triangle"/>
          </a:ln>
        </p:spPr>
      </p:sp>
      <p:sp>
        <p:nvSpPr>
          <p:cNvPr id="28" name="Shape 26"/>
          <p:cNvSpPr/>
          <p:nvPr/>
        </p:nvSpPr>
        <p:spPr>
          <a:xfrm>
            <a:off x="8595360" y="1965960"/>
            <a:ext cx="1417320" cy="2542032"/>
          </a:xfrm>
          <a:prstGeom prst="roundRect">
            <a:avLst>
              <a:gd name="adj" fmla="val 3871"/>
            </a:avLst>
          </a:prstGeom>
          <a:solidFill>
            <a:srgbClr val="3A4A63"/>
          </a:solidFill>
          <a:ln/>
        </p:spPr>
      </p:sp>
      <p:sp>
        <p:nvSpPr>
          <p:cNvPr id="29" name="Text 27"/>
          <p:cNvSpPr/>
          <p:nvPr/>
        </p:nvSpPr>
        <p:spPr>
          <a:xfrm>
            <a:off x="8668512" y="2039112"/>
            <a:ext cx="1271016" cy="10676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6. audit_log</a:t>
            </a:r>
            <a:endParaRPr lang="en-US" sz="950" dirty="0"/>
          </a:p>
        </p:txBody>
      </p:sp>
      <p:sp>
        <p:nvSpPr>
          <p:cNvPr id="30" name="Text 28"/>
          <p:cNvSpPr/>
          <p:nvPr/>
        </p:nvSpPr>
        <p:spPr>
          <a:xfrm>
            <a:off x="8668512" y="3084454"/>
            <a:ext cx="1271016" cy="1271016"/>
          </a:xfrm>
          <a:prstGeom prst="rect">
            <a:avLst/>
          </a:prstGeom>
          <a:noFill/>
          <a:ln/>
        </p:spPr>
        <p:txBody>
          <a:bodyPr wrap="square" rtlCol="0" anchor="t"/>
          <a:lstStyle/>
          <a:p>
            <a:pPr marL="0" indent="0">
              <a:buNone/>
            </a:pPr>
            <a:endParaRPr lang="en-US" sz="750" dirty="0"/>
          </a:p>
          <a:p>
            <a:pPr marL="0" indent="0">
              <a:buNone/>
            </a:pPr>
            <a:endParaRPr lang="en-US" sz="750" dirty="0"/>
          </a:p>
          <a:p>
            <a:pPr marL="0" indent="0">
              <a:buNone/>
            </a:pPr>
            <a:r>
              <a:rPr lang="en-US" sz="750" dirty="0">
                <a:solidFill>
                  <a:srgbClr val="FFFFFF"/>
                </a:solidFill>
                <a:latin typeface="Calibri" pitchFamily="34" charset="0"/>
                <a:ea typeface="Calibri" pitchFamily="34" charset="-122"/>
                <a:cs typeface="Calibri" pitchFamily="34" charset="-120"/>
              </a:rPr>
              <a:t>Both paths converge here — Postgres, single source of truth</a:t>
            </a:r>
            <a:endParaRPr lang="en-US" sz="750" dirty="0"/>
          </a:p>
        </p:txBody>
      </p:sp>
      <p:sp>
        <p:nvSpPr>
          <p:cNvPr id="31" name="Shape 29"/>
          <p:cNvSpPr/>
          <p:nvPr/>
        </p:nvSpPr>
        <p:spPr>
          <a:xfrm>
            <a:off x="8366760" y="2322576"/>
            <a:ext cx="228600" cy="0"/>
          </a:xfrm>
          <a:prstGeom prst="line">
            <a:avLst/>
          </a:prstGeom>
          <a:noFill/>
          <a:ln w="19050">
            <a:solidFill>
              <a:srgbClr val="CADCFC"/>
            </a:solidFill>
            <a:prstDash val="solid"/>
            <a:tailEnd type="triangle"/>
          </a:ln>
        </p:spPr>
      </p:sp>
      <p:sp>
        <p:nvSpPr>
          <p:cNvPr id="32" name="Shape 30"/>
          <p:cNvSpPr/>
          <p:nvPr/>
        </p:nvSpPr>
        <p:spPr>
          <a:xfrm>
            <a:off x="8366760" y="4151376"/>
            <a:ext cx="228600" cy="0"/>
          </a:xfrm>
          <a:prstGeom prst="line">
            <a:avLst/>
          </a:prstGeom>
          <a:noFill/>
          <a:ln w="19050">
            <a:solidFill>
              <a:srgbClr val="CADCFC"/>
            </a:solidFill>
            <a:prstDash val="solid"/>
            <a:tailEnd type="triangle"/>
          </a:ln>
        </p:spPr>
      </p:sp>
      <p:sp>
        <p:nvSpPr>
          <p:cNvPr id="33" name="Shape 31"/>
          <p:cNvSpPr/>
          <p:nvPr/>
        </p:nvSpPr>
        <p:spPr>
          <a:xfrm>
            <a:off x="10241280" y="2880360"/>
            <a:ext cx="1417320" cy="1005840"/>
          </a:xfrm>
          <a:prstGeom prst="roundRect">
            <a:avLst>
              <a:gd name="adj" fmla="val 5455"/>
            </a:avLst>
          </a:prstGeom>
          <a:solidFill>
            <a:srgbClr val="5B3E96"/>
          </a:solidFill>
          <a:ln/>
        </p:spPr>
      </p:sp>
      <p:sp>
        <p:nvSpPr>
          <p:cNvPr id="34" name="Text 32"/>
          <p:cNvSpPr/>
          <p:nvPr/>
        </p:nvSpPr>
        <p:spPr>
          <a:xfrm>
            <a:off x="10314432" y="2953512"/>
            <a:ext cx="1271016" cy="4224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7. Grafana</a:t>
            </a:r>
            <a:endParaRPr lang="en-US" sz="950" dirty="0"/>
          </a:p>
        </p:txBody>
      </p:sp>
      <p:sp>
        <p:nvSpPr>
          <p:cNvPr id="35" name="Text 33"/>
          <p:cNvSpPr/>
          <p:nvPr/>
        </p:nvSpPr>
        <p:spPr>
          <a:xfrm>
            <a:off x="10314432" y="3322930"/>
            <a:ext cx="1271016" cy="502920"/>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Live within 2s refresh — routed/acknowledged/expired_to_dlq</a:t>
            </a:r>
            <a:endParaRPr lang="en-US" sz="750" dirty="0"/>
          </a:p>
        </p:txBody>
      </p:sp>
      <p:sp>
        <p:nvSpPr>
          <p:cNvPr id="36" name="Shape 34"/>
          <p:cNvSpPr/>
          <p:nvPr/>
        </p:nvSpPr>
        <p:spPr>
          <a:xfrm>
            <a:off x="10012680" y="3236976"/>
            <a:ext cx="228600" cy="146304"/>
          </a:xfrm>
          <a:prstGeom prst="line">
            <a:avLst/>
          </a:prstGeom>
          <a:noFill/>
          <a:ln w="19050">
            <a:solidFill>
              <a:srgbClr val="CADCFC"/>
            </a:solidFill>
            <a:prstDash val="solid"/>
            <a:tailEnd type="triangle"/>
          </a:ln>
        </p:spPr>
      </p:sp>
      <p:sp>
        <p:nvSpPr>
          <p:cNvPr id="37" name="Shape 35"/>
          <p:cNvSpPr/>
          <p:nvPr/>
        </p:nvSpPr>
        <p:spPr>
          <a:xfrm>
            <a:off x="365760" y="5074920"/>
            <a:ext cx="164592" cy="164592"/>
          </a:xfrm>
          <a:prstGeom prst="rect">
            <a:avLst/>
          </a:prstGeom>
          <a:solidFill>
            <a:srgbClr val="5A6B85"/>
          </a:solidFill>
          <a:ln/>
        </p:spPr>
      </p:sp>
      <p:sp>
        <p:nvSpPr>
          <p:cNvPr id="38" name="Text 36"/>
          <p:cNvSpPr/>
          <p:nvPr/>
        </p:nvSpPr>
        <p:spPr>
          <a:xfrm>
            <a:off x="58521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Trigger</a:t>
            </a:r>
            <a:endParaRPr lang="en-US" sz="850" dirty="0"/>
          </a:p>
        </p:txBody>
      </p:sp>
      <p:sp>
        <p:nvSpPr>
          <p:cNvPr id="39" name="Shape 37"/>
          <p:cNvSpPr/>
          <p:nvPr/>
        </p:nvSpPr>
        <p:spPr>
          <a:xfrm>
            <a:off x="1874520" y="5074920"/>
            <a:ext cx="164592" cy="164592"/>
          </a:xfrm>
          <a:prstGeom prst="rect">
            <a:avLst/>
          </a:prstGeom>
          <a:solidFill>
            <a:srgbClr val="854F0B"/>
          </a:solidFill>
          <a:ln/>
        </p:spPr>
      </p:sp>
      <p:sp>
        <p:nvSpPr>
          <p:cNvPr id="40" name="Text 38"/>
          <p:cNvSpPr/>
          <p:nvPr/>
        </p:nvSpPr>
        <p:spPr>
          <a:xfrm>
            <a:off x="209397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Policy</a:t>
            </a:r>
            <a:endParaRPr lang="en-US" sz="850" dirty="0"/>
          </a:p>
        </p:txBody>
      </p:sp>
      <p:sp>
        <p:nvSpPr>
          <p:cNvPr id="41" name="Shape 39"/>
          <p:cNvSpPr/>
          <p:nvPr/>
        </p:nvSpPr>
        <p:spPr>
          <a:xfrm>
            <a:off x="3383280" y="5074920"/>
            <a:ext cx="164592" cy="164592"/>
          </a:xfrm>
          <a:prstGeom prst="rect">
            <a:avLst/>
          </a:prstGeom>
          <a:solidFill>
            <a:srgbClr val="3A4A63"/>
          </a:solidFill>
          <a:ln/>
        </p:spPr>
      </p:sp>
      <p:sp>
        <p:nvSpPr>
          <p:cNvPr id="42" name="Text 40"/>
          <p:cNvSpPr/>
          <p:nvPr/>
        </p:nvSpPr>
        <p:spPr>
          <a:xfrm>
            <a:off x="360273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Automation</a:t>
            </a:r>
            <a:endParaRPr lang="en-US" sz="850" dirty="0"/>
          </a:p>
        </p:txBody>
      </p:sp>
      <p:sp>
        <p:nvSpPr>
          <p:cNvPr id="43" name="Shape 41"/>
          <p:cNvSpPr/>
          <p:nvPr/>
        </p:nvSpPr>
        <p:spPr>
          <a:xfrm>
            <a:off x="4892040" y="5074920"/>
            <a:ext cx="164592" cy="164592"/>
          </a:xfrm>
          <a:prstGeom prst="rect">
            <a:avLst/>
          </a:prstGeom>
          <a:solidFill>
            <a:srgbClr val="028090"/>
          </a:solidFill>
          <a:ln/>
        </p:spPr>
      </p:sp>
      <p:sp>
        <p:nvSpPr>
          <p:cNvPr id="44" name="Text 42"/>
          <p:cNvSpPr/>
          <p:nvPr/>
        </p:nvSpPr>
        <p:spPr>
          <a:xfrm>
            <a:off x="511149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NRR Transport</a:t>
            </a:r>
            <a:endParaRPr lang="en-US" sz="850" dirty="0"/>
          </a:p>
        </p:txBody>
      </p:sp>
      <p:sp>
        <p:nvSpPr>
          <p:cNvPr id="45" name="Shape 43"/>
          <p:cNvSpPr/>
          <p:nvPr/>
        </p:nvSpPr>
        <p:spPr>
          <a:xfrm>
            <a:off x="6400800" y="5074920"/>
            <a:ext cx="164592" cy="164592"/>
          </a:xfrm>
          <a:prstGeom prst="rect">
            <a:avLst/>
          </a:prstGeom>
          <a:solidFill>
            <a:srgbClr val="1B4F91"/>
          </a:solidFill>
          <a:ln/>
        </p:spPr>
      </p:sp>
      <p:sp>
        <p:nvSpPr>
          <p:cNvPr id="46" name="Text 44"/>
          <p:cNvSpPr/>
          <p:nvPr/>
        </p:nvSpPr>
        <p:spPr>
          <a:xfrm>
            <a:off x="662025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Human ack</a:t>
            </a:r>
            <a:endParaRPr lang="en-US" sz="850" dirty="0"/>
          </a:p>
        </p:txBody>
      </p:sp>
      <p:sp>
        <p:nvSpPr>
          <p:cNvPr id="47" name="Shape 45"/>
          <p:cNvSpPr/>
          <p:nvPr/>
        </p:nvSpPr>
        <p:spPr>
          <a:xfrm>
            <a:off x="7909560" y="5074920"/>
            <a:ext cx="164592" cy="164592"/>
          </a:xfrm>
          <a:prstGeom prst="rect">
            <a:avLst/>
          </a:prstGeom>
          <a:solidFill>
            <a:srgbClr val="993C1D"/>
          </a:solidFill>
          <a:ln/>
        </p:spPr>
      </p:sp>
      <p:sp>
        <p:nvSpPr>
          <p:cNvPr id="48" name="Text 46"/>
          <p:cNvSpPr/>
          <p:nvPr/>
        </p:nvSpPr>
        <p:spPr>
          <a:xfrm>
            <a:off x="812901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Escalation</a:t>
            </a:r>
            <a:endParaRPr lang="en-US" sz="850" dirty="0"/>
          </a:p>
        </p:txBody>
      </p:sp>
      <p:sp>
        <p:nvSpPr>
          <p:cNvPr id="49" name="Shape 47"/>
          <p:cNvSpPr/>
          <p:nvPr/>
        </p:nvSpPr>
        <p:spPr>
          <a:xfrm>
            <a:off x="9418320" y="5074920"/>
            <a:ext cx="164592" cy="164592"/>
          </a:xfrm>
          <a:prstGeom prst="rect">
            <a:avLst/>
          </a:prstGeom>
          <a:solidFill>
            <a:srgbClr val="5B3E96"/>
          </a:solidFill>
          <a:ln/>
        </p:spPr>
      </p:sp>
      <p:sp>
        <p:nvSpPr>
          <p:cNvPr id="50" name="Text 48"/>
          <p:cNvSpPr/>
          <p:nvPr/>
        </p:nvSpPr>
        <p:spPr>
          <a:xfrm>
            <a:off x="963777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Visualization</a:t>
            </a:r>
            <a:endParaRPr lang="en-US" sz="850" dirty="0"/>
          </a:p>
        </p:txBody>
      </p:sp>
      <p:sp>
        <p:nvSpPr>
          <p:cNvPr id="51" name="Shape 49"/>
          <p:cNvSpPr/>
          <p:nvPr/>
        </p:nvSpPr>
        <p:spPr>
          <a:xfrm>
            <a:off x="365760" y="5532120"/>
            <a:ext cx="11430000" cy="777240"/>
          </a:xfrm>
          <a:prstGeom prst="roundRect">
            <a:avLst>
              <a:gd name="adj" fmla="val 7059"/>
            </a:avLst>
          </a:prstGeom>
          <a:solidFill>
            <a:srgbClr val="16294A"/>
          </a:solidFill>
          <a:ln w="12700">
            <a:solidFill>
              <a:srgbClr val="028090"/>
            </a:solidFill>
            <a:prstDash val="solid"/>
          </a:ln>
        </p:spPr>
      </p:sp>
      <p:sp>
        <p:nvSpPr>
          <p:cNvPr id="52" name="Text 50"/>
          <p:cNvSpPr/>
          <p:nvPr/>
        </p:nvSpPr>
        <p:spPr>
          <a:xfrm>
            <a:off x="548640" y="5596128"/>
            <a:ext cx="11064240" cy="640080"/>
          </a:xfrm>
          <a:prstGeom prst="rect">
            <a:avLst/>
          </a:prstGeom>
          <a:noFill/>
          <a:ln/>
        </p:spPr>
        <p:txBody>
          <a:bodyPr wrap="square"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Real example: NRR-2026-6785 (Cyber Misuse) — attempted 13:18:48, routed to redirect.cyber_misuse.CERT-SE, acknowledged 13:19:39 (51s later). NRR-2026-5707 (Social Services) shows the other branch — routed 13:21:36, expired to DLQ 13:23:55 after no acknowledgement.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292608"/>
          </a:xfrm>
          <a:prstGeom prst="roundRect">
            <a:avLst>
              <a:gd name="adj" fmla="val 18750"/>
            </a:avLst>
          </a:prstGeom>
          <a:solidFill>
            <a:srgbClr val="028090"/>
          </a:solidFill>
          <a:ln/>
        </p:spPr>
      </p:sp>
      <p:sp>
        <p:nvSpPr>
          <p:cNvPr id="3" name="Text 1"/>
          <p:cNvSpPr/>
          <p:nvPr/>
        </p:nvSpPr>
        <p:spPr>
          <a:xfrm>
            <a:off x="457200" y="320040"/>
            <a:ext cx="1737360" cy="292608"/>
          </a:xfrm>
          <a:prstGeom prst="rect">
            <a:avLst/>
          </a:prstGeom>
          <a:noFill/>
          <a:ln/>
        </p:spPr>
        <p:txBody>
          <a:bodyPr wrap="square" rtlCol="0" anchor="ctr"/>
          <a:lstStyle/>
          <a:p>
            <a:pPr marL="0" indent="0" algn="ctr">
              <a:buNone/>
            </a:pPr>
            <a:r>
              <a:rPr lang="en-US" sz="900" b="1" kern="0" spc="100" dirty="0">
                <a:solidFill>
                  <a:srgbClr val="FFFFFF"/>
                </a:solidFill>
                <a:latin typeface="Verdana" pitchFamily="34" charset="0"/>
                <a:ea typeface="Verdana" pitchFamily="34" charset="-122"/>
                <a:cs typeface="Verdana" pitchFamily="34" charset="-120"/>
              </a:rPr>
              <a:t>TIER ESCALATION</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buNone/>
            </a:pPr>
            <a:r>
              <a:rPr lang="en-US" sz="2600" b="1" dirty="0">
                <a:solidFill>
                  <a:srgbClr val="FFFFFF"/>
                </a:solidFill>
                <a:latin typeface="Verdana" pitchFamily="34" charset="0"/>
                <a:ea typeface="Verdana" pitchFamily="34" charset="-122"/>
                <a:cs typeface="Verdana" pitchFamily="34" charset="-120"/>
              </a:rPr>
              <a:t>Beyond Deny — Tier Cases Escalate to NAIA</a:t>
            </a:r>
            <a:endParaRPr lang="en-US" sz="2600" dirty="0"/>
          </a:p>
        </p:txBody>
      </p:sp>
      <p:sp>
        <p:nvSpPr>
          <p:cNvPr id="5" name="Shape 3"/>
          <p:cNvSpPr/>
          <p:nvPr/>
        </p:nvSpPr>
        <p:spPr>
          <a:xfrm>
            <a:off x="365760" y="2880360"/>
            <a:ext cx="1417320" cy="1005840"/>
          </a:xfrm>
          <a:prstGeom prst="roundRect">
            <a:avLst>
              <a:gd name="adj" fmla="val 5455"/>
            </a:avLst>
          </a:prstGeom>
          <a:solidFill>
            <a:srgbClr val="5A6B85"/>
          </a:solidFill>
          <a:ln/>
        </p:spPr>
      </p:sp>
      <p:sp>
        <p:nvSpPr>
          <p:cNvPr id="6" name="Text 4"/>
          <p:cNvSpPr/>
          <p:nvPr/>
        </p:nvSpPr>
        <p:spPr>
          <a:xfrm>
            <a:off x="438912" y="2953512"/>
            <a:ext cx="1271016" cy="4224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1. Trigger</a:t>
            </a:r>
            <a:endParaRPr lang="en-US" sz="950" dirty="0"/>
          </a:p>
        </p:txBody>
      </p:sp>
      <p:sp>
        <p:nvSpPr>
          <p:cNvPr id="7" name="Text 5"/>
          <p:cNvSpPr/>
          <p:nvPr/>
        </p:nvSpPr>
        <p:spPr>
          <a:xfrm>
            <a:off x="438912" y="3322930"/>
            <a:ext cx="1271016" cy="502920"/>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Button click or SSH — fires real openshell sandbox exec</a:t>
            </a:r>
            <a:endParaRPr lang="en-US" sz="750" dirty="0"/>
          </a:p>
        </p:txBody>
      </p:sp>
      <p:sp>
        <p:nvSpPr>
          <p:cNvPr id="8" name="Shape 6"/>
          <p:cNvSpPr/>
          <p:nvPr/>
        </p:nvSpPr>
        <p:spPr>
          <a:xfrm>
            <a:off x="2011680" y="2880360"/>
            <a:ext cx="1417320" cy="1005840"/>
          </a:xfrm>
          <a:prstGeom prst="roundRect">
            <a:avLst>
              <a:gd name="adj" fmla="val 5455"/>
            </a:avLst>
          </a:prstGeom>
          <a:solidFill>
            <a:srgbClr val="854F0B"/>
          </a:solidFill>
          <a:ln/>
        </p:spPr>
      </p:sp>
      <p:sp>
        <p:nvSpPr>
          <p:cNvPr id="9" name="Text 7"/>
          <p:cNvSpPr/>
          <p:nvPr/>
        </p:nvSpPr>
        <p:spPr>
          <a:xfrm>
            <a:off x="2084832" y="2953512"/>
            <a:ext cx="1271016" cy="4224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2. OpenShell</a:t>
            </a:r>
            <a:endParaRPr lang="en-US" sz="950" dirty="0"/>
          </a:p>
        </p:txBody>
      </p:sp>
      <p:sp>
        <p:nvSpPr>
          <p:cNvPr id="10" name="Text 8"/>
          <p:cNvSpPr/>
          <p:nvPr/>
        </p:nvSpPr>
        <p:spPr>
          <a:xfrm>
            <a:off x="2084832" y="3322930"/>
            <a:ext cx="1271016" cy="502920"/>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Policy evaluates — path absent from `rules` — DENY</a:t>
            </a:r>
            <a:endParaRPr lang="en-US" sz="750" dirty="0"/>
          </a:p>
        </p:txBody>
      </p:sp>
      <p:sp>
        <p:nvSpPr>
          <p:cNvPr id="11" name="Shape 9"/>
          <p:cNvSpPr/>
          <p:nvPr/>
        </p:nvSpPr>
        <p:spPr>
          <a:xfrm>
            <a:off x="3657600" y="2880360"/>
            <a:ext cx="1417320" cy="1005840"/>
          </a:xfrm>
          <a:prstGeom prst="roundRect">
            <a:avLst>
              <a:gd name="adj" fmla="val 5455"/>
            </a:avLst>
          </a:prstGeom>
          <a:solidFill>
            <a:srgbClr val="3A4A63"/>
          </a:solidFill>
          <a:ln/>
        </p:spPr>
      </p:sp>
      <p:sp>
        <p:nvSpPr>
          <p:cNvPr id="12" name="Text 10"/>
          <p:cNvSpPr/>
          <p:nvPr/>
        </p:nvSpPr>
        <p:spPr>
          <a:xfrm>
            <a:off x="3730752" y="2953512"/>
            <a:ext cx="1271016" cy="4224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3. Watcher</a:t>
            </a:r>
            <a:endParaRPr lang="en-US" sz="950" dirty="0"/>
          </a:p>
        </p:txBody>
      </p:sp>
      <p:sp>
        <p:nvSpPr>
          <p:cNvPr id="13" name="Text 11"/>
          <p:cNvSpPr/>
          <p:nvPr/>
        </p:nvSpPr>
        <p:spPr>
          <a:xfrm>
            <a:off x="3730752" y="3322930"/>
            <a:ext cx="1271016" cy="502920"/>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Detects denial, tags tier (1/2/3), publishes to NAIA queue</a:t>
            </a:r>
            <a:endParaRPr lang="en-US" sz="750" dirty="0"/>
          </a:p>
        </p:txBody>
      </p:sp>
      <p:sp>
        <p:nvSpPr>
          <p:cNvPr id="14" name="Shape 12"/>
          <p:cNvSpPr/>
          <p:nvPr/>
        </p:nvSpPr>
        <p:spPr>
          <a:xfrm>
            <a:off x="5303520" y="2880360"/>
            <a:ext cx="1417320" cy="1005840"/>
          </a:xfrm>
          <a:prstGeom prst="roundRect">
            <a:avLst>
              <a:gd name="adj" fmla="val 5455"/>
            </a:avLst>
          </a:prstGeom>
          <a:solidFill>
            <a:srgbClr val="028090"/>
          </a:solidFill>
          <a:ln/>
        </p:spPr>
      </p:sp>
      <p:sp>
        <p:nvSpPr>
          <p:cNvPr id="15" name="Text 13"/>
          <p:cNvSpPr/>
          <p:nvPr/>
        </p:nvSpPr>
        <p:spPr>
          <a:xfrm>
            <a:off x="5376672" y="2953512"/>
            <a:ext cx="1271016" cy="4224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4. NAIA Queue</a:t>
            </a:r>
            <a:endParaRPr lang="en-US" sz="950" dirty="0"/>
          </a:p>
        </p:txBody>
      </p:sp>
      <p:sp>
        <p:nvSpPr>
          <p:cNvPr id="16" name="Text 14"/>
          <p:cNvSpPr/>
          <p:nvPr/>
        </p:nvSpPr>
        <p:spPr>
          <a:xfrm>
            <a:off x="5376672" y="3322930"/>
            <a:ext cx="1271016" cy="502920"/>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1 of 3 tier-specific durable queues</a:t>
            </a:r>
            <a:endParaRPr lang="en-US" sz="750" dirty="0"/>
          </a:p>
        </p:txBody>
      </p:sp>
      <p:sp>
        <p:nvSpPr>
          <p:cNvPr id="17" name="Shape 15"/>
          <p:cNvSpPr/>
          <p:nvPr/>
        </p:nvSpPr>
        <p:spPr>
          <a:xfrm>
            <a:off x="1783080" y="3383280"/>
            <a:ext cx="228600" cy="0"/>
          </a:xfrm>
          <a:prstGeom prst="line">
            <a:avLst/>
          </a:prstGeom>
          <a:noFill/>
          <a:ln w="19050">
            <a:solidFill>
              <a:srgbClr val="CADCFC"/>
            </a:solidFill>
            <a:prstDash val="solid"/>
            <a:tailEnd type="triangle"/>
          </a:ln>
        </p:spPr>
      </p:sp>
      <p:sp>
        <p:nvSpPr>
          <p:cNvPr id="18" name="Shape 16"/>
          <p:cNvSpPr/>
          <p:nvPr/>
        </p:nvSpPr>
        <p:spPr>
          <a:xfrm>
            <a:off x="3429000" y="3383280"/>
            <a:ext cx="228600" cy="0"/>
          </a:xfrm>
          <a:prstGeom prst="line">
            <a:avLst/>
          </a:prstGeom>
          <a:noFill/>
          <a:ln w="19050">
            <a:solidFill>
              <a:srgbClr val="CADCFC"/>
            </a:solidFill>
            <a:prstDash val="solid"/>
            <a:tailEnd type="triangle"/>
          </a:ln>
        </p:spPr>
      </p:sp>
      <p:sp>
        <p:nvSpPr>
          <p:cNvPr id="19" name="Shape 17"/>
          <p:cNvSpPr/>
          <p:nvPr/>
        </p:nvSpPr>
        <p:spPr>
          <a:xfrm>
            <a:off x="5074920" y="3383280"/>
            <a:ext cx="228600" cy="0"/>
          </a:xfrm>
          <a:prstGeom prst="line">
            <a:avLst/>
          </a:prstGeom>
          <a:noFill/>
          <a:ln w="19050">
            <a:solidFill>
              <a:srgbClr val="CADCFC"/>
            </a:solidFill>
            <a:prstDash val="solid"/>
            <a:tailEnd type="triangle"/>
          </a:ln>
        </p:spPr>
      </p:sp>
      <p:sp>
        <p:nvSpPr>
          <p:cNvPr id="20" name="Shape 18"/>
          <p:cNvSpPr/>
          <p:nvPr/>
        </p:nvSpPr>
        <p:spPr>
          <a:xfrm>
            <a:off x="6949440" y="1965960"/>
            <a:ext cx="1417320" cy="713232"/>
          </a:xfrm>
          <a:prstGeom prst="roundRect">
            <a:avLst>
              <a:gd name="adj" fmla="val 7692"/>
            </a:avLst>
          </a:prstGeom>
          <a:solidFill>
            <a:srgbClr val="1B4F91"/>
          </a:solidFill>
          <a:ln/>
        </p:spPr>
      </p:sp>
      <p:sp>
        <p:nvSpPr>
          <p:cNvPr id="21" name="Text 19"/>
          <p:cNvSpPr/>
          <p:nvPr/>
        </p:nvSpPr>
        <p:spPr>
          <a:xfrm>
            <a:off x="7022592" y="2039112"/>
            <a:ext cx="1271016" cy="299557"/>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5a. Acknowledged</a:t>
            </a:r>
            <a:endParaRPr lang="en-US" sz="950" dirty="0"/>
          </a:p>
        </p:txBody>
      </p:sp>
      <p:sp>
        <p:nvSpPr>
          <p:cNvPr id="22" name="Text 20"/>
          <p:cNvSpPr/>
          <p:nvPr/>
        </p:nvSpPr>
        <p:spPr>
          <a:xfrm>
            <a:off x="7022592" y="2279782"/>
            <a:ext cx="1271016" cy="356616"/>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decision_gate_ack.py — real AMQP accept</a:t>
            </a:r>
            <a:endParaRPr lang="en-US" sz="750" dirty="0"/>
          </a:p>
        </p:txBody>
      </p:sp>
      <p:sp>
        <p:nvSpPr>
          <p:cNvPr id="23" name="Shape 21"/>
          <p:cNvSpPr/>
          <p:nvPr/>
        </p:nvSpPr>
        <p:spPr>
          <a:xfrm>
            <a:off x="6949440" y="3794760"/>
            <a:ext cx="1417320" cy="713232"/>
          </a:xfrm>
          <a:prstGeom prst="roundRect">
            <a:avLst>
              <a:gd name="adj" fmla="val 7692"/>
            </a:avLst>
          </a:prstGeom>
          <a:solidFill>
            <a:srgbClr val="993C1D"/>
          </a:solidFill>
          <a:ln/>
        </p:spPr>
      </p:sp>
      <p:sp>
        <p:nvSpPr>
          <p:cNvPr id="24" name="Text 22"/>
          <p:cNvSpPr/>
          <p:nvPr/>
        </p:nvSpPr>
        <p:spPr>
          <a:xfrm>
            <a:off x="7022592" y="3867912"/>
            <a:ext cx="1271016" cy="299557"/>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5b. Escalating</a:t>
            </a:r>
            <a:endParaRPr lang="en-US" sz="950" dirty="0"/>
          </a:p>
        </p:txBody>
      </p:sp>
      <p:sp>
        <p:nvSpPr>
          <p:cNvPr id="25" name="Text 23"/>
          <p:cNvSpPr/>
          <p:nvPr/>
        </p:nvSpPr>
        <p:spPr>
          <a:xfrm>
            <a:off x="7022592" y="4108582"/>
            <a:ext cx="1271016" cy="356616"/>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No ack in time — DB-polling detects timeout</a:t>
            </a:r>
            <a:endParaRPr lang="en-US" sz="750" dirty="0"/>
          </a:p>
        </p:txBody>
      </p:sp>
      <p:sp>
        <p:nvSpPr>
          <p:cNvPr id="26" name="Shape 24"/>
          <p:cNvSpPr/>
          <p:nvPr/>
        </p:nvSpPr>
        <p:spPr>
          <a:xfrm flipV="1">
            <a:off x="6720840" y="2322576"/>
            <a:ext cx="228600" cy="1060704"/>
          </a:xfrm>
          <a:prstGeom prst="line">
            <a:avLst/>
          </a:prstGeom>
          <a:noFill/>
          <a:ln w="19050">
            <a:solidFill>
              <a:srgbClr val="CADCFC"/>
            </a:solidFill>
            <a:prstDash val="solid"/>
            <a:tailEnd type="triangle"/>
          </a:ln>
        </p:spPr>
      </p:sp>
      <p:sp>
        <p:nvSpPr>
          <p:cNvPr id="27" name="Shape 25"/>
          <p:cNvSpPr/>
          <p:nvPr/>
        </p:nvSpPr>
        <p:spPr>
          <a:xfrm>
            <a:off x="6720840" y="3383280"/>
            <a:ext cx="228600" cy="768096"/>
          </a:xfrm>
          <a:prstGeom prst="line">
            <a:avLst/>
          </a:prstGeom>
          <a:noFill/>
          <a:ln w="19050">
            <a:solidFill>
              <a:srgbClr val="CADCFC"/>
            </a:solidFill>
            <a:prstDash val="solid"/>
            <a:tailEnd type="triangle"/>
          </a:ln>
        </p:spPr>
      </p:sp>
      <p:sp>
        <p:nvSpPr>
          <p:cNvPr id="28" name="Shape 26"/>
          <p:cNvSpPr/>
          <p:nvPr/>
        </p:nvSpPr>
        <p:spPr>
          <a:xfrm>
            <a:off x="8595360" y="1965960"/>
            <a:ext cx="1417320" cy="2542032"/>
          </a:xfrm>
          <a:prstGeom prst="roundRect">
            <a:avLst>
              <a:gd name="adj" fmla="val 3871"/>
            </a:avLst>
          </a:prstGeom>
          <a:solidFill>
            <a:srgbClr val="3A4A63"/>
          </a:solidFill>
          <a:ln/>
        </p:spPr>
      </p:sp>
      <p:sp>
        <p:nvSpPr>
          <p:cNvPr id="29" name="Text 27"/>
          <p:cNvSpPr/>
          <p:nvPr/>
        </p:nvSpPr>
        <p:spPr>
          <a:xfrm>
            <a:off x="8668512" y="2039112"/>
            <a:ext cx="1271016" cy="10676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6. audit_log</a:t>
            </a:r>
            <a:endParaRPr lang="en-US" sz="950" dirty="0"/>
          </a:p>
        </p:txBody>
      </p:sp>
      <p:sp>
        <p:nvSpPr>
          <p:cNvPr id="30" name="Text 28"/>
          <p:cNvSpPr/>
          <p:nvPr/>
        </p:nvSpPr>
        <p:spPr>
          <a:xfrm>
            <a:off x="8668512" y="3084454"/>
            <a:ext cx="1271016" cy="1271016"/>
          </a:xfrm>
          <a:prstGeom prst="rect">
            <a:avLst/>
          </a:prstGeom>
          <a:noFill/>
          <a:ln/>
        </p:spPr>
        <p:txBody>
          <a:bodyPr wrap="square" rtlCol="0" anchor="t"/>
          <a:lstStyle/>
          <a:p>
            <a:pPr marL="0" indent="0">
              <a:buNone/>
            </a:pPr>
            <a:endParaRPr lang="en-US" sz="750" dirty="0"/>
          </a:p>
          <a:p>
            <a:pPr marL="0" indent="0">
              <a:buNone/>
            </a:pPr>
            <a:endParaRPr lang="en-US" sz="750" dirty="0"/>
          </a:p>
          <a:p>
            <a:pPr marL="0" indent="0">
              <a:buNone/>
            </a:pPr>
            <a:r>
              <a:rPr lang="en-US" sz="750" dirty="0">
                <a:solidFill>
                  <a:srgbClr val="FFFFFF"/>
                </a:solidFill>
                <a:latin typeface="Calibri" pitchFamily="34" charset="0"/>
                <a:ea typeface="Calibri" pitchFamily="34" charset="-122"/>
                <a:cs typeface="Calibri" pitchFamily="34" charset="-120"/>
              </a:rPr>
              <a:t>All three tiers converge here — tier populated, not NULL</a:t>
            </a:r>
            <a:endParaRPr lang="en-US" sz="750" dirty="0"/>
          </a:p>
        </p:txBody>
      </p:sp>
      <p:sp>
        <p:nvSpPr>
          <p:cNvPr id="31" name="Shape 29"/>
          <p:cNvSpPr/>
          <p:nvPr/>
        </p:nvSpPr>
        <p:spPr>
          <a:xfrm>
            <a:off x="8366760" y="2322576"/>
            <a:ext cx="228600" cy="0"/>
          </a:xfrm>
          <a:prstGeom prst="line">
            <a:avLst/>
          </a:prstGeom>
          <a:noFill/>
          <a:ln w="19050">
            <a:solidFill>
              <a:srgbClr val="CADCFC"/>
            </a:solidFill>
            <a:prstDash val="solid"/>
            <a:tailEnd type="triangle"/>
          </a:ln>
        </p:spPr>
      </p:sp>
      <p:sp>
        <p:nvSpPr>
          <p:cNvPr id="32" name="Shape 30"/>
          <p:cNvSpPr/>
          <p:nvPr/>
        </p:nvSpPr>
        <p:spPr>
          <a:xfrm>
            <a:off x="8366760" y="4151376"/>
            <a:ext cx="228600" cy="0"/>
          </a:xfrm>
          <a:prstGeom prst="line">
            <a:avLst/>
          </a:prstGeom>
          <a:noFill/>
          <a:ln w="19050">
            <a:solidFill>
              <a:srgbClr val="CADCFC"/>
            </a:solidFill>
            <a:prstDash val="solid"/>
            <a:tailEnd type="triangle"/>
          </a:ln>
        </p:spPr>
      </p:sp>
      <p:sp>
        <p:nvSpPr>
          <p:cNvPr id="33" name="Shape 31"/>
          <p:cNvSpPr/>
          <p:nvPr/>
        </p:nvSpPr>
        <p:spPr>
          <a:xfrm>
            <a:off x="10241280" y="2880360"/>
            <a:ext cx="1417320" cy="1005840"/>
          </a:xfrm>
          <a:prstGeom prst="roundRect">
            <a:avLst>
              <a:gd name="adj" fmla="val 5455"/>
            </a:avLst>
          </a:prstGeom>
          <a:solidFill>
            <a:srgbClr val="5B3E96"/>
          </a:solidFill>
          <a:ln/>
        </p:spPr>
      </p:sp>
      <p:sp>
        <p:nvSpPr>
          <p:cNvPr id="34" name="Text 32"/>
          <p:cNvSpPr/>
          <p:nvPr/>
        </p:nvSpPr>
        <p:spPr>
          <a:xfrm>
            <a:off x="10314432" y="2953512"/>
            <a:ext cx="1271016" cy="422453"/>
          </a:xfrm>
          <a:prstGeom prst="rect">
            <a:avLst/>
          </a:prstGeom>
          <a:noFill/>
          <a:ln/>
        </p:spPr>
        <p:txBody>
          <a:bodyPr wrap="square" rtlCol="0" anchor="t"/>
          <a:lstStyle/>
          <a:p>
            <a:pPr marL="0" indent="0">
              <a:buNone/>
            </a:pPr>
            <a:r>
              <a:rPr lang="en-US" sz="950" b="1" dirty="0">
                <a:solidFill>
                  <a:srgbClr val="FFFFFF"/>
                </a:solidFill>
                <a:latin typeface="Verdana" pitchFamily="34" charset="0"/>
                <a:ea typeface="Verdana" pitchFamily="34" charset="-122"/>
                <a:cs typeface="Verdana" pitchFamily="34" charset="-120"/>
              </a:rPr>
              <a:t>7. Grafana</a:t>
            </a:r>
            <a:endParaRPr lang="en-US" sz="950" dirty="0"/>
          </a:p>
        </p:txBody>
      </p:sp>
      <p:sp>
        <p:nvSpPr>
          <p:cNvPr id="35" name="Text 33"/>
          <p:cNvSpPr/>
          <p:nvPr/>
        </p:nvSpPr>
        <p:spPr>
          <a:xfrm>
            <a:off x="10314432" y="3322930"/>
            <a:ext cx="1271016" cy="502920"/>
          </a:xfrm>
          <a:prstGeom prst="rect">
            <a:avLst/>
          </a:prstGeom>
          <a:noFill/>
          <a:ln/>
        </p:spPr>
        <p:txBody>
          <a:bodyPr wrap="square" rtlCol="0" anchor="t"/>
          <a:lstStyle/>
          <a:p>
            <a:pPr marL="0" indent="0">
              <a:buNone/>
            </a:pPr>
            <a:r>
              <a:rPr lang="en-US" sz="750" dirty="0">
                <a:solidFill>
                  <a:srgbClr val="FFFFFF"/>
                </a:solidFill>
                <a:latin typeface="Calibri" pitchFamily="34" charset="0"/>
                <a:ea typeface="Calibri" pitchFamily="34" charset="-122"/>
                <a:cs typeface="Calibri" pitchFamily="34" charset="-120"/>
              </a:rPr>
              <a:t>NAIA Cases dashboard — Tier 1/2/3 side by side, live in 2s</a:t>
            </a:r>
            <a:endParaRPr lang="en-US" sz="750" dirty="0"/>
          </a:p>
        </p:txBody>
      </p:sp>
      <p:sp>
        <p:nvSpPr>
          <p:cNvPr id="36" name="Shape 34"/>
          <p:cNvSpPr/>
          <p:nvPr/>
        </p:nvSpPr>
        <p:spPr>
          <a:xfrm>
            <a:off x="10012680" y="3236976"/>
            <a:ext cx="228600" cy="146304"/>
          </a:xfrm>
          <a:prstGeom prst="line">
            <a:avLst/>
          </a:prstGeom>
          <a:noFill/>
          <a:ln w="19050">
            <a:solidFill>
              <a:srgbClr val="CADCFC"/>
            </a:solidFill>
            <a:prstDash val="solid"/>
            <a:tailEnd type="triangle"/>
          </a:ln>
        </p:spPr>
      </p:sp>
      <p:sp>
        <p:nvSpPr>
          <p:cNvPr id="37" name="Shape 35"/>
          <p:cNvSpPr/>
          <p:nvPr/>
        </p:nvSpPr>
        <p:spPr>
          <a:xfrm>
            <a:off x="365760" y="5074920"/>
            <a:ext cx="164592" cy="164592"/>
          </a:xfrm>
          <a:prstGeom prst="rect">
            <a:avLst/>
          </a:prstGeom>
          <a:solidFill>
            <a:srgbClr val="5A6B85"/>
          </a:solidFill>
          <a:ln/>
        </p:spPr>
      </p:sp>
      <p:sp>
        <p:nvSpPr>
          <p:cNvPr id="38" name="Text 36"/>
          <p:cNvSpPr/>
          <p:nvPr/>
        </p:nvSpPr>
        <p:spPr>
          <a:xfrm>
            <a:off x="58521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Trigger</a:t>
            </a:r>
            <a:endParaRPr lang="en-US" sz="850" dirty="0"/>
          </a:p>
        </p:txBody>
      </p:sp>
      <p:sp>
        <p:nvSpPr>
          <p:cNvPr id="39" name="Shape 37"/>
          <p:cNvSpPr/>
          <p:nvPr/>
        </p:nvSpPr>
        <p:spPr>
          <a:xfrm>
            <a:off x="1874520" y="5074920"/>
            <a:ext cx="164592" cy="164592"/>
          </a:xfrm>
          <a:prstGeom prst="rect">
            <a:avLst/>
          </a:prstGeom>
          <a:solidFill>
            <a:srgbClr val="854F0B"/>
          </a:solidFill>
          <a:ln/>
        </p:spPr>
      </p:sp>
      <p:sp>
        <p:nvSpPr>
          <p:cNvPr id="40" name="Text 38"/>
          <p:cNvSpPr/>
          <p:nvPr/>
        </p:nvSpPr>
        <p:spPr>
          <a:xfrm>
            <a:off x="209397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Policy</a:t>
            </a:r>
            <a:endParaRPr lang="en-US" sz="850" dirty="0"/>
          </a:p>
        </p:txBody>
      </p:sp>
      <p:sp>
        <p:nvSpPr>
          <p:cNvPr id="41" name="Shape 39"/>
          <p:cNvSpPr/>
          <p:nvPr/>
        </p:nvSpPr>
        <p:spPr>
          <a:xfrm>
            <a:off x="3383280" y="5074920"/>
            <a:ext cx="164592" cy="164592"/>
          </a:xfrm>
          <a:prstGeom prst="rect">
            <a:avLst/>
          </a:prstGeom>
          <a:solidFill>
            <a:srgbClr val="3A4A63"/>
          </a:solidFill>
          <a:ln/>
        </p:spPr>
      </p:sp>
      <p:sp>
        <p:nvSpPr>
          <p:cNvPr id="42" name="Text 40"/>
          <p:cNvSpPr/>
          <p:nvPr/>
        </p:nvSpPr>
        <p:spPr>
          <a:xfrm>
            <a:off x="360273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Automation</a:t>
            </a:r>
            <a:endParaRPr lang="en-US" sz="850" dirty="0"/>
          </a:p>
        </p:txBody>
      </p:sp>
      <p:sp>
        <p:nvSpPr>
          <p:cNvPr id="43" name="Shape 41"/>
          <p:cNvSpPr/>
          <p:nvPr/>
        </p:nvSpPr>
        <p:spPr>
          <a:xfrm>
            <a:off x="4892040" y="5074920"/>
            <a:ext cx="164592" cy="164592"/>
          </a:xfrm>
          <a:prstGeom prst="rect">
            <a:avLst/>
          </a:prstGeom>
          <a:solidFill>
            <a:srgbClr val="028090"/>
          </a:solidFill>
          <a:ln/>
        </p:spPr>
      </p:sp>
      <p:sp>
        <p:nvSpPr>
          <p:cNvPr id="44" name="Text 42"/>
          <p:cNvSpPr/>
          <p:nvPr/>
        </p:nvSpPr>
        <p:spPr>
          <a:xfrm>
            <a:off x="511149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NAIA Transport</a:t>
            </a:r>
            <a:endParaRPr lang="en-US" sz="850" dirty="0"/>
          </a:p>
        </p:txBody>
      </p:sp>
      <p:sp>
        <p:nvSpPr>
          <p:cNvPr id="45" name="Shape 43"/>
          <p:cNvSpPr/>
          <p:nvPr/>
        </p:nvSpPr>
        <p:spPr>
          <a:xfrm>
            <a:off x="6400800" y="5074920"/>
            <a:ext cx="164592" cy="164592"/>
          </a:xfrm>
          <a:prstGeom prst="rect">
            <a:avLst/>
          </a:prstGeom>
          <a:solidFill>
            <a:srgbClr val="1B4F91"/>
          </a:solidFill>
          <a:ln/>
        </p:spPr>
      </p:sp>
      <p:sp>
        <p:nvSpPr>
          <p:cNvPr id="46" name="Text 44"/>
          <p:cNvSpPr/>
          <p:nvPr/>
        </p:nvSpPr>
        <p:spPr>
          <a:xfrm>
            <a:off x="662025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Human ack</a:t>
            </a:r>
            <a:endParaRPr lang="en-US" sz="850" dirty="0"/>
          </a:p>
        </p:txBody>
      </p:sp>
      <p:sp>
        <p:nvSpPr>
          <p:cNvPr id="47" name="Shape 45"/>
          <p:cNvSpPr/>
          <p:nvPr/>
        </p:nvSpPr>
        <p:spPr>
          <a:xfrm>
            <a:off x="7909560" y="5074920"/>
            <a:ext cx="164592" cy="164592"/>
          </a:xfrm>
          <a:prstGeom prst="rect">
            <a:avLst/>
          </a:prstGeom>
          <a:solidFill>
            <a:srgbClr val="993C1D"/>
          </a:solidFill>
          <a:ln/>
        </p:spPr>
      </p:sp>
      <p:sp>
        <p:nvSpPr>
          <p:cNvPr id="48" name="Text 46"/>
          <p:cNvSpPr/>
          <p:nvPr/>
        </p:nvSpPr>
        <p:spPr>
          <a:xfrm>
            <a:off x="812901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Escalation</a:t>
            </a:r>
            <a:endParaRPr lang="en-US" sz="850" dirty="0"/>
          </a:p>
        </p:txBody>
      </p:sp>
      <p:sp>
        <p:nvSpPr>
          <p:cNvPr id="49" name="Shape 47"/>
          <p:cNvSpPr/>
          <p:nvPr/>
        </p:nvSpPr>
        <p:spPr>
          <a:xfrm>
            <a:off x="9418320" y="5074920"/>
            <a:ext cx="164592" cy="164592"/>
          </a:xfrm>
          <a:prstGeom prst="rect">
            <a:avLst/>
          </a:prstGeom>
          <a:solidFill>
            <a:srgbClr val="5B3E96"/>
          </a:solidFill>
          <a:ln/>
        </p:spPr>
      </p:sp>
      <p:sp>
        <p:nvSpPr>
          <p:cNvPr id="50" name="Text 48"/>
          <p:cNvSpPr/>
          <p:nvPr/>
        </p:nvSpPr>
        <p:spPr>
          <a:xfrm>
            <a:off x="9637776" y="5029200"/>
            <a:ext cx="1371600" cy="256032"/>
          </a:xfrm>
          <a:prstGeom prst="rect">
            <a:avLst/>
          </a:prstGeom>
          <a:noFill/>
          <a:ln/>
        </p:spPr>
        <p:txBody>
          <a:bodyPr wrap="square" rtlCol="0" anchor="ctr"/>
          <a:lstStyle/>
          <a:p>
            <a:pPr marL="0" indent="0">
              <a:buNone/>
            </a:pPr>
            <a:r>
              <a:rPr lang="en-US" sz="850" dirty="0">
                <a:solidFill>
                  <a:srgbClr val="CADCFC"/>
                </a:solidFill>
                <a:latin typeface="Calibri" pitchFamily="34" charset="0"/>
                <a:ea typeface="Calibri" pitchFamily="34" charset="-122"/>
                <a:cs typeface="Calibri" pitchFamily="34" charset="-120"/>
              </a:rPr>
              <a:t>Visualization</a:t>
            </a:r>
            <a:endParaRPr lang="en-US" sz="850" dirty="0"/>
          </a:p>
        </p:txBody>
      </p:sp>
      <p:sp>
        <p:nvSpPr>
          <p:cNvPr id="51" name="Shape 49"/>
          <p:cNvSpPr/>
          <p:nvPr/>
        </p:nvSpPr>
        <p:spPr>
          <a:xfrm>
            <a:off x="365760" y="5532120"/>
            <a:ext cx="11430000" cy="777240"/>
          </a:xfrm>
          <a:prstGeom prst="roundRect">
            <a:avLst>
              <a:gd name="adj" fmla="val 7059"/>
            </a:avLst>
          </a:prstGeom>
          <a:solidFill>
            <a:srgbClr val="16294A"/>
          </a:solidFill>
          <a:ln w="12700">
            <a:solidFill>
              <a:srgbClr val="028090"/>
            </a:solidFill>
            <a:prstDash val="solid"/>
          </a:ln>
        </p:spPr>
      </p:sp>
      <p:sp>
        <p:nvSpPr>
          <p:cNvPr id="52" name="Text 50"/>
          <p:cNvSpPr/>
          <p:nvPr/>
        </p:nvSpPr>
        <p:spPr>
          <a:xfrm>
            <a:off x="548640" y="5596128"/>
            <a:ext cx="11064240" cy="640080"/>
          </a:xfrm>
          <a:prstGeom prst="rect">
            <a:avLst/>
          </a:prstGeom>
          <a:noFill/>
          <a:ln/>
        </p:spPr>
        <p:txBody>
          <a:bodyPr wrap="square"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Real example: DGT1-2026-1002 (Tier 1) — routed 16:56:09, acknowledged 16:57:15 (66s later). DGT2-2026-8310 (Tier 2) and DGT3-2026-6988 (Tier 3) show today's honest state — routed successfully, then queued: no ack mechanism built yet (Tier 2/3 need a capability-grant design, not just notify).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292608"/>
          </a:xfrm>
          <a:prstGeom prst="rect">
            <a:avLst/>
          </a:prstGeom>
          <a:solidFill>
            <a:srgbClr val="028090"/>
          </a:solidFill>
          <a:ln/>
        </p:spPr>
      </p:sp>
      <p:sp>
        <p:nvSpPr>
          <p:cNvPr id="3" name="Text 1"/>
          <p:cNvSpPr/>
          <p:nvPr/>
        </p:nvSpPr>
        <p:spPr>
          <a:xfrm>
            <a:off x="457200" y="320040"/>
            <a:ext cx="1737360" cy="292608"/>
          </a:xfrm>
          <a:prstGeom prst="rect">
            <a:avLst/>
          </a:prstGeom>
          <a:noFill/>
          <a:ln/>
        </p:spPr>
        <p:txBody>
          <a:bodyPr wrap="square" rtlCol="0" anchor="ctr"/>
          <a:lstStyle/>
          <a:p>
            <a:pPr marL="0" indent="0" algn="ctr">
              <a:buNone/>
            </a:pPr>
            <a:r>
              <a:rPr lang="en-US" sz="900" b="1" dirty="0">
                <a:solidFill>
                  <a:srgbClr val="FFFFFF"/>
                </a:solidFill>
                <a:latin typeface="Verdana" pitchFamily="34" charset="0"/>
                <a:ea typeface="Verdana" pitchFamily="34" charset="-122"/>
                <a:cs typeface="Verdana" pitchFamily="34" charset="-120"/>
              </a:rPr>
              <a:t>DECISION GATE</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lgn="l">
              <a:buNone/>
            </a:pPr>
            <a:r>
              <a:rPr lang="en-US" sz="2600" b="1" dirty="0">
                <a:solidFill>
                  <a:srgbClr val="FFFFFF"/>
                </a:solidFill>
                <a:latin typeface="Verdana" pitchFamily="34" charset="0"/>
                <a:ea typeface="Verdana" pitchFamily="34" charset="-122"/>
                <a:cs typeface="Verdana" pitchFamily="34" charset="-120"/>
              </a:rPr>
              <a:t>Four Tiers — Status Varies</a:t>
            </a:r>
            <a:endParaRPr lang="en-US" sz="2600" dirty="0"/>
          </a:p>
        </p:txBody>
      </p:sp>
      <p:sp>
        <p:nvSpPr>
          <p:cNvPr id="5" name="Shape card0"/>
          <p:cNvSpPr/>
          <p:nvPr/>
        </p:nvSpPr>
        <p:spPr>
          <a:xfrm>
            <a:off x="548640" y="1737360"/>
            <a:ext cx="11064240" cy="1051560"/>
          </a:xfrm>
          <a:prstGeom prst="roundRect">
            <a:avLst>
              <a:gd name="adj" fmla="val 6957"/>
            </a:avLst>
          </a:prstGeom>
          <a:solidFill>
            <a:srgbClr val="16294A"/>
          </a:solidFill>
          <a:ln w="12700">
            <a:solidFill>
              <a:srgbClr val="5B3E96"/>
            </a:solidFill>
            <a:prstDash val="solid"/>
          </a:ln>
        </p:spPr>
      </p:sp>
      <p:sp>
        <p:nvSpPr>
          <p:cNvPr id="6" name="Shape chip0"/>
          <p:cNvSpPr/>
          <p:nvPr/>
        </p:nvSpPr>
        <p:spPr>
          <a:xfrm>
            <a:off x="731520" y="1901952"/>
            <a:ext cx="548640" cy="292608"/>
          </a:xfrm>
          <a:prstGeom prst="roundRect">
            <a:avLst>
              <a:gd name="adj" fmla="val 15625"/>
            </a:avLst>
          </a:prstGeom>
          <a:solidFill>
            <a:srgbClr val="A6291D"/>
          </a:solidFill>
          <a:ln/>
        </p:spPr>
      </p:sp>
      <p:sp>
        <p:nvSpPr>
          <p:cNvPr id="7" name="Text chip0"/>
          <p:cNvSpPr/>
          <p:nvPr/>
        </p:nvSpPr>
        <p:spPr>
          <a:xfrm>
            <a:off x="731520" y="1901952"/>
            <a:ext cx="548640" cy="292608"/>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T1</a:t>
            </a:r>
            <a:endParaRPr lang="en-US" sz="1000" dirty="0"/>
          </a:p>
        </p:txBody>
      </p:sp>
      <p:sp>
        <p:nvSpPr>
          <p:cNvPr id="8" name="Text title0"/>
          <p:cNvSpPr/>
          <p:nvPr/>
        </p:nvSpPr>
        <p:spPr>
          <a:xfrm>
            <a:off x="1463040" y="1828800"/>
            <a:ext cx="6126480" cy="320040"/>
          </a:xfrm>
          <a:prstGeom prst="rect">
            <a:avLst/>
          </a:prstGeom>
          <a:noFill/>
          <a:ln/>
        </p:spPr>
        <p:txBody>
          <a:bodyPr wrap="square" rtlCol="0" anchor="ctr"/>
          <a:lstStyle/>
          <a:p>
            <a:pPr marL="0" indent="0" algn="l">
              <a:buNone/>
            </a:pPr>
            <a:r>
              <a:rPr lang="en-US" sz="1300" b="1" dirty="0">
                <a:solidFill>
                  <a:srgbClr val="FFFFFF"/>
                </a:solidFill>
                <a:latin typeface="Verdana" pitchFamily="34" charset="0"/>
                <a:ea typeface="Verdana" pitchFamily="34" charset="-122"/>
                <a:cs typeface="Verdana" pitchFamily="34" charset="-120"/>
              </a:rPr>
              <a:t>Tier 1 — Critical</a:t>
            </a:r>
            <a:endParaRPr lang="en-US" sz="1300" dirty="0"/>
          </a:p>
        </p:txBody>
      </p:sp>
      <p:sp>
        <p:nvSpPr>
          <p:cNvPr id="9" name="Text sub0"/>
          <p:cNvSpPr/>
          <p:nvPr/>
        </p:nvSpPr>
        <p:spPr>
          <a:xfrm>
            <a:off x="1463040" y="2176272"/>
            <a:ext cx="612648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Hard stop, no policy path exists · Full NAIA lifecycle (routed → acknowledged / escalation-pending)</a:t>
            </a:r>
            <a:endParaRPr lang="en-US" sz="1000" dirty="0"/>
          </a:p>
        </p:txBody>
      </p:sp>
      <p:sp>
        <p:nvSpPr>
          <p:cNvPr id="10" name="Shape badge0"/>
          <p:cNvSpPr/>
          <p:nvPr/>
        </p:nvSpPr>
        <p:spPr>
          <a:xfrm>
            <a:off x="7818120" y="2029968"/>
            <a:ext cx="3566160" cy="457200"/>
          </a:xfrm>
          <a:prstGeom prst="roundRect">
            <a:avLst>
              <a:gd name="adj" fmla="val 12000"/>
            </a:avLst>
          </a:prstGeom>
          <a:solidFill>
            <a:srgbClr val="1E7A4C"/>
          </a:solidFill>
          <a:ln/>
        </p:spPr>
      </p:sp>
      <p:sp>
        <p:nvSpPr>
          <p:cNvPr id="11" name="Text badge0"/>
          <p:cNvSpPr/>
          <p:nvPr/>
        </p:nvSpPr>
        <p:spPr>
          <a:xfrm>
            <a:off x="7818120" y="2029968"/>
            <a:ext cx="3566160" cy="457200"/>
          </a:xfrm>
          <a:prstGeom prst="rect">
            <a:avLst/>
          </a:prstGeom>
          <a:noFill/>
          <a:ln/>
        </p:spPr>
        <p:txBody>
          <a:bodyPr wrap="square" rtlCol="0" anchor="ctr"/>
          <a:lstStyle/>
          <a:p>
            <a:pPr marL="0" indent="0" algn="ctr">
              <a:buNone/>
            </a:pPr>
            <a:r>
              <a:rPr lang="en-US" sz="1200" b="1" dirty="0">
                <a:solidFill>
                  <a:srgbClr val="FFFFFF"/>
                </a:solidFill>
                <a:latin typeface="Verdana" pitchFamily="34" charset="0"/>
                <a:ea typeface="Verdana" pitchFamily="34" charset="-122"/>
                <a:cs typeface="Verdana" pitchFamily="34" charset="-120"/>
              </a:rPr>
              <a:t>Built &amp; tested end-to-end</a:t>
            </a:r>
            <a:endParaRPr lang="en-US" sz="1200" dirty="0"/>
          </a:p>
        </p:txBody>
      </p:sp>
      <p:sp>
        <p:nvSpPr>
          <p:cNvPr id="12" name="Shape card1"/>
          <p:cNvSpPr/>
          <p:nvPr/>
        </p:nvSpPr>
        <p:spPr>
          <a:xfrm>
            <a:off x="548640" y="2926080"/>
            <a:ext cx="11064240" cy="1051560"/>
          </a:xfrm>
          <a:prstGeom prst="roundRect">
            <a:avLst>
              <a:gd name="adj" fmla="val 6957"/>
            </a:avLst>
          </a:prstGeom>
          <a:solidFill>
            <a:srgbClr val="16294A"/>
          </a:solidFill>
          <a:ln w="12700">
            <a:solidFill>
              <a:srgbClr val="5B3E96"/>
            </a:solidFill>
            <a:prstDash val="solid"/>
          </a:ln>
        </p:spPr>
      </p:sp>
      <p:sp>
        <p:nvSpPr>
          <p:cNvPr id="13" name="Shape chip1"/>
          <p:cNvSpPr/>
          <p:nvPr/>
        </p:nvSpPr>
        <p:spPr>
          <a:xfrm>
            <a:off x="731520" y="3090672"/>
            <a:ext cx="548640" cy="292608"/>
          </a:xfrm>
          <a:prstGeom prst="roundRect">
            <a:avLst>
              <a:gd name="adj" fmla="val 15625"/>
            </a:avLst>
          </a:prstGeom>
          <a:solidFill>
            <a:srgbClr val="B5730A"/>
          </a:solidFill>
          <a:ln/>
        </p:spPr>
      </p:sp>
      <p:sp>
        <p:nvSpPr>
          <p:cNvPr id="14" name="Text chip1"/>
          <p:cNvSpPr/>
          <p:nvPr/>
        </p:nvSpPr>
        <p:spPr>
          <a:xfrm>
            <a:off x="731520" y="3090672"/>
            <a:ext cx="548640" cy="292608"/>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T2</a:t>
            </a:r>
            <a:endParaRPr lang="en-US" sz="1000" dirty="0"/>
          </a:p>
        </p:txBody>
      </p:sp>
      <p:sp>
        <p:nvSpPr>
          <p:cNvPr id="15" name="Text title1"/>
          <p:cNvSpPr/>
          <p:nvPr/>
        </p:nvSpPr>
        <p:spPr>
          <a:xfrm>
            <a:off x="1463040" y="3017520"/>
            <a:ext cx="6126480" cy="320040"/>
          </a:xfrm>
          <a:prstGeom prst="rect">
            <a:avLst/>
          </a:prstGeom>
          <a:noFill/>
          <a:ln/>
        </p:spPr>
        <p:txBody>
          <a:bodyPr wrap="square" rtlCol="0" anchor="ctr"/>
          <a:lstStyle/>
          <a:p>
            <a:pPr marL="0" indent="0" algn="l">
              <a:buNone/>
            </a:pPr>
            <a:r>
              <a:rPr lang="en-US" sz="1300" b="1" dirty="0">
                <a:solidFill>
                  <a:srgbClr val="FFFFFF"/>
                </a:solidFill>
                <a:latin typeface="Verdana" pitchFamily="34" charset="0"/>
                <a:ea typeface="Verdana" pitchFamily="34" charset="-122"/>
                <a:cs typeface="Verdana" pitchFamily="34" charset="-120"/>
              </a:rPr>
              <a:t>Tier 2 — High</a:t>
            </a:r>
            <a:endParaRPr lang="en-US" sz="1300" dirty="0"/>
          </a:p>
        </p:txBody>
      </p:sp>
      <p:sp>
        <p:nvSpPr>
          <p:cNvPr id="16" name="Text sub1"/>
          <p:cNvSpPr/>
          <p:nvPr/>
        </p:nvSpPr>
        <p:spPr>
          <a:xfrm>
            <a:off x="1463040" y="3364992"/>
            <a:ext cx="612648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Multi-party ACK, enforced procedurally not natively · Publishes to NAIA queue for visibility</a:t>
            </a:r>
            <a:endParaRPr lang="en-US" sz="1000" dirty="0"/>
          </a:p>
        </p:txBody>
      </p:sp>
      <p:sp>
        <p:nvSpPr>
          <p:cNvPr id="17" name="Shape badge1"/>
          <p:cNvSpPr/>
          <p:nvPr/>
        </p:nvSpPr>
        <p:spPr>
          <a:xfrm>
            <a:off x="7818120" y="3218688"/>
            <a:ext cx="3566160" cy="457200"/>
          </a:xfrm>
          <a:prstGeom prst="roundRect">
            <a:avLst>
              <a:gd name="adj" fmla="val 12000"/>
            </a:avLst>
          </a:prstGeom>
          <a:solidFill>
            <a:srgbClr val="B5730A"/>
          </a:solidFill>
          <a:ln/>
        </p:spPr>
      </p:sp>
      <p:sp>
        <p:nvSpPr>
          <p:cNvPr id="18" name="Text badge1"/>
          <p:cNvSpPr/>
          <p:nvPr/>
        </p:nvSpPr>
        <p:spPr>
          <a:xfrm>
            <a:off x="7818120" y="3218688"/>
            <a:ext cx="3566160" cy="457200"/>
          </a:xfrm>
          <a:prstGeom prst="rect">
            <a:avLst/>
          </a:prstGeom>
          <a:noFill/>
          <a:ln/>
        </p:spPr>
        <p:txBody>
          <a:bodyPr wrap="square" rtlCol="0" anchor="ctr"/>
          <a:lstStyle/>
          <a:p>
            <a:pPr marL="0" indent="0" algn="ctr">
              <a:buNone/>
            </a:pPr>
            <a:r>
              <a:rPr lang="en-US" sz="1200" b="1" dirty="0">
                <a:solidFill>
                  <a:srgbClr val="FFFFFF"/>
                </a:solidFill>
                <a:latin typeface="Verdana" pitchFamily="34" charset="0"/>
                <a:ea typeface="Verdana" pitchFamily="34" charset="-122"/>
                <a:cs typeface="Verdana" pitchFamily="34" charset="-120"/>
              </a:rPr>
              <a:t>Publish-only — no ack mechanism yet</a:t>
            </a:r>
            <a:endParaRPr lang="en-US" sz="1200" dirty="0"/>
          </a:p>
        </p:txBody>
      </p:sp>
      <p:sp>
        <p:nvSpPr>
          <p:cNvPr id="19" name="Shape card2"/>
          <p:cNvSpPr/>
          <p:nvPr/>
        </p:nvSpPr>
        <p:spPr>
          <a:xfrm>
            <a:off x="548640" y="4114800"/>
            <a:ext cx="11064240" cy="1051560"/>
          </a:xfrm>
          <a:prstGeom prst="roundRect">
            <a:avLst>
              <a:gd name="adj" fmla="val 6957"/>
            </a:avLst>
          </a:prstGeom>
          <a:solidFill>
            <a:srgbClr val="16294A"/>
          </a:solidFill>
          <a:ln w="12700">
            <a:solidFill>
              <a:srgbClr val="5B3E96"/>
            </a:solidFill>
            <a:prstDash val="solid"/>
          </a:ln>
        </p:spPr>
      </p:sp>
      <p:sp>
        <p:nvSpPr>
          <p:cNvPr id="20" name="Shape chip2"/>
          <p:cNvSpPr/>
          <p:nvPr/>
        </p:nvSpPr>
        <p:spPr>
          <a:xfrm>
            <a:off x="731520" y="4279392"/>
            <a:ext cx="548640" cy="292608"/>
          </a:xfrm>
          <a:prstGeom prst="roundRect">
            <a:avLst>
              <a:gd name="adj" fmla="val 15625"/>
            </a:avLst>
          </a:prstGeom>
          <a:solidFill>
            <a:srgbClr val="028090"/>
          </a:solidFill>
          <a:ln/>
        </p:spPr>
      </p:sp>
      <p:sp>
        <p:nvSpPr>
          <p:cNvPr id="21" name="Text chip2"/>
          <p:cNvSpPr/>
          <p:nvPr/>
        </p:nvSpPr>
        <p:spPr>
          <a:xfrm>
            <a:off x="731520" y="4279392"/>
            <a:ext cx="548640" cy="292608"/>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T3</a:t>
            </a:r>
            <a:endParaRPr lang="en-US" sz="1000" dirty="0"/>
          </a:p>
        </p:txBody>
      </p:sp>
      <p:sp>
        <p:nvSpPr>
          <p:cNvPr id="22" name="Text title2"/>
          <p:cNvSpPr/>
          <p:nvPr/>
        </p:nvSpPr>
        <p:spPr>
          <a:xfrm>
            <a:off x="1463040" y="4206240"/>
            <a:ext cx="6126480" cy="320040"/>
          </a:xfrm>
          <a:prstGeom prst="rect">
            <a:avLst/>
          </a:prstGeom>
          <a:noFill/>
          <a:ln/>
        </p:spPr>
        <p:txBody>
          <a:bodyPr wrap="square" rtlCol="0" anchor="ctr"/>
          <a:lstStyle/>
          <a:p>
            <a:pPr marL="0" indent="0" algn="l">
              <a:buNone/>
            </a:pPr>
            <a:r>
              <a:rPr lang="en-US" sz="1300" b="1" dirty="0">
                <a:solidFill>
                  <a:srgbClr val="FFFFFF"/>
                </a:solidFill>
                <a:latin typeface="Verdana" pitchFamily="34" charset="0"/>
                <a:ea typeface="Verdana" pitchFamily="34" charset="-122"/>
                <a:cs typeface="Verdana" pitchFamily="34" charset="-120"/>
              </a:rPr>
              <a:t>Tier 3 — Significant</a:t>
            </a:r>
            <a:endParaRPr lang="en-US" sz="1300" dirty="0"/>
          </a:p>
        </p:txBody>
      </p:sp>
      <p:sp>
        <p:nvSpPr>
          <p:cNvPr id="23" name="Text sub2"/>
          <p:cNvSpPr/>
          <p:nvPr/>
        </p:nvSpPr>
        <p:spPr>
          <a:xfrm>
            <a:off x="1463040" y="4553712"/>
            <a:ext cx="612648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Single-authority ACK · Publishes to NAIA queue for visibility</a:t>
            </a:r>
            <a:endParaRPr lang="en-US" sz="1000" dirty="0"/>
          </a:p>
        </p:txBody>
      </p:sp>
      <p:sp>
        <p:nvSpPr>
          <p:cNvPr id="24" name="Shape badge2"/>
          <p:cNvSpPr/>
          <p:nvPr/>
        </p:nvSpPr>
        <p:spPr>
          <a:xfrm>
            <a:off x="7818120" y="4407408"/>
            <a:ext cx="3566160" cy="457200"/>
          </a:xfrm>
          <a:prstGeom prst="roundRect">
            <a:avLst>
              <a:gd name="adj" fmla="val 12000"/>
            </a:avLst>
          </a:prstGeom>
          <a:solidFill>
            <a:srgbClr val="B5730A"/>
          </a:solidFill>
          <a:ln/>
        </p:spPr>
      </p:sp>
      <p:sp>
        <p:nvSpPr>
          <p:cNvPr id="25" name="Text badge2"/>
          <p:cNvSpPr/>
          <p:nvPr/>
        </p:nvSpPr>
        <p:spPr>
          <a:xfrm>
            <a:off x="7818120" y="4407408"/>
            <a:ext cx="3566160" cy="457200"/>
          </a:xfrm>
          <a:prstGeom prst="rect">
            <a:avLst/>
          </a:prstGeom>
          <a:noFill/>
          <a:ln/>
        </p:spPr>
        <p:txBody>
          <a:bodyPr wrap="square" rtlCol="0" anchor="ctr"/>
          <a:lstStyle/>
          <a:p>
            <a:pPr marL="0" indent="0" algn="ctr">
              <a:buNone/>
            </a:pPr>
            <a:r>
              <a:rPr lang="en-US" sz="1200" b="1" dirty="0">
                <a:solidFill>
                  <a:srgbClr val="FFFFFF"/>
                </a:solidFill>
                <a:latin typeface="Verdana" pitchFamily="34" charset="0"/>
                <a:ea typeface="Verdana" pitchFamily="34" charset="-122"/>
                <a:cs typeface="Verdana" pitchFamily="34" charset="-120"/>
              </a:rPr>
              <a:t>Publish-only — same as Tier 2</a:t>
            </a:r>
            <a:endParaRPr lang="en-US" sz="1200" dirty="0"/>
          </a:p>
        </p:txBody>
      </p:sp>
      <p:sp>
        <p:nvSpPr>
          <p:cNvPr id="26" name="Shape card3"/>
          <p:cNvSpPr/>
          <p:nvPr/>
        </p:nvSpPr>
        <p:spPr>
          <a:xfrm>
            <a:off x="548640" y="5303520"/>
            <a:ext cx="11064240" cy="1051560"/>
          </a:xfrm>
          <a:prstGeom prst="roundRect">
            <a:avLst>
              <a:gd name="adj" fmla="val 6957"/>
            </a:avLst>
          </a:prstGeom>
          <a:solidFill>
            <a:srgbClr val="16294A"/>
          </a:solidFill>
          <a:ln w="12700">
            <a:solidFill>
              <a:srgbClr val="5B3E96"/>
            </a:solidFill>
            <a:prstDash val="solid"/>
          </a:ln>
        </p:spPr>
      </p:sp>
      <p:sp>
        <p:nvSpPr>
          <p:cNvPr id="27" name="Shape chip3"/>
          <p:cNvSpPr/>
          <p:nvPr/>
        </p:nvSpPr>
        <p:spPr>
          <a:xfrm>
            <a:off x="731520" y="5468112"/>
            <a:ext cx="548640" cy="292608"/>
          </a:xfrm>
          <a:prstGeom prst="roundRect">
            <a:avLst>
              <a:gd name="adj" fmla="val 15625"/>
            </a:avLst>
          </a:prstGeom>
          <a:solidFill>
            <a:srgbClr val="1E7A4C"/>
          </a:solidFill>
          <a:ln/>
        </p:spPr>
      </p:sp>
      <p:sp>
        <p:nvSpPr>
          <p:cNvPr id="28" name="Text chip3"/>
          <p:cNvSpPr/>
          <p:nvPr/>
        </p:nvSpPr>
        <p:spPr>
          <a:xfrm>
            <a:off x="731520" y="5468112"/>
            <a:ext cx="548640" cy="292608"/>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T4</a:t>
            </a:r>
            <a:endParaRPr lang="en-US" sz="1000" dirty="0"/>
          </a:p>
        </p:txBody>
      </p:sp>
      <p:sp>
        <p:nvSpPr>
          <p:cNvPr id="29" name="Text title3"/>
          <p:cNvSpPr/>
          <p:nvPr/>
        </p:nvSpPr>
        <p:spPr>
          <a:xfrm>
            <a:off x="1463040" y="5394960"/>
            <a:ext cx="6126480" cy="320040"/>
          </a:xfrm>
          <a:prstGeom prst="rect">
            <a:avLst/>
          </a:prstGeom>
          <a:noFill/>
          <a:ln/>
        </p:spPr>
        <p:txBody>
          <a:bodyPr wrap="square" rtlCol="0" anchor="ctr"/>
          <a:lstStyle/>
          <a:p>
            <a:pPr marL="0" indent="0" algn="l">
              <a:buNone/>
            </a:pPr>
            <a:r>
              <a:rPr lang="en-US" sz="1300" b="1" dirty="0">
                <a:solidFill>
                  <a:srgbClr val="FFFFFF"/>
                </a:solidFill>
                <a:latin typeface="Verdana" pitchFamily="34" charset="0"/>
                <a:ea typeface="Verdana" pitchFamily="34" charset="-122"/>
                <a:cs typeface="Verdana" pitchFamily="34" charset="-120"/>
              </a:rPr>
              <a:t>Tier 4 — Routine</a:t>
            </a:r>
            <a:endParaRPr lang="en-US" sz="1300" dirty="0"/>
          </a:p>
        </p:txBody>
      </p:sp>
      <p:sp>
        <p:nvSpPr>
          <p:cNvPr id="30" name="Text sub3"/>
          <p:cNvSpPr/>
          <p:nvPr/>
        </p:nvSpPr>
        <p:spPr>
          <a:xfrm>
            <a:off x="1463040" y="5742432"/>
            <a:ext cx="612648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Standard, reversible, low impact · GAE executes autonomously, logged and auditable</a:t>
            </a:r>
            <a:endParaRPr lang="en-US" sz="1000" dirty="0"/>
          </a:p>
        </p:txBody>
      </p:sp>
      <p:sp>
        <p:nvSpPr>
          <p:cNvPr id="31" name="Shape badge3"/>
          <p:cNvSpPr/>
          <p:nvPr/>
        </p:nvSpPr>
        <p:spPr>
          <a:xfrm>
            <a:off x="7818120" y="5596128"/>
            <a:ext cx="3566160" cy="457200"/>
          </a:xfrm>
          <a:prstGeom prst="roundRect">
            <a:avLst>
              <a:gd name="adj" fmla="val 12000"/>
            </a:avLst>
          </a:prstGeom>
          <a:solidFill>
            <a:srgbClr val="1E7A4C"/>
          </a:solidFill>
          <a:ln/>
        </p:spPr>
      </p:sp>
      <p:sp>
        <p:nvSpPr>
          <p:cNvPr id="32" name="Text badge3"/>
          <p:cNvSpPr/>
          <p:nvPr/>
        </p:nvSpPr>
        <p:spPr>
          <a:xfrm>
            <a:off x="7818120" y="5596128"/>
            <a:ext cx="3566160" cy="457200"/>
          </a:xfrm>
          <a:prstGeom prst="rect">
            <a:avLst/>
          </a:prstGeom>
          <a:noFill/>
          <a:ln/>
        </p:spPr>
        <p:txBody>
          <a:bodyPr wrap="square" rtlCol="0" anchor="ctr"/>
          <a:lstStyle/>
          <a:p>
            <a:pPr marL="0" indent="0" algn="ctr">
              <a:buNone/>
            </a:pPr>
            <a:r>
              <a:rPr lang="en-US" sz="1200" b="1" dirty="0">
                <a:solidFill>
                  <a:srgbClr val="FFFFFF"/>
                </a:solidFill>
                <a:latin typeface="Verdana" pitchFamily="34" charset="0"/>
                <a:ea typeface="Verdana" pitchFamily="34" charset="-122"/>
                <a:cs typeface="Verdana" pitchFamily="34" charset="-120"/>
              </a:rPr>
              <a:t>No escalation by design</a:t>
            </a:r>
            <a:endParaRPr lang="en-US" sz="1200" dirty="0"/>
          </a:p>
        </p:txBody>
      </p:sp>
      <p:sp>
        <p:nvSpPr>
          <p:cNvPr id="33" name="Text footer"/>
          <p:cNvSpPr/>
          <p:nvPr/>
        </p:nvSpPr>
        <p:spPr>
          <a:xfrm>
            <a:off x="457200" y="6629400"/>
            <a:ext cx="1124712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IAIA awareness channel for Tier 1 — designed (2026-08-24), not yet built. Tier 2/3 acknowledgment requires a capability-grant design, deliberately not built yet.</a:t>
            </a:r>
            <a:endParaRPr lang="en-US" sz="1000" dirty="0"/>
          </a:p>
        </p:txBody>
      </p:sp>
    </p:spTree>
    <p:extLst>
      <p:ext uri="{BB962C8B-B14F-4D97-AF65-F5344CB8AC3E}">
        <p14:creationId xmlns:p14="http://schemas.microsoft.com/office/powerpoint/2010/main" val="1024086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292608"/>
          </a:xfrm>
          <a:prstGeom prst="roundRect">
            <a:avLst>
              <a:gd name="adj" fmla="val 18750"/>
            </a:avLst>
          </a:prstGeom>
          <a:solidFill>
            <a:srgbClr val="028090"/>
          </a:solidFill>
          <a:ln/>
        </p:spPr>
      </p:sp>
      <p:sp>
        <p:nvSpPr>
          <p:cNvPr id="3" name="Text 1"/>
          <p:cNvSpPr/>
          <p:nvPr/>
        </p:nvSpPr>
        <p:spPr>
          <a:xfrm>
            <a:off x="457200" y="320040"/>
            <a:ext cx="1737360" cy="292608"/>
          </a:xfrm>
          <a:prstGeom prst="rect">
            <a:avLst/>
          </a:prstGeom>
          <a:noFill/>
          <a:ln/>
        </p:spPr>
        <p:txBody>
          <a:bodyPr wrap="square" rtlCol="0" anchor="ctr"/>
          <a:lstStyle/>
          <a:p>
            <a:pPr marL="0" indent="0" algn="ctr">
              <a:buNone/>
            </a:pPr>
            <a:r>
              <a:rPr lang="en-US" sz="900" b="1" kern="0" spc="100" dirty="0">
                <a:solidFill>
                  <a:srgbClr val="FFFFFF"/>
                </a:solidFill>
                <a:latin typeface="Verdana" pitchFamily="34" charset="0"/>
                <a:ea typeface="Verdana" pitchFamily="34" charset="-122"/>
                <a:cs typeface="Verdana" pitchFamily="34" charset="-120"/>
              </a:rPr>
              <a:t>LIVE EVIDENCE — DECISION GATE</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buNone/>
            </a:pPr>
            <a:r>
              <a:rPr lang="en-US" sz="2600" b="1" dirty="0">
                <a:solidFill>
                  <a:srgbClr val="FFFFFF"/>
                </a:solidFill>
                <a:latin typeface="Verdana" pitchFamily="34" charset="0"/>
                <a:ea typeface="Verdana" pitchFamily="34" charset="-122"/>
                <a:cs typeface="Verdana" pitchFamily="34" charset="-120"/>
              </a:rPr>
              <a:t>Tier 1–4 Dashboard, Plus NAIA Escalation Tracking</a:t>
            </a:r>
            <a:endParaRPr lang="en-US" sz="2600" dirty="0"/>
          </a:p>
        </p:txBody>
      </p:sp>
      <p:pic>
        <p:nvPicPr>
          <p:cNvPr id="5" name="Image 0" descr="/mnt/user-data/uploads/1786796035291_image.png"/>
          <p:cNvPicPr>
            <a:picLocks noChangeAspect="1"/>
          </p:cNvPicPr>
          <p:nvPr/>
        </p:nvPicPr>
        <p:blipFill>
          <a:blip r:embed="rId2"/>
          <a:stretch>
            <a:fillRect/>
          </a:stretch>
        </p:blipFill>
        <p:spPr>
          <a:xfrm>
            <a:off x="457200" y="1691640"/>
            <a:ext cx="5394960" cy="4617720"/>
          </a:xfrm>
          <a:prstGeom prst="rect">
            <a:avLst/>
          </a:prstGeom>
        </p:spPr>
      </p:pic>
      <p:pic>
        <p:nvPicPr>
          <p:cNvPr id="6" name="Image 1" descr="/mnt/user-data/uploads/1786796226833_image.png"/>
          <p:cNvPicPr>
            <a:picLocks noChangeAspect="1"/>
          </p:cNvPicPr>
          <p:nvPr/>
        </p:nvPicPr>
        <p:blipFill>
          <a:blip r:embed="rId3"/>
          <a:stretch>
            <a:fillRect/>
          </a:stretch>
        </p:blipFill>
        <p:spPr>
          <a:xfrm>
            <a:off x="6035040" y="1691640"/>
            <a:ext cx="5669280" cy="4617720"/>
          </a:xfrm>
          <a:prstGeom prst="rect">
            <a:avLst/>
          </a:prstGeom>
        </p:spPr>
      </p:pic>
      <p:sp>
        <p:nvSpPr>
          <p:cNvPr id="7" name="Text 3"/>
          <p:cNvSpPr/>
          <p:nvPr/>
        </p:nvSpPr>
        <p:spPr>
          <a:xfrm>
            <a:off x="457200" y="6355080"/>
            <a:ext cx="5394960" cy="320040"/>
          </a:xfrm>
          <a:prstGeom prst="rect">
            <a:avLst/>
          </a:prstGeom>
          <a:noFill/>
          <a:ln/>
        </p:spPr>
        <p:txBody>
          <a:bodyPr wrap="square"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Main Decision Gate dashboard — all four tiers, live status and event history</a:t>
            </a:r>
            <a:endParaRPr lang="en-US" sz="950" dirty="0"/>
          </a:p>
        </p:txBody>
      </p:sp>
      <p:sp>
        <p:nvSpPr>
          <p:cNvPr id="8" name="Text 4"/>
          <p:cNvSpPr/>
          <p:nvPr/>
        </p:nvSpPr>
        <p:spPr>
          <a:xfrm>
            <a:off x="6035040" y="6355080"/>
            <a:ext cx="5669280" cy="320040"/>
          </a:xfrm>
          <a:prstGeom prst="rect">
            <a:avLst/>
          </a:prstGeom>
          <a:noFill/>
          <a:ln/>
        </p:spPr>
        <p:txBody>
          <a:bodyPr wrap="square"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NAIA Cases dashboard — Tier 1/2/3 escalation lifecycle, sourced from Artemis’s own broker state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292608"/>
          </a:xfrm>
          <a:prstGeom prst="roundRect">
            <a:avLst>
              <a:gd name="adj" fmla="val 18750"/>
            </a:avLst>
          </a:prstGeom>
          <a:solidFill>
            <a:srgbClr val="028090"/>
          </a:solidFill>
          <a:ln/>
        </p:spPr>
      </p:sp>
      <p:sp>
        <p:nvSpPr>
          <p:cNvPr id="3" name="Text 1"/>
          <p:cNvSpPr/>
          <p:nvPr/>
        </p:nvSpPr>
        <p:spPr>
          <a:xfrm>
            <a:off x="457200" y="320040"/>
            <a:ext cx="1737360" cy="292608"/>
          </a:xfrm>
          <a:prstGeom prst="rect">
            <a:avLst/>
          </a:prstGeom>
          <a:noFill/>
          <a:ln/>
        </p:spPr>
        <p:txBody>
          <a:bodyPr wrap="square" rtlCol="0" anchor="ctr"/>
          <a:lstStyle/>
          <a:p>
            <a:pPr marL="0" indent="0" algn="ctr">
              <a:buNone/>
            </a:pPr>
            <a:r>
              <a:rPr lang="en-US" sz="900" b="1" kern="0" spc="100" dirty="0">
                <a:solidFill>
                  <a:srgbClr val="FFFFFF"/>
                </a:solidFill>
                <a:latin typeface="Verdana" pitchFamily="34" charset="0"/>
                <a:ea typeface="Verdana" pitchFamily="34" charset="-122"/>
                <a:cs typeface="Verdana" pitchFamily="34" charset="-120"/>
              </a:rPr>
              <a:t>TRACEABILITY</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buNone/>
            </a:pPr>
            <a:r>
              <a:rPr lang="en-US" sz="2600" b="1" dirty="0">
                <a:solidFill>
                  <a:srgbClr val="FFFFFF"/>
                </a:solidFill>
                <a:latin typeface="Verdana" pitchFamily="34" charset="0"/>
                <a:ea typeface="Verdana" pitchFamily="34" charset="-122"/>
                <a:cs typeface="Verdana" pitchFamily="34" charset="-120"/>
              </a:rPr>
              <a:t>Sandbox Components ↔ HLD Sections</a:t>
            </a:r>
            <a:endParaRPr lang="en-US" sz="2600" dirty="0"/>
          </a:p>
        </p:txBody>
      </p:sp>
      <p:sp>
        <p:nvSpPr>
          <p:cNvPr id="5" name="Shape 3"/>
          <p:cNvSpPr/>
          <p:nvPr/>
        </p:nvSpPr>
        <p:spPr>
          <a:xfrm>
            <a:off x="457200" y="1691640"/>
            <a:ext cx="11247120" cy="365760"/>
          </a:xfrm>
          <a:prstGeom prst="rect">
            <a:avLst/>
          </a:prstGeom>
          <a:solidFill>
            <a:srgbClr val="028090"/>
          </a:solidFill>
          <a:ln/>
        </p:spPr>
      </p:sp>
      <p:sp>
        <p:nvSpPr>
          <p:cNvPr id="6" name="Text 4"/>
          <p:cNvSpPr/>
          <p:nvPr/>
        </p:nvSpPr>
        <p:spPr>
          <a:xfrm>
            <a:off x="594360" y="1691640"/>
            <a:ext cx="5760720" cy="365760"/>
          </a:xfrm>
          <a:prstGeom prst="rect">
            <a:avLst/>
          </a:prstGeom>
          <a:noFill/>
          <a:ln/>
        </p:spPr>
        <p:txBody>
          <a:bodyPr wrap="square" rtlCol="0" anchor="ctr"/>
          <a:lstStyle/>
          <a:p>
            <a:pPr marL="0" indent="0">
              <a:buNone/>
            </a:pPr>
            <a:r>
              <a:rPr lang="en-US" sz="1100" b="1" dirty="0">
                <a:solidFill>
                  <a:srgbClr val="FFFFFF"/>
                </a:solidFill>
                <a:latin typeface="Verdana" pitchFamily="34" charset="0"/>
                <a:ea typeface="Verdana" pitchFamily="34" charset="-122"/>
                <a:cs typeface="Verdana" pitchFamily="34" charset="-120"/>
              </a:rPr>
              <a:t>Sandbox component / behavior</a:t>
            </a:r>
            <a:endParaRPr lang="en-US" sz="1100" dirty="0"/>
          </a:p>
        </p:txBody>
      </p:sp>
      <p:sp>
        <p:nvSpPr>
          <p:cNvPr id="7" name="Text 5"/>
          <p:cNvSpPr/>
          <p:nvPr/>
        </p:nvSpPr>
        <p:spPr>
          <a:xfrm>
            <a:off x="6355080" y="1691640"/>
            <a:ext cx="3291840" cy="365760"/>
          </a:xfrm>
          <a:prstGeom prst="rect">
            <a:avLst/>
          </a:prstGeom>
          <a:noFill/>
          <a:ln/>
        </p:spPr>
        <p:txBody>
          <a:bodyPr wrap="square" rtlCol="0" anchor="ctr"/>
          <a:lstStyle/>
          <a:p>
            <a:pPr marL="0" indent="0">
              <a:buNone/>
            </a:pPr>
            <a:r>
              <a:rPr lang="en-US" sz="1100" b="1" dirty="0">
                <a:solidFill>
                  <a:srgbClr val="FFFFFF"/>
                </a:solidFill>
                <a:latin typeface="Verdana" pitchFamily="34" charset="0"/>
                <a:ea typeface="Verdana" pitchFamily="34" charset="-122"/>
                <a:cs typeface="Verdana" pitchFamily="34" charset="-120"/>
              </a:rPr>
              <a:t>HLD mechanism step</a:t>
            </a:r>
            <a:endParaRPr lang="en-US" sz="1100" dirty="0"/>
          </a:p>
        </p:txBody>
      </p:sp>
      <p:sp>
        <p:nvSpPr>
          <p:cNvPr id="8" name="Text 6"/>
          <p:cNvSpPr/>
          <p:nvPr/>
        </p:nvSpPr>
        <p:spPr>
          <a:xfrm>
            <a:off x="9646920" y="1691640"/>
            <a:ext cx="2057400" cy="365760"/>
          </a:xfrm>
          <a:prstGeom prst="rect">
            <a:avLst/>
          </a:prstGeom>
          <a:noFill/>
          <a:ln/>
        </p:spPr>
        <p:txBody>
          <a:bodyPr wrap="square" rtlCol="0" anchor="ctr"/>
          <a:lstStyle/>
          <a:p>
            <a:pPr marL="0" indent="0">
              <a:buNone/>
            </a:pPr>
            <a:r>
              <a:rPr lang="en-US" sz="1100" b="1" dirty="0">
                <a:solidFill>
                  <a:srgbClr val="FFFFFF"/>
                </a:solidFill>
                <a:latin typeface="Verdana" pitchFamily="34" charset="0"/>
                <a:ea typeface="Verdana" pitchFamily="34" charset="-122"/>
                <a:cs typeface="Verdana" pitchFamily="34" charset="-120"/>
              </a:rPr>
              <a:t>Reference</a:t>
            </a:r>
            <a:endParaRPr lang="en-US" sz="1100" dirty="0"/>
          </a:p>
        </p:txBody>
      </p:sp>
      <p:sp>
        <p:nvSpPr>
          <p:cNvPr id="9" name="Shape 7"/>
          <p:cNvSpPr/>
          <p:nvPr/>
        </p:nvSpPr>
        <p:spPr>
          <a:xfrm>
            <a:off x="457200" y="2075688"/>
            <a:ext cx="11247120" cy="475488"/>
          </a:xfrm>
          <a:prstGeom prst="rect">
            <a:avLst/>
          </a:prstGeom>
          <a:solidFill>
            <a:srgbClr val="16294A"/>
          </a:solidFill>
          <a:ln/>
        </p:spPr>
      </p:sp>
      <p:sp>
        <p:nvSpPr>
          <p:cNvPr id="10" name="Text 8"/>
          <p:cNvSpPr/>
          <p:nvPr/>
        </p:nvSpPr>
        <p:spPr>
          <a:xfrm>
            <a:off x="594360" y="2075688"/>
            <a:ext cx="5760720" cy="47548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OpenShell policy match on a Redirect Gate host</a:t>
            </a:r>
            <a:endParaRPr lang="en-US" sz="1000" dirty="0"/>
          </a:p>
        </p:txBody>
      </p:sp>
      <p:sp>
        <p:nvSpPr>
          <p:cNvPr id="11" name="Text 9"/>
          <p:cNvSpPr/>
          <p:nvPr/>
        </p:nvSpPr>
        <p:spPr>
          <a:xfrm>
            <a:off x="6355080" y="2075688"/>
            <a:ext cx="329184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Detect</a:t>
            </a:r>
            <a:endParaRPr lang="en-US" sz="1000" dirty="0"/>
          </a:p>
        </p:txBody>
      </p:sp>
      <p:sp>
        <p:nvSpPr>
          <p:cNvPr id="12" name="Text 10"/>
          <p:cNvSpPr/>
          <p:nvPr/>
        </p:nvSpPr>
        <p:spPr>
          <a:xfrm>
            <a:off x="9646920" y="2075688"/>
            <a:ext cx="2057400" cy="475488"/>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HLD §6.5.1</a:t>
            </a:r>
            <a:endParaRPr lang="en-US" sz="1000" dirty="0"/>
          </a:p>
        </p:txBody>
      </p:sp>
      <p:sp>
        <p:nvSpPr>
          <p:cNvPr id="13" name="Shape 11"/>
          <p:cNvSpPr/>
          <p:nvPr/>
        </p:nvSpPr>
        <p:spPr>
          <a:xfrm>
            <a:off x="457200" y="2551176"/>
            <a:ext cx="11247120" cy="475488"/>
          </a:xfrm>
          <a:prstGeom prst="rect">
            <a:avLst/>
          </a:prstGeom>
          <a:solidFill>
            <a:srgbClr val="1A2B4D"/>
          </a:solidFill>
          <a:ln/>
        </p:spPr>
      </p:sp>
      <p:sp>
        <p:nvSpPr>
          <p:cNvPr id="14" name="Text 12"/>
          <p:cNvSpPr/>
          <p:nvPr/>
        </p:nvSpPr>
        <p:spPr>
          <a:xfrm>
            <a:off x="594360" y="2551176"/>
            <a:ext cx="5760720" cy="47548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OpenShell denies the request (path absent from `rules`)</a:t>
            </a:r>
            <a:endParaRPr lang="en-US" sz="1000" dirty="0"/>
          </a:p>
        </p:txBody>
      </p:sp>
      <p:sp>
        <p:nvSpPr>
          <p:cNvPr id="15" name="Text 13"/>
          <p:cNvSpPr/>
          <p:nvPr/>
        </p:nvSpPr>
        <p:spPr>
          <a:xfrm>
            <a:off x="6355080" y="2551176"/>
            <a:ext cx="329184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Refuse Execution</a:t>
            </a:r>
            <a:endParaRPr lang="en-US" sz="1000" dirty="0"/>
          </a:p>
        </p:txBody>
      </p:sp>
      <p:sp>
        <p:nvSpPr>
          <p:cNvPr id="16" name="Text 14"/>
          <p:cNvSpPr/>
          <p:nvPr/>
        </p:nvSpPr>
        <p:spPr>
          <a:xfrm>
            <a:off x="9646920" y="2551176"/>
            <a:ext cx="2057400" cy="475488"/>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HLD §6.5.1</a:t>
            </a:r>
            <a:endParaRPr lang="en-US" sz="1000" dirty="0"/>
          </a:p>
        </p:txBody>
      </p:sp>
      <p:sp>
        <p:nvSpPr>
          <p:cNvPr id="17" name="Shape 15"/>
          <p:cNvSpPr/>
          <p:nvPr/>
        </p:nvSpPr>
        <p:spPr>
          <a:xfrm>
            <a:off x="457200" y="3026664"/>
            <a:ext cx="11247120" cy="475488"/>
          </a:xfrm>
          <a:prstGeom prst="rect">
            <a:avLst/>
          </a:prstGeom>
          <a:solidFill>
            <a:srgbClr val="16294A"/>
          </a:solidFill>
          <a:ln/>
        </p:spPr>
      </p:sp>
      <p:sp>
        <p:nvSpPr>
          <p:cNvPr id="18" name="Text 16"/>
          <p:cNvSpPr/>
          <p:nvPr/>
        </p:nvSpPr>
        <p:spPr>
          <a:xfrm>
            <a:off x="594360" y="3026664"/>
            <a:ext cx="5760720" cy="47548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Watcher publishes to the correct Artemis queue</a:t>
            </a:r>
            <a:endParaRPr lang="en-US" sz="1000" dirty="0"/>
          </a:p>
        </p:txBody>
      </p:sp>
      <p:sp>
        <p:nvSpPr>
          <p:cNvPr id="19" name="Text 17"/>
          <p:cNvSpPr/>
          <p:nvPr/>
        </p:nvSpPr>
        <p:spPr>
          <a:xfrm>
            <a:off x="6355080" y="3026664"/>
            <a:ext cx="329184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Route (via NRR)</a:t>
            </a:r>
            <a:endParaRPr lang="en-US" sz="1000" dirty="0"/>
          </a:p>
        </p:txBody>
      </p:sp>
      <p:sp>
        <p:nvSpPr>
          <p:cNvPr id="20" name="Text 18"/>
          <p:cNvSpPr/>
          <p:nvPr/>
        </p:nvSpPr>
        <p:spPr>
          <a:xfrm>
            <a:off x="9646920" y="3026664"/>
            <a:ext cx="2057400" cy="475488"/>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HLD §6.5.1, §6.5.2</a:t>
            </a:r>
            <a:endParaRPr lang="en-US" sz="1000" dirty="0"/>
          </a:p>
        </p:txBody>
      </p:sp>
      <p:sp>
        <p:nvSpPr>
          <p:cNvPr id="21" name="Shape 19"/>
          <p:cNvSpPr/>
          <p:nvPr/>
        </p:nvSpPr>
        <p:spPr>
          <a:xfrm>
            <a:off x="457200" y="3502152"/>
            <a:ext cx="11247120" cy="475488"/>
          </a:xfrm>
          <a:prstGeom prst="rect">
            <a:avLst/>
          </a:prstGeom>
          <a:solidFill>
            <a:srgbClr val="1A2B4D"/>
          </a:solidFill>
          <a:ln/>
        </p:spPr>
      </p:sp>
      <p:sp>
        <p:nvSpPr>
          <p:cNvPr id="22" name="Text 20"/>
          <p:cNvSpPr/>
          <p:nvPr/>
        </p:nvSpPr>
        <p:spPr>
          <a:xfrm>
            <a:off x="594360" y="3502152"/>
            <a:ext cx="5760720" cy="47548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4 durable Artemis queues, one per use case</a:t>
            </a:r>
            <a:endParaRPr lang="en-US" sz="1000" dirty="0"/>
          </a:p>
        </p:txBody>
      </p:sp>
      <p:sp>
        <p:nvSpPr>
          <p:cNvPr id="23" name="Text 21"/>
          <p:cNvSpPr/>
          <p:nvPr/>
        </p:nvSpPr>
        <p:spPr>
          <a:xfrm>
            <a:off x="6355080" y="3502152"/>
            <a:ext cx="329184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National Response Registry (NRR)</a:t>
            </a:r>
            <a:endParaRPr lang="en-US" sz="1000" dirty="0"/>
          </a:p>
        </p:txBody>
      </p:sp>
      <p:sp>
        <p:nvSpPr>
          <p:cNvPr id="24" name="Text 22"/>
          <p:cNvSpPr/>
          <p:nvPr/>
        </p:nvSpPr>
        <p:spPr>
          <a:xfrm>
            <a:off x="9646920" y="3502152"/>
            <a:ext cx="2057400" cy="475488"/>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HLD §6.5.2</a:t>
            </a:r>
            <a:endParaRPr lang="en-US" sz="1000" dirty="0"/>
          </a:p>
        </p:txBody>
      </p:sp>
      <p:sp>
        <p:nvSpPr>
          <p:cNvPr id="25" name="Shape 23"/>
          <p:cNvSpPr/>
          <p:nvPr/>
        </p:nvSpPr>
        <p:spPr>
          <a:xfrm>
            <a:off x="457200" y="3977640"/>
            <a:ext cx="11247120" cy="475488"/>
          </a:xfrm>
          <a:prstGeom prst="rect">
            <a:avLst/>
          </a:prstGeom>
          <a:solidFill>
            <a:srgbClr val="16294A"/>
          </a:solidFill>
          <a:ln/>
        </p:spPr>
      </p:sp>
      <p:sp>
        <p:nvSpPr>
          <p:cNvPr id="26" name="Text 24"/>
          <p:cNvSpPr/>
          <p:nvPr/>
        </p:nvSpPr>
        <p:spPr>
          <a:xfrm>
            <a:off x="594360" y="3977640"/>
            <a:ext cx="5760720" cy="47548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redirect_gate_ack.py — real AMQP accept</a:t>
            </a:r>
            <a:endParaRPr lang="en-US" sz="1000" dirty="0"/>
          </a:p>
        </p:txBody>
      </p:sp>
      <p:sp>
        <p:nvSpPr>
          <p:cNvPr id="27" name="Text 25"/>
          <p:cNvSpPr/>
          <p:nvPr/>
        </p:nvSpPr>
        <p:spPr>
          <a:xfrm>
            <a:off x="6355080" y="3977640"/>
            <a:ext cx="329184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Notify / external authority ack</a:t>
            </a:r>
            <a:endParaRPr lang="en-US" sz="1000" dirty="0"/>
          </a:p>
        </p:txBody>
      </p:sp>
      <p:sp>
        <p:nvSpPr>
          <p:cNvPr id="28" name="Text 26"/>
          <p:cNvSpPr/>
          <p:nvPr/>
        </p:nvSpPr>
        <p:spPr>
          <a:xfrm>
            <a:off x="9646920" y="3977640"/>
            <a:ext cx="2057400" cy="475488"/>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HLD §6.5.1</a:t>
            </a:r>
            <a:endParaRPr lang="en-US" sz="1000" dirty="0"/>
          </a:p>
        </p:txBody>
      </p:sp>
      <p:sp>
        <p:nvSpPr>
          <p:cNvPr id="29" name="Shape 27"/>
          <p:cNvSpPr/>
          <p:nvPr/>
        </p:nvSpPr>
        <p:spPr>
          <a:xfrm>
            <a:off x="457200" y="4453128"/>
            <a:ext cx="11247120" cy="475488"/>
          </a:xfrm>
          <a:prstGeom prst="rect">
            <a:avLst/>
          </a:prstGeom>
          <a:solidFill>
            <a:srgbClr val="1A2B4D"/>
          </a:solidFill>
          <a:ln/>
        </p:spPr>
      </p:sp>
      <p:sp>
        <p:nvSpPr>
          <p:cNvPr id="30" name="Text 28"/>
          <p:cNvSpPr/>
          <p:nvPr/>
        </p:nvSpPr>
        <p:spPr>
          <a:xfrm>
            <a:off x="594360" y="4453128"/>
            <a:ext cx="5760720" cy="47548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audit_log (Postgres) + Grafana dashboards</a:t>
            </a:r>
            <a:endParaRPr lang="en-US" sz="1000" dirty="0"/>
          </a:p>
        </p:txBody>
      </p:sp>
      <p:sp>
        <p:nvSpPr>
          <p:cNvPr id="31" name="Text 29"/>
          <p:cNvSpPr/>
          <p:nvPr/>
        </p:nvSpPr>
        <p:spPr>
          <a:xfrm>
            <a:off x="6355080" y="4453128"/>
            <a:ext cx="329184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Audit Trail</a:t>
            </a:r>
            <a:endParaRPr lang="en-US" sz="1000" dirty="0"/>
          </a:p>
        </p:txBody>
      </p:sp>
      <p:sp>
        <p:nvSpPr>
          <p:cNvPr id="32" name="Text 30"/>
          <p:cNvSpPr/>
          <p:nvPr/>
        </p:nvSpPr>
        <p:spPr>
          <a:xfrm>
            <a:off x="9646920" y="4453128"/>
            <a:ext cx="2057400" cy="475488"/>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HLD §6.5.1</a:t>
            </a:r>
            <a:endParaRPr lang="en-US" sz="1000" dirty="0"/>
          </a:p>
        </p:txBody>
      </p:sp>
      <p:sp>
        <p:nvSpPr>
          <p:cNvPr id="33" name="Shape 31"/>
          <p:cNvSpPr/>
          <p:nvPr/>
        </p:nvSpPr>
        <p:spPr>
          <a:xfrm>
            <a:off x="457200" y="4928616"/>
            <a:ext cx="11247120" cy="475488"/>
          </a:xfrm>
          <a:prstGeom prst="rect">
            <a:avLst/>
          </a:prstGeom>
          <a:solidFill>
            <a:srgbClr val="16294A"/>
          </a:solidFill>
          <a:ln/>
        </p:spPr>
      </p:sp>
      <p:sp>
        <p:nvSpPr>
          <p:cNvPr id="34" name="Text 32"/>
          <p:cNvSpPr/>
          <p:nvPr/>
        </p:nvSpPr>
        <p:spPr>
          <a:xfrm>
            <a:off x="594360" y="4928616"/>
            <a:ext cx="5760720" cy="475488"/>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Synthetic data only, stated plainly in this bundle</a:t>
            </a:r>
            <a:endParaRPr lang="en-US" sz="1000" dirty="0"/>
          </a:p>
        </p:txBody>
      </p:sp>
      <p:sp>
        <p:nvSpPr>
          <p:cNvPr id="35" name="Text 33"/>
          <p:cNvSpPr/>
          <p:nvPr/>
        </p:nvSpPr>
        <p:spPr>
          <a:xfrm>
            <a:off x="6355080" y="4928616"/>
            <a:ext cx="329184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Data Protection — open problem</a:t>
            </a:r>
            <a:endParaRPr lang="en-US" sz="1000" dirty="0"/>
          </a:p>
        </p:txBody>
      </p:sp>
      <p:sp>
        <p:nvSpPr>
          <p:cNvPr id="36" name="Text 34"/>
          <p:cNvSpPr/>
          <p:nvPr/>
        </p:nvSpPr>
        <p:spPr>
          <a:xfrm>
            <a:off x="9646920" y="4928616"/>
            <a:ext cx="2057400" cy="475488"/>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HLD §6.5.3</a:t>
            </a:r>
            <a:endParaRPr lang="en-US" sz="1000" dirty="0"/>
          </a:p>
        </p:txBody>
      </p:sp>
      <p:sp>
        <p:nvSpPr>
          <p:cNvPr id="37" name="Text 35"/>
          <p:cNvSpPr/>
          <p:nvPr/>
        </p:nvSpPr>
        <p:spPr>
          <a:xfrm>
            <a:off x="457200" y="6537960"/>
            <a:ext cx="11247120" cy="274320"/>
          </a:xfrm>
          <a:prstGeom prst="rect">
            <a:avLst/>
          </a:prstGeom>
          <a:noFill/>
          <a:ln/>
        </p:spPr>
        <p:txBody>
          <a:bodyPr wrap="square"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This is a policy-layer analog of the HLD mechanism, not the hardware-enforced Decision Gate itself.</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292608"/>
          </a:xfrm>
          <a:prstGeom prst="roundRect">
            <a:avLst>
              <a:gd name="adj" fmla="val 18750"/>
            </a:avLst>
          </a:prstGeom>
          <a:solidFill>
            <a:srgbClr val="028090"/>
          </a:solidFill>
          <a:ln/>
        </p:spPr>
      </p:sp>
      <p:sp>
        <p:nvSpPr>
          <p:cNvPr id="3" name="Text 1"/>
          <p:cNvSpPr/>
          <p:nvPr/>
        </p:nvSpPr>
        <p:spPr>
          <a:xfrm>
            <a:off x="457200" y="320040"/>
            <a:ext cx="1737360" cy="292608"/>
          </a:xfrm>
          <a:prstGeom prst="rect">
            <a:avLst/>
          </a:prstGeom>
          <a:noFill/>
          <a:ln/>
        </p:spPr>
        <p:txBody>
          <a:bodyPr wrap="square" rtlCol="0" anchor="ctr"/>
          <a:lstStyle/>
          <a:p>
            <a:pPr marL="0" indent="0" algn="ctr">
              <a:buNone/>
            </a:pPr>
            <a:r>
              <a:rPr lang="en-US" sz="900" b="1" kern="0" spc="100" dirty="0">
                <a:solidFill>
                  <a:srgbClr val="FFFFFF"/>
                </a:solidFill>
                <a:latin typeface="Verdana" pitchFamily="34" charset="0"/>
                <a:ea typeface="Verdana" pitchFamily="34" charset="-122"/>
                <a:cs typeface="Verdana" pitchFamily="34" charset="-120"/>
              </a:rPr>
              <a:t>REDIRECT GATE</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buNone/>
            </a:pPr>
            <a:r>
              <a:rPr lang="en-US" sz="2600" b="1" dirty="0">
                <a:solidFill>
                  <a:srgbClr val="FFFFFF"/>
                </a:solidFill>
                <a:latin typeface="Verdana" pitchFamily="34" charset="0"/>
                <a:ea typeface="Verdana" pitchFamily="34" charset="-122"/>
                <a:cs typeface="Verdana" pitchFamily="34" charset="-120"/>
              </a:rPr>
              <a:t>Four Use Cases — All Built, Status Varies</a:t>
            </a:r>
            <a:endParaRPr lang="en-US" sz="2600" dirty="0"/>
          </a:p>
        </p:txBody>
      </p:sp>
      <p:sp>
        <p:nvSpPr>
          <p:cNvPr id="5" name="Shape 3"/>
          <p:cNvSpPr/>
          <p:nvPr/>
        </p:nvSpPr>
        <p:spPr>
          <a:xfrm>
            <a:off x="548640" y="1737360"/>
            <a:ext cx="11064240" cy="1051560"/>
          </a:xfrm>
          <a:prstGeom prst="roundRect">
            <a:avLst>
              <a:gd name="adj" fmla="val 6957"/>
            </a:avLst>
          </a:prstGeom>
          <a:solidFill>
            <a:srgbClr val="16294A"/>
          </a:solidFill>
          <a:ln w="12700">
            <a:solidFill>
              <a:srgbClr val="5B3E96"/>
            </a:solidFill>
            <a:prstDash val="solid"/>
          </a:ln>
        </p:spPr>
      </p:sp>
      <p:sp>
        <p:nvSpPr>
          <p:cNvPr id="6" name="Shape 4"/>
          <p:cNvSpPr/>
          <p:nvPr/>
        </p:nvSpPr>
        <p:spPr>
          <a:xfrm>
            <a:off x="731520" y="1901952"/>
            <a:ext cx="548640" cy="292608"/>
          </a:xfrm>
          <a:prstGeom prst="roundRect">
            <a:avLst>
              <a:gd name="adj" fmla="val 15625"/>
            </a:avLst>
          </a:prstGeom>
          <a:solidFill>
            <a:srgbClr val="5B3E96"/>
          </a:solidFill>
          <a:ln/>
        </p:spPr>
      </p:sp>
      <p:sp>
        <p:nvSpPr>
          <p:cNvPr id="7" name="Text 5"/>
          <p:cNvSpPr/>
          <p:nvPr/>
        </p:nvSpPr>
        <p:spPr>
          <a:xfrm>
            <a:off x="731520" y="1901952"/>
            <a:ext cx="548640" cy="292608"/>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RG</a:t>
            </a:r>
            <a:endParaRPr lang="en-US" sz="1000" dirty="0"/>
          </a:p>
        </p:txBody>
      </p:sp>
      <p:sp>
        <p:nvSpPr>
          <p:cNvPr id="8" name="Text 6"/>
          <p:cNvSpPr/>
          <p:nvPr/>
        </p:nvSpPr>
        <p:spPr>
          <a:xfrm>
            <a:off x="1463040" y="1828800"/>
            <a:ext cx="6126480" cy="320040"/>
          </a:xfrm>
          <a:prstGeom prst="rect">
            <a:avLst/>
          </a:prstGeom>
          <a:noFill/>
          <a:ln/>
        </p:spPr>
        <p:txBody>
          <a:bodyPr wrap="square" rtlCol="0" anchor="ctr"/>
          <a:lstStyle/>
          <a:p>
            <a:pPr marL="0" indent="0">
              <a:buNone/>
            </a:pPr>
            <a:r>
              <a:rPr lang="en-US" sz="1300" b="1" dirty="0">
                <a:solidFill>
                  <a:srgbClr val="FFFFFF"/>
                </a:solidFill>
                <a:latin typeface="Verdana" pitchFamily="34" charset="0"/>
                <a:ea typeface="Verdana" pitchFamily="34" charset="-122"/>
                <a:cs typeface="Verdana" pitchFamily="34" charset="-120"/>
              </a:rPr>
              <a:t>Human Life Impact — Emergency</a:t>
            </a:r>
            <a:endParaRPr lang="en-US" sz="1300" dirty="0"/>
          </a:p>
        </p:txBody>
      </p:sp>
      <p:sp>
        <p:nvSpPr>
          <p:cNvPr id="9" name="Text 7"/>
          <p:cNvSpPr/>
          <p:nvPr/>
        </p:nvSpPr>
        <p:spPr>
          <a:xfrm>
            <a:off x="1463040" y="2176272"/>
            <a:ext cx="612648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F2.3 / F5.1  ·  routes to: Emergency dispatch (911/112)</a:t>
            </a:r>
            <a:endParaRPr lang="en-US" sz="1000" dirty="0"/>
          </a:p>
        </p:txBody>
      </p:sp>
      <p:sp>
        <p:nvSpPr>
          <p:cNvPr id="10" name="Shape 8"/>
          <p:cNvSpPr/>
          <p:nvPr/>
        </p:nvSpPr>
        <p:spPr>
          <a:xfrm>
            <a:off x="7818120" y="2029968"/>
            <a:ext cx="3566160" cy="457200"/>
          </a:xfrm>
          <a:prstGeom prst="roundRect">
            <a:avLst>
              <a:gd name="adj" fmla="val 12000"/>
            </a:avLst>
          </a:prstGeom>
          <a:solidFill>
            <a:srgbClr val="1E7A4C"/>
          </a:solidFill>
          <a:ln/>
        </p:spPr>
      </p:sp>
      <p:sp>
        <p:nvSpPr>
          <p:cNvPr id="11" name="Text 9"/>
          <p:cNvSpPr/>
          <p:nvPr/>
        </p:nvSpPr>
        <p:spPr>
          <a:xfrm>
            <a:off x="7818120" y="2029968"/>
            <a:ext cx="3566160" cy="457200"/>
          </a:xfrm>
          <a:prstGeom prst="rect">
            <a:avLst/>
          </a:prstGeom>
          <a:noFill/>
          <a:ln/>
        </p:spPr>
        <p:txBody>
          <a:bodyPr wrap="square" rtlCol="0" anchor="ctr"/>
          <a:lstStyle/>
          <a:p>
            <a:pPr marL="0" indent="0" algn="ctr">
              <a:buNone/>
            </a:pPr>
            <a:r>
              <a:rPr lang="en-US" sz="950" b="1" dirty="0">
                <a:solidFill>
                  <a:srgbClr val="FFFFFF"/>
                </a:solidFill>
                <a:latin typeface="Verdana" pitchFamily="34" charset="0"/>
                <a:ea typeface="Verdana" pitchFamily="34" charset="-122"/>
                <a:cs typeface="Verdana" pitchFamily="34" charset="-120"/>
              </a:rPr>
              <a:t>Published rule-set direction</a:t>
            </a:r>
            <a:endParaRPr lang="en-US" sz="950" dirty="0"/>
          </a:p>
        </p:txBody>
      </p:sp>
      <p:sp>
        <p:nvSpPr>
          <p:cNvPr id="12" name="Shape 10"/>
          <p:cNvSpPr/>
          <p:nvPr/>
        </p:nvSpPr>
        <p:spPr>
          <a:xfrm>
            <a:off x="548640" y="2926080"/>
            <a:ext cx="11064240" cy="1051560"/>
          </a:xfrm>
          <a:prstGeom prst="roundRect">
            <a:avLst>
              <a:gd name="adj" fmla="val 6957"/>
            </a:avLst>
          </a:prstGeom>
          <a:solidFill>
            <a:srgbClr val="16294A"/>
          </a:solidFill>
          <a:ln w="12700">
            <a:solidFill>
              <a:srgbClr val="5B3E96"/>
            </a:solidFill>
            <a:prstDash val="solid"/>
          </a:ln>
        </p:spPr>
      </p:sp>
      <p:sp>
        <p:nvSpPr>
          <p:cNvPr id="13" name="Shape 11"/>
          <p:cNvSpPr/>
          <p:nvPr/>
        </p:nvSpPr>
        <p:spPr>
          <a:xfrm>
            <a:off x="731520" y="3090672"/>
            <a:ext cx="548640" cy="292608"/>
          </a:xfrm>
          <a:prstGeom prst="roundRect">
            <a:avLst>
              <a:gd name="adj" fmla="val 15625"/>
            </a:avLst>
          </a:prstGeom>
          <a:solidFill>
            <a:srgbClr val="5B3E96"/>
          </a:solidFill>
          <a:ln/>
        </p:spPr>
      </p:sp>
      <p:sp>
        <p:nvSpPr>
          <p:cNvPr id="14" name="Text 12"/>
          <p:cNvSpPr/>
          <p:nvPr/>
        </p:nvSpPr>
        <p:spPr>
          <a:xfrm>
            <a:off x="731520" y="3090672"/>
            <a:ext cx="548640" cy="292608"/>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RG</a:t>
            </a:r>
            <a:endParaRPr lang="en-US" sz="1000" dirty="0"/>
          </a:p>
        </p:txBody>
      </p:sp>
      <p:sp>
        <p:nvSpPr>
          <p:cNvPr id="15" name="Text 13"/>
          <p:cNvSpPr/>
          <p:nvPr/>
        </p:nvSpPr>
        <p:spPr>
          <a:xfrm>
            <a:off x="1463040" y="3017520"/>
            <a:ext cx="6126480" cy="320040"/>
          </a:xfrm>
          <a:prstGeom prst="rect">
            <a:avLst/>
          </a:prstGeom>
          <a:noFill/>
          <a:ln/>
        </p:spPr>
        <p:txBody>
          <a:bodyPr wrap="square" rtlCol="0" anchor="ctr"/>
          <a:lstStyle/>
          <a:p>
            <a:pPr marL="0" indent="0">
              <a:buNone/>
            </a:pPr>
            <a:r>
              <a:rPr lang="en-US" sz="1300" b="1" dirty="0">
                <a:solidFill>
                  <a:srgbClr val="FFFFFF"/>
                </a:solidFill>
                <a:latin typeface="Verdana" pitchFamily="34" charset="0"/>
                <a:ea typeface="Verdana" pitchFamily="34" charset="-122"/>
                <a:cs typeface="Verdana" pitchFamily="34" charset="-120"/>
              </a:rPr>
              <a:t>Human Life Impact — Social Services</a:t>
            </a:r>
            <a:endParaRPr lang="en-US" sz="1300" dirty="0"/>
          </a:p>
        </p:txBody>
      </p:sp>
      <p:sp>
        <p:nvSpPr>
          <p:cNvPr id="16" name="Text 14"/>
          <p:cNvSpPr/>
          <p:nvPr/>
        </p:nvSpPr>
        <p:spPr>
          <a:xfrm>
            <a:off x="1463040" y="3364992"/>
            <a:ext cx="612648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F2.3 / F5.1  ·  routes to: Social Services (Health &amp; Welfare)</a:t>
            </a:r>
            <a:endParaRPr lang="en-US" sz="1000" dirty="0"/>
          </a:p>
        </p:txBody>
      </p:sp>
      <p:sp>
        <p:nvSpPr>
          <p:cNvPr id="17" name="Shape 15"/>
          <p:cNvSpPr/>
          <p:nvPr/>
        </p:nvSpPr>
        <p:spPr>
          <a:xfrm>
            <a:off x="7818120" y="3218688"/>
            <a:ext cx="3566160" cy="457200"/>
          </a:xfrm>
          <a:prstGeom prst="roundRect">
            <a:avLst>
              <a:gd name="adj" fmla="val 12000"/>
            </a:avLst>
          </a:prstGeom>
          <a:solidFill>
            <a:srgbClr val="1E7A4C"/>
          </a:solidFill>
          <a:ln/>
        </p:spPr>
      </p:sp>
      <p:sp>
        <p:nvSpPr>
          <p:cNvPr id="18" name="Text 16"/>
          <p:cNvSpPr/>
          <p:nvPr/>
        </p:nvSpPr>
        <p:spPr>
          <a:xfrm>
            <a:off x="7818120" y="3218688"/>
            <a:ext cx="3566160" cy="457200"/>
          </a:xfrm>
          <a:prstGeom prst="rect">
            <a:avLst/>
          </a:prstGeom>
          <a:noFill/>
          <a:ln/>
        </p:spPr>
        <p:txBody>
          <a:bodyPr wrap="square" rtlCol="0" anchor="ctr"/>
          <a:lstStyle/>
          <a:p>
            <a:pPr marL="0" indent="0" algn="ctr">
              <a:buNone/>
            </a:pPr>
            <a:r>
              <a:rPr lang="en-US" sz="950" b="1" dirty="0">
                <a:solidFill>
                  <a:srgbClr val="FFFFFF"/>
                </a:solidFill>
                <a:latin typeface="Verdana" pitchFamily="34" charset="0"/>
                <a:ea typeface="Verdana" pitchFamily="34" charset="-122"/>
                <a:cs typeface="Verdana" pitchFamily="34" charset="-120"/>
              </a:rPr>
              <a:t>Published rule-set direction</a:t>
            </a:r>
            <a:endParaRPr lang="en-US" sz="950" dirty="0"/>
          </a:p>
        </p:txBody>
      </p:sp>
      <p:sp>
        <p:nvSpPr>
          <p:cNvPr id="19" name="Shape 17"/>
          <p:cNvSpPr/>
          <p:nvPr/>
        </p:nvSpPr>
        <p:spPr>
          <a:xfrm>
            <a:off x="548640" y="4114800"/>
            <a:ext cx="11064240" cy="1051560"/>
          </a:xfrm>
          <a:prstGeom prst="roundRect">
            <a:avLst>
              <a:gd name="adj" fmla="val 6957"/>
            </a:avLst>
          </a:prstGeom>
          <a:solidFill>
            <a:srgbClr val="16294A"/>
          </a:solidFill>
          <a:ln w="12700">
            <a:solidFill>
              <a:srgbClr val="5B3E96"/>
            </a:solidFill>
            <a:prstDash val="solid"/>
          </a:ln>
        </p:spPr>
      </p:sp>
      <p:sp>
        <p:nvSpPr>
          <p:cNvPr id="20" name="Shape 18"/>
          <p:cNvSpPr/>
          <p:nvPr/>
        </p:nvSpPr>
        <p:spPr>
          <a:xfrm>
            <a:off x="731520" y="4279392"/>
            <a:ext cx="548640" cy="292608"/>
          </a:xfrm>
          <a:prstGeom prst="roundRect">
            <a:avLst>
              <a:gd name="adj" fmla="val 15625"/>
            </a:avLst>
          </a:prstGeom>
          <a:solidFill>
            <a:srgbClr val="5B3E96"/>
          </a:solidFill>
          <a:ln/>
        </p:spPr>
      </p:sp>
      <p:sp>
        <p:nvSpPr>
          <p:cNvPr id="21" name="Text 19"/>
          <p:cNvSpPr/>
          <p:nvPr/>
        </p:nvSpPr>
        <p:spPr>
          <a:xfrm>
            <a:off x="731520" y="4279392"/>
            <a:ext cx="548640" cy="292608"/>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RG</a:t>
            </a:r>
            <a:endParaRPr lang="en-US" sz="1000" dirty="0"/>
          </a:p>
        </p:txBody>
      </p:sp>
      <p:sp>
        <p:nvSpPr>
          <p:cNvPr id="22" name="Text 20"/>
          <p:cNvSpPr/>
          <p:nvPr/>
        </p:nvSpPr>
        <p:spPr>
          <a:xfrm>
            <a:off x="1463040" y="4206240"/>
            <a:ext cx="6126480" cy="320040"/>
          </a:xfrm>
          <a:prstGeom prst="rect">
            <a:avLst/>
          </a:prstGeom>
          <a:noFill/>
          <a:ln/>
        </p:spPr>
        <p:txBody>
          <a:bodyPr wrap="square" rtlCol="0" anchor="ctr"/>
          <a:lstStyle/>
          <a:p>
            <a:pPr marL="0" indent="0">
              <a:buNone/>
            </a:pPr>
            <a:r>
              <a:rPr lang="en-US" sz="1300" b="1" dirty="0">
                <a:solidFill>
                  <a:srgbClr val="FFFFFF"/>
                </a:solidFill>
                <a:latin typeface="Verdana" pitchFamily="34" charset="0"/>
                <a:ea typeface="Verdana" pitchFamily="34" charset="-122"/>
                <a:cs typeface="Verdana" pitchFamily="34" charset="-120"/>
              </a:rPr>
              <a:t>Cyber Misuse</a:t>
            </a:r>
            <a:endParaRPr lang="en-US" sz="1300" dirty="0"/>
          </a:p>
        </p:txBody>
      </p:sp>
      <p:sp>
        <p:nvSpPr>
          <p:cNvPr id="23" name="Text 21"/>
          <p:cNvSpPr/>
          <p:nvPr/>
        </p:nvSpPr>
        <p:spPr>
          <a:xfrm>
            <a:off x="1463040" y="4553712"/>
            <a:ext cx="612648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F6.2  ·  routes to: National CERT/CSIRT</a:t>
            </a:r>
            <a:endParaRPr lang="en-US" sz="1000" dirty="0"/>
          </a:p>
        </p:txBody>
      </p:sp>
      <p:sp>
        <p:nvSpPr>
          <p:cNvPr id="24" name="Shape 22"/>
          <p:cNvSpPr/>
          <p:nvPr/>
        </p:nvSpPr>
        <p:spPr>
          <a:xfrm>
            <a:off x="7818120" y="4407408"/>
            <a:ext cx="3566160" cy="457200"/>
          </a:xfrm>
          <a:prstGeom prst="roundRect">
            <a:avLst>
              <a:gd name="adj" fmla="val 12000"/>
            </a:avLst>
          </a:prstGeom>
          <a:solidFill>
            <a:srgbClr val="B5730A"/>
          </a:solidFill>
          <a:ln/>
        </p:spPr>
      </p:sp>
      <p:sp>
        <p:nvSpPr>
          <p:cNvPr id="25" name="Text 23"/>
          <p:cNvSpPr/>
          <p:nvPr/>
        </p:nvSpPr>
        <p:spPr>
          <a:xfrm>
            <a:off x="7818120" y="4407408"/>
            <a:ext cx="3566160" cy="457200"/>
          </a:xfrm>
          <a:prstGeom prst="rect">
            <a:avLst/>
          </a:prstGeom>
          <a:noFill/>
          <a:ln/>
        </p:spPr>
        <p:txBody>
          <a:bodyPr wrap="square" rtlCol="0" anchor="ctr"/>
          <a:lstStyle/>
          <a:p>
            <a:pPr marL="0" indent="0" algn="ctr">
              <a:buNone/>
            </a:pPr>
            <a:r>
              <a:rPr lang="en-US" sz="950" b="1" dirty="0">
                <a:solidFill>
                  <a:srgbClr val="FFFFFF"/>
                </a:solidFill>
                <a:latin typeface="Verdana" pitchFamily="34" charset="0"/>
                <a:ea typeface="Verdana" pitchFamily="34" charset="-122"/>
                <a:cs typeface="Verdana" pitchFamily="34" charset="-120"/>
              </a:rPr>
              <a:t>⚠ Illustrative — ahead of published rule set</a:t>
            </a:r>
            <a:endParaRPr lang="en-US" sz="950" dirty="0"/>
          </a:p>
        </p:txBody>
      </p:sp>
      <p:sp>
        <p:nvSpPr>
          <p:cNvPr id="26" name="Shape 24"/>
          <p:cNvSpPr/>
          <p:nvPr/>
        </p:nvSpPr>
        <p:spPr>
          <a:xfrm>
            <a:off x="548640" y="5303520"/>
            <a:ext cx="11064240" cy="1051560"/>
          </a:xfrm>
          <a:prstGeom prst="roundRect">
            <a:avLst>
              <a:gd name="adj" fmla="val 6957"/>
            </a:avLst>
          </a:prstGeom>
          <a:solidFill>
            <a:srgbClr val="16294A"/>
          </a:solidFill>
          <a:ln w="12700">
            <a:solidFill>
              <a:srgbClr val="5B3E96"/>
            </a:solidFill>
            <a:prstDash val="solid"/>
          </a:ln>
        </p:spPr>
      </p:sp>
      <p:sp>
        <p:nvSpPr>
          <p:cNvPr id="27" name="Shape 25"/>
          <p:cNvSpPr/>
          <p:nvPr/>
        </p:nvSpPr>
        <p:spPr>
          <a:xfrm>
            <a:off x="731520" y="5468112"/>
            <a:ext cx="548640" cy="292608"/>
          </a:xfrm>
          <a:prstGeom prst="roundRect">
            <a:avLst>
              <a:gd name="adj" fmla="val 15625"/>
            </a:avLst>
          </a:prstGeom>
          <a:solidFill>
            <a:srgbClr val="5B3E96"/>
          </a:solidFill>
          <a:ln/>
        </p:spPr>
      </p:sp>
      <p:sp>
        <p:nvSpPr>
          <p:cNvPr id="28" name="Text 26"/>
          <p:cNvSpPr/>
          <p:nvPr/>
        </p:nvSpPr>
        <p:spPr>
          <a:xfrm>
            <a:off x="731520" y="5468112"/>
            <a:ext cx="548640" cy="292608"/>
          </a:xfrm>
          <a:prstGeom prst="rect">
            <a:avLst/>
          </a:prstGeom>
          <a:noFill/>
          <a:ln/>
        </p:spPr>
        <p:txBody>
          <a:bodyPr wrap="square" rtlCol="0" anchor="ctr"/>
          <a:lstStyle/>
          <a:p>
            <a:pPr marL="0" indent="0" algn="ctr">
              <a:buNone/>
            </a:pPr>
            <a:r>
              <a:rPr lang="en-US" sz="1000" b="1" dirty="0">
                <a:solidFill>
                  <a:srgbClr val="FFFFFF"/>
                </a:solidFill>
                <a:latin typeface="Verdana" pitchFamily="34" charset="0"/>
                <a:ea typeface="Verdana" pitchFamily="34" charset="-122"/>
                <a:cs typeface="Verdana" pitchFamily="34" charset="-120"/>
              </a:rPr>
              <a:t>RG</a:t>
            </a:r>
            <a:endParaRPr lang="en-US" sz="1000" dirty="0"/>
          </a:p>
        </p:txBody>
      </p:sp>
      <p:sp>
        <p:nvSpPr>
          <p:cNvPr id="29" name="Text 27"/>
          <p:cNvSpPr/>
          <p:nvPr/>
        </p:nvSpPr>
        <p:spPr>
          <a:xfrm>
            <a:off x="1463040" y="5394960"/>
            <a:ext cx="6126480" cy="320040"/>
          </a:xfrm>
          <a:prstGeom prst="rect">
            <a:avLst/>
          </a:prstGeom>
          <a:noFill/>
          <a:ln/>
        </p:spPr>
        <p:txBody>
          <a:bodyPr wrap="square" rtlCol="0" anchor="ctr"/>
          <a:lstStyle/>
          <a:p>
            <a:pPr marL="0" indent="0">
              <a:buNone/>
            </a:pPr>
            <a:r>
              <a:rPr lang="en-US" sz="1300" b="1" dirty="0">
                <a:solidFill>
                  <a:srgbClr val="FFFFFF"/>
                </a:solidFill>
                <a:latin typeface="Verdana" pitchFamily="34" charset="0"/>
                <a:ea typeface="Verdana" pitchFamily="34" charset="-122"/>
                <a:cs typeface="Verdana" pitchFamily="34" charset="-120"/>
              </a:rPr>
              <a:t>AI Misuse for Private Gains</a:t>
            </a:r>
            <a:endParaRPr lang="en-US" sz="1300" dirty="0"/>
          </a:p>
        </p:txBody>
      </p:sp>
      <p:sp>
        <p:nvSpPr>
          <p:cNvPr id="30" name="Text 28"/>
          <p:cNvSpPr/>
          <p:nvPr/>
        </p:nvSpPr>
        <p:spPr>
          <a:xfrm>
            <a:off x="1463040" y="5742432"/>
            <a:ext cx="612648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F1.4 / F6.1  ·  routes to: Financial Regulator</a:t>
            </a:r>
            <a:endParaRPr lang="en-US" sz="1000" dirty="0"/>
          </a:p>
        </p:txBody>
      </p:sp>
      <p:sp>
        <p:nvSpPr>
          <p:cNvPr id="31" name="Shape 29"/>
          <p:cNvSpPr/>
          <p:nvPr/>
        </p:nvSpPr>
        <p:spPr>
          <a:xfrm>
            <a:off x="7818120" y="5596128"/>
            <a:ext cx="3566160" cy="457200"/>
          </a:xfrm>
          <a:prstGeom prst="roundRect">
            <a:avLst>
              <a:gd name="adj" fmla="val 12000"/>
            </a:avLst>
          </a:prstGeom>
          <a:solidFill>
            <a:srgbClr val="B5730A"/>
          </a:solidFill>
          <a:ln/>
        </p:spPr>
      </p:sp>
      <p:sp>
        <p:nvSpPr>
          <p:cNvPr id="32" name="Text 30"/>
          <p:cNvSpPr/>
          <p:nvPr/>
        </p:nvSpPr>
        <p:spPr>
          <a:xfrm>
            <a:off x="7818120" y="5596128"/>
            <a:ext cx="3566160" cy="457200"/>
          </a:xfrm>
          <a:prstGeom prst="rect">
            <a:avLst/>
          </a:prstGeom>
          <a:noFill/>
          <a:ln/>
        </p:spPr>
        <p:txBody>
          <a:bodyPr wrap="square" rtlCol="0" anchor="ctr"/>
          <a:lstStyle/>
          <a:p>
            <a:pPr marL="0" indent="0" algn="ctr">
              <a:buNone/>
            </a:pPr>
            <a:r>
              <a:rPr lang="en-US" sz="950" b="1" dirty="0">
                <a:solidFill>
                  <a:srgbClr val="FFFFFF"/>
                </a:solidFill>
                <a:latin typeface="Verdana" pitchFamily="34" charset="0"/>
                <a:ea typeface="Verdana" pitchFamily="34" charset="-122"/>
                <a:cs typeface="Verdana" pitchFamily="34" charset="-120"/>
              </a:rPr>
              <a:t>⚠ Illustrative — ahead of published rule set</a:t>
            </a:r>
            <a:endParaRPr lang="en-US" sz="950" dirty="0"/>
          </a:p>
        </p:txBody>
      </p:sp>
      <p:sp>
        <p:nvSpPr>
          <p:cNvPr id="33" name="Text 31"/>
          <p:cNvSpPr/>
          <p:nvPr/>
        </p:nvSpPr>
        <p:spPr>
          <a:xfrm>
            <a:off x="457200" y="6537960"/>
            <a:ext cx="11247120" cy="274320"/>
          </a:xfrm>
          <a:prstGeom prst="rect">
            <a:avLst/>
          </a:prstGeom>
          <a:noFill/>
          <a:ln/>
        </p:spPr>
        <p:txBody>
          <a:bodyPr wrap="square"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Do not mistake a working demo for a ratified routing design — Main Protocol marks Cyber Misuse and AI Misuse for Private Gains ⚠ TBD.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57200" y="320040"/>
            <a:ext cx="1737360" cy="292608"/>
          </a:xfrm>
          <a:prstGeom prst="roundRect">
            <a:avLst>
              <a:gd name="adj" fmla="val 18750"/>
            </a:avLst>
          </a:prstGeom>
          <a:solidFill>
            <a:srgbClr val="028090"/>
          </a:solidFill>
          <a:ln/>
        </p:spPr>
      </p:sp>
      <p:sp>
        <p:nvSpPr>
          <p:cNvPr id="3" name="Text 1"/>
          <p:cNvSpPr/>
          <p:nvPr/>
        </p:nvSpPr>
        <p:spPr>
          <a:xfrm>
            <a:off x="457200" y="320040"/>
            <a:ext cx="1737360" cy="292608"/>
          </a:xfrm>
          <a:prstGeom prst="rect">
            <a:avLst/>
          </a:prstGeom>
          <a:noFill/>
          <a:ln/>
        </p:spPr>
        <p:txBody>
          <a:bodyPr wrap="square" rtlCol="0" anchor="ctr"/>
          <a:lstStyle/>
          <a:p>
            <a:pPr marL="0" indent="0" algn="ctr">
              <a:buNone/>
            </a:pPr>
            <a:r>
              <a:rPr lang="en-US" sz="900" b="1" kern="0" spc="100" dirty="0">
                <a:solidFill>
                  <a:srgbClr val="FFFFFF"/>
                </a:solidFill>
                <a:latin typeface="Verdana" pitchFamily="34" charset="0"/>
                <a:ea typeface="Verdana" pitchFamily="34" charset="-122"/>
                <a:cs typeface="Verdana" pitchFamily="34" charset="-120"/>
              </a:rPr>
              <a:t>LIVE EVIDENCE</a:t>
            </a:r>
            <a:endParaRPr lang="en-US" sz="900" dirty="0"/>
          </a:p>
        </p:txBody>
      </p:sp>
      <p:sp>
        <p:nvSpPr>
          <p:cNvPr id="4" name="Text 2"/>
          <p:cNvSpPr/>
          <p:nvPr/>
        </p:nvSpPr>
        <p:spPr>
          <a:xfrm>
            <a:off x="457200" y="685800"/>
            <a:ext cx="11247120" cy="731520"/>
          </a:xfrm>
          <a:prstGeom prst="rect">
            <a:avLst/>
          </a:prstGeom>
          <a:noFill/>
          <a:ln/>
        </p:spPr>
        <p:txBody>
          <a:bodyPr wrap="square" rtlCol="0" anchor="ctr"/>
          <a:lstStyle/>
          <a:p>
            <a:pPr marL="0" indent="0">
              <a:buNone/>
            </a:pPr>
            <a:r>
              <a:rPr lang="en-US" sz="2600" b="1" dirty="0">
                <a:solidFill>
                  <a:srgbClr val="FFFFFF"/>
                </a:solidFill>
                <a:latin typeface="Verdana" pitchFamily="34" charset="0"/>
                <a:ea typeface="Verdana" pitchFamily="34" charset="-122"/>
                <a:cs typeface="Verdana" pitchFamily="34" charset="-120"/>
              </a:rPr>
              <a:t>Not a Mockup — Real Commands, Real Results</a:t>
            </a:r>
            <a:endParaRPr lang="en-US" sz="2600" dirty="0"/>
          </a:p>
        </p:txBody>
      </p:sp>
      <p:pic>
        <p:nvPicPr>
          <p:cNvPr id="5" name="Image 0" descr="/mnt/user-data/uploads/1786796035291_image.png"/>
          <p:cNvPicPr>
            <a:picLocks noChangeAspect="1"/>
          </p:cNvPicPr>
          <p:nvPr/>
        </p:nvPicPr>
        <p:blipFill>
          <a:blip r:embed="rId3"/>
          <a:stretch>
            <a:fillRect/>
          </a:stretch>
        </p:blipFill>
        <p:spPr>
          <a:xfrm>
            <a:off x="457200" y="1691640"/>
            <a:ext cx="5394960" cy="4617720"/>
          </a:xfrm>
          <a:prstGeom prst="rect">
            <a:avLst/>
          </a:prstGeom>
        </p:spPr>
      </p:pic>
      <p:pic>
        <p:nvPicPr>
          <p:cNvPr id="6" name="Image 1" descr="/mnt/user-data/uploads/1786796226833_image.png"/>
          <p:cNvPicPr>
            <a:picLocks noChangeAspect="1"/>
          </p:cNvPicPr>
          <p:nvPr/>
        </p:nvPicPr>
        <p:blipFill>
          <a:blip r:embed="rId4"/>
          <a:stretch>
            <a:fillRect/>
          </a:stretch>
        </p:blipFill>
        <p:spPr>
          <a:xfrm>
            <a:off x="6035040" y="1691640"/>
            <a:ext cx="5669280" cy="4617720"/>
          </a:xfrm>
          <a:prstGeom prst="rect">
            <a:avLst/>
          </a:prstGeom>
        </p:spPr>
      </p:pic>
      <p:sp>
        <p:nvSpPr>
          <p:cNvPr id="7" name="Text 3"/>
          <p:cNvSpPr/>
          <p:nvPr/>
        </p:nvSpPr>
        <p:spPr>
          <a:xfrm>
            <a:off x="457200" y="6355080"/>
            <a:ext cx="5394960" cy="320040"/>
          </a:xfrm>
          <a:prstGeom prst="rect">
            <a:avLst/>
          </a:prstGeom>
          <a:noFill/>
          <a:ln/>
        </p:spPr>
        <p:txBody>
          <a:bodyPr wrap="square"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Trigger panel — one click fires the exact proven `openshell sandbox exec` / ack commands</a:t>
            </a:r>
            <a:endParaRPr lang="en-US" sz="950" dirty="0"/>
          </a:p>
        </p:txBody>
      </p:sp>
      <p:sp>
        <p:nvSpPr>
          <p:cNvPr id="8" name="Text 4"/>
          <p:cNvSpPr/>
          <p:nvPr/>
        </p:nvSpPr>
        <p:spPr>
          <a:xfrm>
            <a:off x="6035040" y="6355080"/>
            <a:ext cx="5669280" cy="320040"/>
          </a:xfrm>
          <a:prstGeom prst="rect">
            <a:avLst/>
          </a:prstGeom>
          <a:noFill/>
          <a:ln/>
        </p:spPr>
        <p:txBody>
          <a:bodyPr wrap="square" rtlCol="0" anchor="ctr"/>
          <a:lstStyle/>
          <a:p>
            <a:pPr marL="0" indent="0">
              <a:buNone/>
            </a:pPr>
            <a:r>
              <a:rPr lang="en-US" sz="950" i="1" dirty="0">
                <a:solidFill>
                  <a:srgbClr val="CADCFC"/>
                </a:solidFill>
                <a:latin typeface="Calibri" pitchFamily="34" charset="0"/>
                <a:ea typeface="Calibri" pitchFamily="34" charset="-122"/>
                <a:cs typeface="Calibri" pitchFamily="34" charset="-120"/>
              </a:rPr>
              <a:t>Grafana — the same click, visible live within the 2-second refresh interval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2302</Words>
  <Application>Microsoft Office PowerPoint</Application>
  <PresentationFormat>Widescreen</PresentationFormat>
  <Paragraphs>249</Paragraphs>
  <Slides>14</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Alex Hofmann</cp:lastModifiedBy>
  <cp:revision>3</cp:revision>
  <dcterms:created xsi:type="dcterms:W3CDTF">2026-08-15T12:53:12Z</dcterms:created>
  <dcterms:modified xsi:type="dcterms:W3CDTF">2026-08-26T16:55:52Z</dcterms:modified>
</cp:coreProperties>
</file>